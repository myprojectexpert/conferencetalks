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72" r:id="rId5"/>
  </p:sldMasterIdLst>
  <p:notesMasterIdLst>
    <p:notesMasterId r:id="rId53"/>
  </p:notesMasterIdLst>
  <p:handoutMasterIdLst>
    <p:handoutMasterId r:id="rId54"/>
  </p:handoutMasterIdLst>
  <p:sldIdLst>
    <p:sldId id="770" r:id="rId6"/>
    <p:sldId id="881" r:id="rId7"/>
    <p:sldId id="887" r:id="rId8"/>
    <p:sldId id="530" r:id="rId9"/>
    <p:sldId id="531" r:id="rId10"/>
    <p:sldId id="876" r:id="rId11"/>
    <p:sldId id="865" r:id="rId12"/>
    <p:sldId id="864" r:id="rId13"/>
    <p:sldId id="867" r:id="rId14"/>
    <p:sldId id="866" r:id="rId15"/>
    <p:sldId id="761" r:id="rId16"/>
    <p:sldId id="756" r:id="rId17"/>
    <p:sldId id="877" r:id="rId18"/>
    <p:sldId id="788" r:id="rId19"/>
    <p:sldId id="745" r:id="rId20"/>
    <p:sldId id="746" r:id="rId21"/>
    <p:sldId id="743" r:id="rId22"/>
    <p:sldId id="744" r:id="rId23"/>
    <p:sldId id="790" r:id="rId24"/>
    <p:sldId id="791" r:id="rId25"/>
    <p:sldId id="792" r:id="rId26"/>
    <p:sldId id="793" r:id="rId27"/>
    <p:sldId id="794" r:id="rId28"/>
    <p:sldId id="795" r:id="rId29"/>
    <p:sldId id="796" r:id="rId30"/>
    <p:sldId id="797" r:id="rId31"/>
    <p:sldId id="878" r:id="rId32"/>
    <p:sldId id="800" r:id="rId33"/>
    <p:sldId id="799" r:id="rId34"/>
    <p:sldId id="885" r:id="rId35"/>
    <p:sldId id="872" r:id="rId36"/>
    <p:sldId id="874" r:id="rId37"/>
    <p:sldId id="884" r:id="rId38"/>
    <p:sldId id="801" r:id="rId39"/>
    <p:sldId id="875" r:id="rId40"/>
    <p:sldId id="802" r:id="rId41"/>
    <p:sldId id="803" r:id="rId42"/>
    <p:sldId id="804" r:id="rId43"/>
    <p:sldId id="868" r:id="rId44"/>
    <p:sldId id="879" r:id="rId45"/>
    <p:sldId id="806" r:id="rId46"/>
    <p:sldId id="807" r:id="rId47"/>
    <p:sldId id="880" r:id="rId48"/>
    <p:sldId id="809" r:id="rId49"/>
    <p:sldId id="870" r:id="rId50"/>
    <p:sldId id="810" r:id="rId51"/>
    <p:sldId id="886" r:id="rId52"/>
  </p:sldIdLst>
  <p:sldSz cx="9144000" cy="6858000" type="screen4x3"/>
  <p:notesSz cx="6858000" cy="9144000"/>
  <p:custShowLst>
    <p:custShow name="Introduction" id="0">
      <p:sldLst/>
    </p:custShow>
    <p:custShow name="Coffee Break" id="1">
      <p:sldLst/>
    </p:custShow>
    <p:custShow name="First Half" id="2">
      <p:sldLst/>
    </p:custShow>
    <p:custShow name="Second Half" id="3">
      <p:sldLst/>
    </p:custShow>
  </p:custShowLst>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
          <p15:clr>
            <a:srgbClr val="A4A3A4"/>
          </p15:clr>
        </p15:guide>
        <p15:guide id="2" orient="horz" pos="2162">
          <p15:clr>
            <a:srgbClr val="A4A3A4"/>
          </p15:clr>
        </p15:guide>
        <p15:guide id="3" orient="horz" pos="2736">
          <p15:clr>
            <a:srgbClr val="A4A3A4"/>
          </p15:clr>
        </p15:guide>
        <p15:guide id="4" orient="horz" pos="4176">
          <p15:clr>
            <a:srgbClr val="A4A3A4"/>
          </p15:clr>
        </p15:guide>
        <p15:guide id="5" orient="horz" pos="1547">
          <p15:clr>
            <a:srgbClr val="A4A3A4"/>
          </p15:clr>
        </p15:guide>
        <p15:guide id="6" orient="horz" pos="3120">
          <p15:clr>
            <a:srgbClr val="A4A3A4"/>
          </p15:clr>
        </p15:guide>
        <p15:guide id="7" orient="horz" pos="1201">
          <p15:clr>
            <a:srgbClr val="A4A3A4"/>
          </p15:clr>
        </p15:guide>
        <p15:guide id="8" orient="horz" pos="893">
          <p15:clr>
            <a:srgbClr val="A4A3A4"/>
          </p15:clr>
        </p15:guide>
        <p15:guide id="9" pos="2880">
          <p15:clr>
            <a:srgbClr val="A4A3A4"/>
          </p15:clr>
        </p15:guide>
        <p15:guide id="10" pos="245">
          <p15:clr>
            <a:srgbClr val="A4A3A4"/>
          </p15:clr>
        </p15:guide>
        <p15:guide id="11" pos="893">
          <p15:clr>
            <a:srgbClr val="A4A3A4"/>
          </p15:clr>
        </p15:guide>
        <p15:guide id="12" pos="5514">
          <p15:clr>
            <a:srgbClr val="A4A3A4"/>
          </p15:clr>
        </p15:guide>
        <p15:guide id="13" pos="5293">
          <p15:clr>
            <a:srgbClr val="A4A3A4"/>
          </p15:clr>
        </p15:guide>
        <p15:guide id="14" pos="458">
          <p15:clr>
            <a:srgbClr val="A4A3A4"/>
          </p15:clr>
        </p15:guide>
        <p15:guide id="15" pos="2226">
          <p15:clr>
            <a:srgbClr val="A4A3A4"/>
          </p15:clr>
        </p15:guide>
        <p15:guide id="16" pos="259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D92805"/>
    <a:srgbClr val="FFFFFF"/>
    <a:srgbClr val="0079D0"/>
    <a:srgbClr val="CA4C06"/>
    <a:srgbClr val="143B44"/>
    <a:srgbClr val="00537F"/>
    <a:srgbClr val="003E5F"/>
    <a:srgbClr val="256C7D"/>
    <a:srgbClr val="33333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76" autoAdjust="0"/>
    <p:restoredTop sz="63300" autoAdjust="0"/>
  </p:normalViewPr>
  <p:slideViewPr>
    <p:cSldViewPr snapToGrid="0">
      <p:cViewPr varScale="1">
        <p:scale>
          <a:sx n="60" d="100"/>
          <a:sy n="60" d="100"/>
        </p:scale>
        <p:origin x="1812" y="72"/>
      </p:cViewPr>
      <p:guideLst>
        <p:guide orient="horz" pos="144"/>
        <p:guide orient="horz" pos="2162"/>
        <p:guide orient="horz" pos="2736"/>
        <p:guide orient="horz" pos="4176"/>
        <p:guide orient="horz" pos="1547"/>
        <p:guide orient="horz" pos="3120"/>
        <p:guide orient="horz" pos="1201"/>
        <p:guide orient="horz" pos="893"/>
        <p:guide pos="2880"/>
        <p:guide pos="245"/>
        <p:guide pos="893"/>
        <p:guide pos="5514"/>
        <p:guide pos="5293"/>
        <p:guide pos="458"/>
        <p:guide pos="2226"/>
        <p:guide pos="2592"/>
      </p:guideLst>
    </p:cSldViewPr>
  </p:slideViewPr>
  <p:outlineViewPr>
    <p:cViewPr>
      <p:scale>
        <a:sx n="33" d="100"/>
        <a:sy n="33" d="100"/>
      </p:scale>
      <p:origin x="0" y="-1496"/>
    </p:cViewPr>
  </p:outlineViewPr>
  <p:notesTextViewPr>
    <p:cViewPr>
      <p:scale>
        <a:sx n="100" d="100"/>
        <a:sy n="100" d="100"/>
      </p:scale>
      <p:origin x="0" y="0"/>
    </p:cViewPr>
  </p:notesTextViewPr>
  <p:sorterViewPr>
    <p:cViewPr>
      <p:scale>
        <a:sx n="120" d="100"/>
        <a:sy n="120" d="100"/>
      </p:scale>
      <p:origin x="0" y="0"/>
    </p:cViewPr>
  </p:sorterViewPr>
  <p:notesViewPr>
    <p:cSldViewPr snapToGrid="0" showGuides="1">
      <p:cViewPr varScale="1">
        <p:scale>
          <a:sx n="74" d="100"/>
          <a:sy n="74" d="100"/>
        </p:scale>
        <p:origin x="1756" y="4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248399" y="8685213"/>
            <a:ext cx="608013"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
        <p:nvSpPr>
          <p:cNvPr id="6"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Microsoft Project Conference 2009</a:t>
            </a:r>
          </a:p>
        </p:txBody>
      </p:sp>
      <p:sp>
        <p:nvSpPr>
          <p:cNvPr id="7"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r>
              <a:rPr lang="en-US" dirty="0"/>
              <a:t>9/14/09</a:t>
            </a:r>
          </a:p>
        </p:txBody>
      </p:sp>
    </p:spTree>
    <p:extLst>
      <p:ext uri="{BB962C8B-B14F-4D97-AF65-F5344CB8AC3E}">
        <p14:creationId xmlns:p14="http://schemas.microsoft.com/office/powerpoint/2010/main" val="783179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Segoe" pitchFamily="34" charset="0"/>
              </a:defRPr>
            </a:lvl1pPr>
          </a:lstStyle>
          <a:p>
            <a:r>
              <a:rPr lang="en-US" dirty="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a:solidFill>
                  <a:srgbClr val="000000"/>
                </a:solidFill>
                <a:latin typeface="Segoe UI" pitchFamily="34" charset="0"/>
              </a:rPr>
            </a:br>
            <a:r>
              <a:rPr lang="en-US" dirty="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Segoe UI" pitchFamily="34" charset="0"/>
              </a:defRPr>
            </a:lvl1pPr>
          </a:lstStyle>
          <a:p>
            <a:fld id="{8B263312-38AA-4E1E-B2B5-0F8F122B24FE}" type="slidenum">
              <a:rPr lang="en-US" smtClean="0"/>
              <a:pPr/>
              <a:t>‹#›</a:t>
            </a:fld>
            <a:endParaRPr lang="en-US" dirty="0"/>
          </a:p>
        </p:txBody>
      </p:sp>
      <p:sp>
        <p:nvSpPr>
          <p:cNvPr id="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Microsoft Project Conference 2009</a:t>
            </a:r>
          </a:p>
        </p:txBody>
      </p:sp>
      <p:sp>
        <p:nvSpPr>
          <p:cNvPr id="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r>
              <a:rPr lang="en-US" dirty="0"/>
              <a:t>9/14/09</a:t>
            </a:r>
          </a:p>
        </p:txBody>
      </p:sp>
    </p:spTree>
    <p:extLst>
      <p:ext uri="{BB962C8B-B14F-4D97-AF65-F5344CB8AC3E}">
        <p14:creationId xmlns:p14="http://schemas.microsoft.com/office/powerpoint/2010/main" val="1144560523"/>
      </p:ext>
    </p:extLst>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Segoe U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1E6C5189-490B-4A99-82A6-CDC2C93602CE}" type="slidenum">
              <a:rPr lang="en-US" smtClean="0">
                <a:latin typeface="Arial" pitchFamily="34" charset="0"/>
                <a:ea typeface="ＭＳ Ｐゴシック" pitchFamily="34" charset="-128"/>
              </a:rPr>
              <a:pPr/>
              <a:t>1</a:t>
            </a:fld>
            <a:endParaRPr lang="en-US">
              <a:latin typeface="Arial" pitchFamily="34" charset="0"/>
              <a:ea typeface="ＭＳ Ｐゴシック" pitchFamily="34" charset="-128"/>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eaLnBrk="1" hangingPunct="1"/>
            <a:endParaRPr lang="en-US" dirty="0"/>
          </a:p>
          <a:p>
            <a:pPr eaLnBrk="1" hangingPunct="1"/>
            <a:endParaRPr lang="en-US" dirty="0"/>
          </a:p>
          <a:p>
            <a:pPr eaLnBrk="1" hangingPunct="1"/>
            <a:endParaRPr lang="en-US" dirty="0"/>
          </a:p>
        </p:txBody>
      </p:sp>
    </p:spTree>
    <p:extLst>
      <p:ext uri="{BB962C8B-B14F-4D97-AF65-F5344CB8AC3E}">
        <p14:creationId xmlns:p14="http://schemas.microsoft.com/office/powerpoint/2010/main" val="928675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a:t>
            </a:fld>
            <a:endParaRPr lang="en-US" dirty="0"/>
          </a:p>
        </p:txBody>
      </p:sp>
    </p:spTree>
    <p:extLst>
      <p:ext uri="{BB962C8B-B14F-4D97-AF65-F5344CB8AC3E}">
        <p14:creationId xmlns:p14="http://schemas.microsoft.com/office/powerpoint/2010/main" val="3525478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normAutofit/>
          </a:bodyPr>
          <a:lstStyle/>
          <a:p>
            <a:r>
              <a:rPr lang="en-US" dirty="0"/>
              <a:t>My passion real</a:t>
            </a:r>
            <a:r>
              <a:rPr lang="en-US" baseline="0" dirty="0"/>
              <a:t> passion is automating and monitoring Project Server</a:t>
            </a:r>
          </a:p>
          <a:p>
            <a:r>
              <a:rPr lang="en-US" baseline="0" dirty="0"/>
              <a:t>My second passion is maintaining good Field Notes!! Using PowerShell</a:t>
            </a:r>
          </a:p>
          <a:p>
            <a:endParaRPr lang="en-US" baseline="0" dirty="0"/>
          </a:p>
          <a:p>
            <a:r>
              <a:rPr lang="en-US" baseline="0" dirty="0"/>
              <a:t>Field Notes</a:t>
            </a:r>
          </a:p>
          <a:p>
            <a:pPr marL="228600" indent="-228600">
              <a:buAutoNum type="arabicParenR"/>
            </a:pPr>
            <a:r>
              <a:rPr lang="en-US" baseline="0" dirty="0"/>
              <a:t>Windows</a:t>
            </a:r>
          </a:p>
          <a:p>
            <a:pPr marL="228600" indent="-228600">
              <a:buAutoNum type="arabicParenR"/>
            </a:pPr>
            <a:r>
              <a:rPr lang="en-US" baseline="0" dirty="0"/>
              <a:t>SQL Server</a:t>
            </a:r>
          </a:p>
          <a:p>
            <a:pPr marL="228600" indent="-228600">
              <a:buAutoNum type="arabicParenR"/>
            </a:pPr>
            <a:r>
              <a:rPr lang="en-US" baseline="0" dirty="0"/>
              <a:t>SharePoint</a:t>
            </a:r>
          </a:p>
          <a:p>
            <a:pPr marL="228600" indent="-228600">
              <a:buAutoNum type="arabicParenR"/>
            </a:pPr>
            <a:r>
              <a:rPr lang="en-US" baseline="0" dirty="0"/>
              <a:t>Project Server</a:t>
            </a:r>
          </a:p>
          <a:p>
            <a:endParaRPr lang="en-US" dirty="0"/>
          </a:p>
          <a:p>
            <a:r>
              <a:rPr lang="en-US" dirty="0"/>
              <a:t>Consistency</a:t>
            </a:r>
            <a:r>
              <a:rPr lang="en-US" baseline="0" dirty="0"/>
              <a:t> with Deployments.</a:t>
            </a:r>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8/5/2019 10:26 PM</a:t>
            </a:fld>
            <a:endParaRPr lang="en-US">
              <a:solidFill>
                <a:prstClr val="black"/>
              </a:solidFill>
            </a:endParaRPr>
          </a:p>
        </p:txBody>
      </p:sp>
      <p:sp>
        <p:nvSpPr>
          <p:cNvPr id="6" name="Footer Placeholder 5"/>
          <p:cNvSpPr>
            <a:spLocks noGrp="1"/>
          </p:cNvSpPr>
          <p:nvPr>
            <p:ph type="ftr" sz="quarter" idx="12"/>
          </p:nvPr>
        </p:nvSpPr>
        <p:spPr/>
        <p:txBody>
          <a:bodyPr/>
          <a:lstStyle/>
          <a:p>
            <a:r>
              <a:rPr lang="en-US" dirty="0">
                <a:solidFill>
                  <a:srgbClr val="000000"/>
                </a:solidFill>
                <a:latin typeface="Segoe UI" pitchFamily="34" charset="0"/>
              </a:rPr>
              <a:t>© 2007 Microsoft Corporation. All rights reserved. Microsoft, Windows, Windows Vista and other product names are or may be registered trademarks and/or trademarks in the U.S. and/or other countries.</a:t>
            </a:r>
          </a:p>
          <a:p>
            <a:r>
              <a:rPr lang="en-US"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a:solidFill>
                  <a:srgbClr val="000000"/>
                </a:solidFill>
                <a:latin typeface="Segoe UI" pitchFamily="34" charset="0"/>
              </a:rPr>
            </a:br>
            <a:r>
              <a:rPr lang="en-US" dirty="0">
                <a:solidFill>
                  <a:srgbClr val="000000"/>
                </a:solidFill>
                <a:latin typeface="Segoe UI" pitchFamily="34" charset="0"/>
              </a:rPr>
              <a:t>MICROSOFT MAKES NO WARRANTIES, EXPRESS, IMPLIED OR STATUTORY, AS TO THE INFORMATION IN THIS PRESENTATION.</a:t>
            </a:r>
          </a:p>
          <a:p>
            <a:endParaRPr lang="en-US" dirty="0">
              <a:solidFill>
                <a:prstClr val="black"/>
              </a:solidFill>
              <a:latin typeface="Segoe U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3113399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4</a:t>
            </a:fld>
            <a:endParaRPr lang="en-US" dirty="0"/>
          </a:p>
        </p:txBody>
      </p:sp>
    </p:spTree>
    <p:extLst>
      <p:ext uri="{BB962C8B-B14F-4D97-AF65-F5344CB8AC3E}">
        <p14:creationId xmlns:p14="http://schemas.microsoft.com/office/powerpoint/2010/main" val="2996279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Enjoy</a:t>
            </a:r>
            <a:r>
              <a:rPr lang="en-US" baseline="0" dirty="0"/>
              <a:t> using Project</a:t>
            </a:r>
          </a:p>
          <a:p>
            <a:r>
              <a:rPr lang="en-US" baseline="0" dirty="0"/>
              <a:t>Have fun working with… make it work for you.. Not against you</a:t>
            </a:r>
          </a:p>
          <a:p>
            <a:r>
              <a:rPr lang="en-US" baseline="0" dirty="0"/>
              <a:t>When I first started using --- then I started going … this sucks, this sucks and now back to enjoying</a:t>
            </a:r>
          </a:p>
          <a:p>
            <a:r>
              <a:rPr lang="en-US" baseline="0" dirty="0"/>
              <a:t>Understand how what is going on</a:t>
            </a:r>
          </a:p>
          <a:p>
            <a:endParaRPr lang="en-US" baseline="0" dirty="0"/>
          </a:p>
          <a:p>
            <a:r>
              <a:rPr lang="en-US" baseline="0" dirty="0" err="1"/>
              <a:t>Micrsoft</a:t>
            </a:r>
            <a:r>
              <a:rPr lang="en-US" baseline="0" dirty="0"/>
              <a:t> Solution </a:t>
            </a:r>
            <a:r>
              <a:rPr lang="en-US" baseline="0" dirty="0" err="1"/>
              <a:t>Freameowrk</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5</a:t>
            </a:fld>
            <a:endParaRPr lang="en-US" dirty="0"/>
          </a:p>
        </p:txBody>
      </p:sp>
    </p:spTree>
    <p:extLst>
      <p:ext uri="{BB962C8B-B14F-4D97-AF65-F5344CB8AC3E}">
        <p14:creationId xmlns:p14="http://schemas.microsoft.com/office/powerpoint/2010/main" val="2820179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2019 – New Features</a:t>
            </a:r>
          </a:p>
        </p:txBody>
      </p:sp>
      <p:sp>
        <p:nvSpPr>
          <p:cNvPr id="4" name="Slide Number Placeholder 3"/>
          <p:cNvSpPr>
            <a:spLocks noGrp="1"/>
          </p:cNvSpPr>
          <p:nvPr>
            <p:ph type="sldNum" sz="quarter" idx="10"/>
          </p:nvPr>
        </p:nvSpPr>
        <p:spPr/>
        <p:txBody>
          <a:bodyPr/>
          <a:lstStyle/>
          <a:p>
            <a:fld id="{8B263312-38AA-4E1E-B2B5-0F8F122B24FE}" type="slidenum">
              <a:rPr lang="en-US" smtClean="0"/>
              <a:pPr/>
              <a:t>7</a:t>
            </a:fld>
            <a:endParaRPr lang="en-US" dirty="0"/>
          </a:p>
        </p:txBody>
      </p:sp>
    </p:spTree>
    <p:extLst>
      <p:ext uri="{BB962C8B-B14F-4D97-AF65-F5344CB8AC3E}">
        <p14:creationId xmlns:p14="http://schemas.microsoft.com/office/powerpoint/2010/main" val="334188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2019 - Depreciate</a:t>
            </a:r>
          </a:p>
        </p:txBody>
      </p:sp>
      <p:sp>
        <p:nvSpPr>
          <p:cNvPr id="4" name="Slide Number Placeholder 3"/>
          <p:cNvSpPr>
            <a:spLocks noGrp="1"/>
          </p:cNvSpPr>
          <p:nvPr>
            <p:ph type="sldNum" sz="quarter" idx="10"/>
          </p:nvPr>
        </p:nvSpPr>
        <p:spPr/>
        <p:txBody>
          <a:bodyPr/>
          <a:lstStyle/>
          <a:p>
            <a:fld id="{8B263312-38AA-4E1E-B2B5-0F8F122B24FE}" type="slidenum">
              <a:rPr lang="en-US" smtClean="0"/>
              <a:pPr/>
              <a:t>8</a:t>
            </a:fld>
            <a:endParaRPr lang="en-US" dirty="0"/>
          </a:p>
        </p:txBody>
      </p:sp>
    </p:spTree>
    <p:extLst>
      <p:ext uri="{BB962C8B-B14F-4D97-AF65-F5344CB8AC3E}">
        <p14:creationId xmlns:p14="http://schemas.microsoft.com/office/powerpoint/2010/main" val="1454935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2019 - Depreciate</a:t>
            </a:r>
          </a:p>
        </p:txBody>
      </p:sp>
      <p:sp>
        <p:nvSpPr>
          <p:cNvPr id="4" name="Slide Number Placeholder 3"/>
          <p:cNvSpPr>
            <a:spLocks noGrp="1"/>
          </p:cNvSpPr>
          <p:nvPr>
            <p:ph type="sldNum" sz="quarter" idx="10"/>
          </p:nvPr>
        </p:nvSpPr>
        <p:spPr/>
        <p:txBody>
          <a:bodyPr/>
          <a:lstStyle/>
          <a:p>
            <a:fld id="{8B263312-38AA-4E1E-B2B5-0F8F122B24FE}" type="slidenum">
              <a:rPr lang="en-US" smtClean="0"/>
              <a:pPr/>
              <a:t>9</a:t>
            </a:fld>
            <a:endParaRPr lang="en-US" dirty="0"/>
          </a:p>
        </p:txBody>
      </p:sp>
    </p:spTree>
    <p:extLst>
      <p:ext uri="{BB962C8B-B14F-4D97-AF65-F5344CB8AC3E}">
        <p14:creationId xmlns:p14="http://schemas.microsoft.com/office/powerpoint/2010/main" val="1032314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Server 2016 or 2019</a:t>
            </a:r>
          </a:p>
          <a:p>
            <a:r>
              <a:rPr lang="en-US" dirty="0"/>
              <a:t>SQL Server 2016 or 2017</a:t>
            </a:r>
          </a:p>
          <a:p>
            <a:r>
              <a:rPr lang="en-US" dirty="0"/>
              <a:t>New Workflow Manager</a:t>
            </a:r>
          </a:p>
          <a:p>
            <a:r>
              <a:rPr lang="en-US" dirty="0"/>
              <a:t>SSRS not in SharePoint Mode (Only Native Mode)</a:t>
            </a:r>
          </a:p>
          <a:p>
            <a:r>
              <a:rPr lang="en-US" dirty="0"/>
              <a:t>Outbound Email Notifications SMTP</a:t>
            </a:r>
          </a:p>
          <a:p>
            <a:r>
              <a:rPr lang="en-US" dirty="0"/>
              <a:t>OneDrive Sync Client</a:t>
            </a:r>
          </a:p>
          <a:p>
            <a:r>
              <a:rPr lang="en-US" dirty="0"/>
              <a:t>More PowerShell Cmdlets</a:t>
            </a:r>
          </a:p>
          <a:p>
            <a:pPr lvl="1"/>
            <a:r>
              <a:rPr lang="en-US" dirty="0"/>
              <a:t>New-</a:t>
            </a:r>
            <a:r>
              <a:rPr lang="en-US" dirty="0" err="1"/>
              <a:t>SPSite</a:t>
            </a:r>
            <a:r>
              <a:rPr lang="en-US" dirty="0"/>
              <a:t> with –</a:t>
            </a:r>
            <a:r>
              <a:rPr lang="en-US" dirty="0" err="1"/>
              <a:t>CreateFromSiteMaster</a:t>
            </a:r>
            <a:r>
              <a:rPr lang="en-US" dirty="0"/>
              <a:t> clause</a:t>
            </a:r>
          </a:p>
          <a:p>
            <a:pPr lvl="1"/>
            <a:r>
              <a:rPr lang="en-US" dirty="0"/>
              <a:t>Set-</a:t>
            </a:r>
            <a:r>
              <a:rPr lang="en-US" dirty="0" err="1"/>
              <a:t>SPApplicationCredentialKey</a:t>
            </a:r>
            <a:r>
              <a:rPr lang="en-US" dirty="0"/>
              <a:t> </a:t>
            </a:r>
          </a:p>
          <a:p>
            <a:pPr lvl="1"/>
            <a:r>
              <a:rPr lang="en-US" dirty="0"/>
              <a:t>Remove-</a:t>
            </a:r>
            <a:r>
              <a:rPr lang="en-US" dirty="0" err="1"/>
              <a:t>SPApplicationCredentialKey</a:t>
            </a:r>
            <a:endParaRPr lang="en-US" dirty="0"/>
          </a:p>
          <a:p>
            <a:pPr lvl="1"/>
            <a:r>
              <a:rPr lang="en-US" dirty="0"/>
              <a:t>Get-</a:t>
            </a:r>
            <a:r>
              <a:rPr lang="en-US" dirty="0" err="1"/>
              <a:t>SpContentDatabaseOrphanedData</a:t>
            </a:r>
            <a:endParaRPr lang="en-US" dirty="0"/>
          </a:p>
          <a:p>
            <a:pPr lvl="1"/>
            <a:r>
              <a:rPr lang="en-US" dirty="0"/>
              <a:t>Etc., etc.</a:t>
            </a:r>
          </a:p>
        </p:txBody>
      </p:sp>
      <p:sp>
        <p:nvSpPr>
          <p:cNvPr id="4" name="Slide Number Placeholder 3"/>
          <p:cNvSpPr>
            <a:spLocks noGrp="1"/>
          </p:cNvSpPr>
          <p:nvPr>
            <p:ph type="sldNum" sz="quarter" idx="10"/>
          </p:nvPr>
        </p:nvSpPr>
        <p:spPr/>
        <p:txBody>
          <a:bodyPr/>
          <a:lstStyle/>
          <a:p>
            <a:fld id="{8B263312-38AA-4E1E-B2B5-0F8F122B24FE}" type="slidenum">
              <a:rPr lang="en-US" smtClean="0"/>
              <a:pPr/>
              <a:t>10</a:t>
            </a:fld>
            <a:endParaRPr lang="en-US" dirty="0"/>
          </a:p>
        </p:txBody>
      </p:sp>
    </p:spTree>
    <p:extLst>
      <p:ext uri="{BB962C8B-B14F-4D97-AF65-F5344CB8AC3E}">
        <p14:creationId xmlns:p14="http://schemas.microsoft.com/office/powerpoint/2010/main" val="2801459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Enjoy</a:t>
            </a:r>
            <a:r>
              <a:rPr lang="en-US" baseline="0" dirty="0"/>
              <a:t> using Project</a:t>
            </a:r>
          </a:p>
          <a:p>
            <a:r>
              <a:rPr lang="en-US" baseline="0" dirty="0"/>
              <a:t>Have fun working with… make it work for you.. Not against you</a:t>
            </a:r>
          </a:p>
          <a:p>
            <a:r>
              <a:rPr lang="en-US" baseline="0" dirty="0"/>
              <a:t>When I first started using --- then I started going … this sucks, this sucks and now back to enjoying</a:t>
            </a:r>
          </a:p>
          <a:p>
            <a:r>
              <a:rPr lang="en-US" baseline="0" dirty="0"/>
              <a:t>Understand how what is going on</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11</a:t>
            </a:fld>
            <a:endParaRPr lang="en-US" dirty="0"/>
          </a:p>
        </p:txBody>
      </p:sp>
    </p:spTree>
    <p:extLst>
      <p:ext uri="{BB962C8B-B14F-4D97-AF65-F5344CB8AC3E}">
        <p14:creationId xmlns:p14="http://schemas.microsoft.com/office/powerpoint/2010/main" val="1121018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2800" dirty="0"/>
              <a:t>Keeping/Deleting/Archiving</a:t>
            </a:r>
          </a:p>
          <a:p>
            <a:pPr lvl="1"/>
            <a:r>
              <a:rPr lang="en-CA" sz="2400" dirty="0"/>
              <a:t>Completed Project Schedules</a:t>
            </a:r>
          </a:p>
          <a:p>
            <a:pPr lvl="1"/>
            <a:r>
              <a:rPr lang="en-CA" sz="2400" dirty="0"/>
              <a:t>Resource that have left company</a:t>
            </a:r>
          </a:p>
          <a:p>
            <a:pPr lvl="1"/>
            <a:r>
              <a:rPr lang="en-CA" sz="2400" dirty="0"/>
              <a:t>Project Documents and Items</a:t>
            </a:r>
          </a:p>
          <a:p>
            <a:r>
              <a:rPr lang="en-CA" sz="2800" dirty="0"/>
              <a:t>Security/Roles/Permissions</a:t>
            </a:r>
          </a:p>
          <a:p>
            <a:r>
              <a:rPr lang="en-CA" sz="2800" dirty="0"/>
              <a:t>SharePoint Farm and Services</a:t>
            </a:r>
          </a:p>
          <a:p>
            <a:r>
              <a:rPr lang="en-CA" sz="2800" dirty="0"/>
              <a:t>SharePoint / Project Workflow </a:t>
            </a:r>
          </a:p>
          <a:p>
            <a:r>
              <a:rPr lang="en-CA" sz="2800" dirty="0"/>
              <a:t>PMO Process and procedures</a:t>
            </a:r>
          </a:p>
        </p:txBody>
      </p:sp>
      <p:sp>
        <p:nvSpPr>
          <p:cNvPr id="4" name="Slide Number Placeholder 3"/>
          <p:cNvSpPr>
            <a:spLocks noGrp="1"/>
          </p:cNvSpPr>
          <p:nvPr>
            <p:ph type="sldNum" sz="quarter" idx="10"/>
          </p:nvPr>
        </p:nvSpPr>
        <p:spPr/>
        <p:txBody>
          <a:bodyPr/>
          <a:lstStyle/>
          <a:p>
            <a:fld id="{8B263312-38AA-4E1E-B2B5-0F8F122B24FE}" type="slidenum">
              <a:rPr lang="en-US" smtClean="0"/>
              <a:pPr/>
              <a:t>12</a:t>
            </a:fld>
            <a:endParaRPr lang="en-US" dirty="0"/>
          </a:p>
        </p:txBody>
      </p:sp>
    </p:spTree>
    <p:extLst>
      <p:ext uri="{BB962C8B-B14F-4D97-AF65-F5344CB8AC3E}">
        <p14:creationId xmlns:p14="http://schemas.microsoft.com/office/powerpoint/2010/main" val="486962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13</a:t>
            </a:fld>
            <a:endParaRPr lang="en-US" dirty="0"/>
          </a:p>
        </p:txBody>
      </p:sp>
    </p:spTree>
    <p:extLst>
      <p:ext uri="{BB962C8B-B14F-4D97-AF65-F5344CB8AC3E}">
        <p14:creationId xmlns:p14="http://schemas.microsoft.com/office/powerpoint/2010/main" val="3629660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at PS 2010</a:t>
            </a:r>
          </a:p>
          <a:p>
            <a:r>
              <a:rPr lang="en-US" dirty="0"/>
              <a:t>Do you</a:t>
            </a:r>
            <a:r>
              <a:rPr lang="en-US" baseline="0" dirty="0"/>
              <a:t> go to PS2013 or PS2016</a:t>
            </a:r>
          </a:p>
          <a:p>
            <a:endParaRPr lang="en-US" baseline="0"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18</a:t>
            </a:fld>
            <a:endParaRPr lang="en-US" dirty="0"/>
          </a:p>
        </p:txBody>
      </p:sp>
    </p:spTree>
    <p:extLst>
      <p:ext uri="{BB962C8B-B14F-4D97-AF65-F5344CB8AC3E}">
        <p14:creationId xmlns:p14="http://schemas.microsoft.com/office/powerpoint/2010/main" val="3741278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anose="020B0604020202020204" pitchFamily="34" charset="0"/>
              <a:buChar char="•"/>
            </a:pPr>
            <a:r>
              <a:rPr lang="en-US" sz="900" b="0" i="0" kern="1200" dirty="0">
                <a:solidFill>
                  <a:schemeClr val="tx1"/>
                </a:solidFill>
                <a:effectLst/>
                <a:latin typeface="Segoe UI" pitchFamily="34" charset="0"/>
                <a:ea typeface="+mn-ea"/>
                <a:cs typeface="+mn-cs"/>
              </a:rPr>
              <a:t>Project Server 2010 requires Microsoft SharePoint Server 2010 to be installed on the computer running Project Server and on all Project Web App servers within a SharePoint farm.</a:t>
            </a:r>
          </a:p>
          <a:p>
            <a:pPr marL="171450" indent="-171450">
              <a:buFont typeface="Arial" panose="020B0604020202020204" pitchFamily="34" charset="0"/>
              <a:buChar char="•"/>
            </a:pPr>
            <a:r>
              <a:rPr lang="en-US" sz="900" b="0" i="0" kern="1200" dirty="0">
                <a:solidFill>
                  <a:schemeClr val="tx1"/>
                </a:solidFill>
                <a:effectLst/>
                <a:latin typeface="Segoe UI" pitchFamily="34" charset="0"/>
                <a:ea typeface="+mn-ea"/>
                <a:cs typeface="+mn-cs"/>
              </a:rPr>
              <a:t>The PSI includes both the Windows Communication Foundation (WCF) interface and the ASMX interface for Web services.</a:t>
            </a:r>
          </a:p>
          <a:p>
            <a:pPr marL="171450" indent="-171450">
              <a:buFont typeface="Arial" panose="020B0604020202020204" pitchFamily="34" charset="0"/>
              <a:buChar char="•"/>
            </a:pPr>
            <a:r>
              <a:rPr lang="en-US" sz="900" b="0" i="0" kern="1200" dirty="0">
                <a:solidFill>
                  <a:schemeClr val="tx1"/>
                </a:solidFill>
                <a:effectLst/>
                <a:latin typeface="Segoe UI" pitchFamily="34" charset="0"/>
                <a:ea typeface="+mn-ea"/>
                <a:cs typeface="+mn-cs"/>
              </a:rPr>
              <a:t>The Project Server workflow platform is integrated in the PSI, business object layer, and DAL, and built on Windows Workflow Foundation (WF) in the SharePoint platform.</a:t>
            </a:r>
          </a:p>
          <a:p>
            <a:pPr marL="171450" indent="-171450">
              <a:buFont typeface="Arial" panose="020B0604020202020204" pitchFamily="34" charset="0"/>
              <a:buChar char="•"/>
            </a:pPr>
            <a:r>
              <a:rPr lang="en-US" sz="900" b="0" i="0" kern="1200" dirty="0">
                <a:solidFill>
                  <a:schemeClr val="tx1"/>
                </a:solidFill>
                <a:effectLst/>
                <a:latin typeface="Segoe UI" pitchFamily="34" charset="0"/>
                <a:ea typeface="+mn-ea"/>
                <a:cs typeface="+mn-cs"/>
              </a:rPr>
              <a:t>Project Server task, assignment, and assignment status data is integrated with Microsoft Exchange Server, instead of with a Microsoft Outlook add-in.</a:t>
            </a:r>
          </a:p>
          <a:p>
            <a:pPr marL="171450" indent="-171450">
              <a:buFont typeface="Arial" panose="020B0604020202020204" pitchFamily="34" charset="0"/>
              <a:buChar char="•"/>
            </a:pPr>
            <a:r>
              <a:rPr lang="en-US" sz="900" b="0" i="0" kern="1200" dirty="0">
                <a:solidFill>
                  <a:schemeClr val="tx1"/>
                </a:solidFill>
                <a:effectLst/>
                <a:latin typeface="Segoe UI" pitchFamily="34" charset="0"/>
                <a:ea typeface="+mn-ea"/>
                <a:cs typeface="+mn-cs"/>
              </a:rPr>
              <a:t>Workflow</a:t>
            </a:r>
            <a:r>
              <a:rPr lang="en-US" sz="900" b="0" i="0" kern="1200" baseline="0" dirty="0">
                <a:solidFill>
                  <a:schemeClr val="tx1"/>
                </a:solidFill>
                <a:effectLst/>
                <a:latin typeface="Segoe UI" pitchFamily="34" charset="0"/>
                <a:ea typeface="+mn-ea"/>
                <a:cs typeface="+mn-cs"/>
              </a:rPr>
              <a:t> is part of SharePoint/Project Server 2010</a:t>
            </a:r>
            <a:endParaRPr lang="en-US" sz="900" b="0" i="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fld id="{8B263312-38AA-4E1E-B2B5-0F8F122B24FE}" type="slidenum">
              <a:rPr lang="en-US" smtClean="0"/>
              <a:pPr/>
              <a:t>19</a:t>
            </a:fld>
            <a:endParaRPr lang="en-US" dirty="0"/>
          </a:p>
        </p:txBody>
      </p:sp>
    </p:spTree>
    <p:extLst>
      <p:ext uri="{BB962C8B-B14F-4D97-AF65-F5344CB8AC3E}">
        <p14:creationId xmlns:p14="http://schemas.microsoft.com/office/powerpoint/2010/main" val="1634548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err="1"/>
              <a:t>ProjectWebApp</a:t>
            </a:r>
            <a:r>
              <a:rPr lang="en-CA" dirty="0"/>
              <a:t> database now contains all 4 project database</a:t>
            </a:r>
          </a:p>
          <a:p>
            <a:r>
              <a:rPr lang="en-CA" dirty="0"/>
              <a:t>Project</a:t>
            </a:r>
            <a:r>
              <a:rPr lang="en-CA" baseline="0" dirty="0"/>
              <a:t> and </a:t>
            </a:r>
            <a:r>
              <a:rPr lang="en-CA" baseline="0" dirty="0" err="1"/>
              <a:t>SdharePoint</a:t>
            </a:r>
            <a:r>
              <a:rPr lang="en-CA" baseline="0" dirty="0"/>
              <a:t> Database are separated</a:t>
            </a:r>
          </a:p>
          <a:p>
            <a:r>
              <a:rPr lang="en-CA" baseline="0" dirty="0"/>
              <a:t>Workflow is not integrated into 2013… Workflow service server is required</a:t>
            </a:r>
            <a:endParaRPr lang="en-CA"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20</a:t>
            </a:fld>
            <a:endParaRPr lang="en-US" dirty="0"/>
          </a:p>
        </p:txBody>
      </p:sp>
    </p:spTree>
    <p:extLst>
      <p:ext uri="{BB962C8B-B14F-4D97-AF65-F5344CB8AC3E}">
        <p14:creationId xmlns:p14="http://schemas.microsoft.com/office/powerpoint/2010/main" val="1888033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a:t>Project Sever 2010</a:t>
            </a:r>
          </a:p>
          <a:p>
            <a:r>
              <a:rPr lang="en-CA" dirty="0"/>
              <a:t>SQL</a:t>
            </a:r>
            <a:r>
              <a:rPr lang="en-CA" baseline="0" dirty="0"/>
              <a:t> Server 2008 and up</a:t>
            </a:r>
          </a:p>
          <a:p>
            <a:r>
              <a:rPr lang="en-CA" baseline="0" dirty="0"/>
              <a:t>PWA</a:t>
            </a:r>
          </a:p>
          <a:p>
            <a:r>
              <a:rPr lang="en-CA" baseline="0" dirty="0"/>
              <a:t>SharePoint 2010</a:t>
            </a:r>
            <a:endParaRPr lang="en-CA"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21</a:t>
            </a:fld>
            <a:endParaRPr lang="en-US" dirty="0"/>
          </a:p>
        </p:txBody>
      </p:sp>
    </p:spTree>
    <p:extLst>
      <p:ext uri="{BB962C8B-B14F-4D97-AF65-F5344CB8AC3E}">
        <p14:creationId xmlns:p14="http://schemas.microsoft.com/office/powerpoint/2010/main" val="4096860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22</a:t>
            </a:fld>
            <a:endParaRPr lang="en-US" dirty="0"/>
          </a:p>
        </p:txBody>
      </p:sp>
    </p:spTree>
    <p:extLst>
      <p:ext uri="{BB962C8B-B14F-4D97-AF65-F5344CB8AC3E}">
        <p14:creationId xmlns:p14="http://schemas.microsoft.com/office/powerpoint/2010/main" val="3620131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23</a:t>
            </a:fld>
            <a:endParaRPr lang="en-US" dirty="0"/>
          </a:p>
        </p:txBody>
      </p:sp>
    </p:spTree>
    <p:extLst>
      <p:ext uri="{BB962C8B-B14F-4D97-AF65-F5344CB8AC3E}">
        <p14:creationId xmlns:p14="http://schemas.microsoft.com/office/powerpoint/2010/main" val="4155355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24</a:t>
            </a:fld>
            <a:endParaRPr lang="en-US" dirty="0"/>
          </a:p>
        </p:txBody>
      </p:sp>
    </p:spTree>
    <p:extLst>
      <p:ext uri="{BB962C8B-B14F-4D97-AF65-F5344CB8AC3E}">
        <p14:creationId xmlns:p14="http://schemas.microsoft.com/office/powerpoint/2010/main" val="2964870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26</a:t>
            </a:fld>
            <a:endParaRPr lang="en-US" dirty="0"/>
          </a:p>
        </p:txBody>
      </p:sp>
    </p:spTree>
    <p:extLst>
      <p:ext uri="{BB962C8B-B14F-4D97-AF65-F5344CB8AC3E}">
        <p14:creationId xmlns:p14="http://schemas.microsoft.com/office/powerpoint/2010/main" val="78909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CA" sz="2800" dirty="0"/>
              <a:t>Number and Script</a:t>
            </a:r>
            <a:r>
              <a:rPr lang="en-CA" sz="2800" baseline="0" dirty="0"/>
              <a:t> all steps</a:t>
            </a:r>
          </a:p>
          <a:p>
            <a:endParaRPr lang="en-CA" sz="2800" baseline="0" dirty="0"/>
          </a:p>
          <a:p>
            <a:r>
              <a:rPr lang="en-CA" sz="2800" baseline="0" dirty="0"/>
              <a:t>Project 2010 had little PowerShell scripting</a:t>
            </a:r>
          </a:p>
          <a:p>
            <a:r>
              <a:rPr lang="en-CA" sz="2800" baseline="0" dirty="0"/>
              <a:t>Project 2007 and before had none.</a:t>
            </a:r>
          </a:p>
          <a:p>
            <a:endParaRPr lang="en-CA" sz="2800" dirty="0"/>
          </a:p>
          <a:p>
            <a:r>
              <a:rPr lang="en-CA" sz="2800" dirty="0"/>
              <a:t>Stages</a:t>
            </a:r>
          </a:p>
          <a:p>
            <a:pPr lvl="1"/>
            <a:r>
              <a:rPr lang="en-CA" sz="2400" dirty="0"/>
              <a:t>Pre-Upgrade / Upgrade / Post-Upgrade</a:t>
            </a:r>
          </a:p>
          <a:p>
            <a:r>
              <a:rPr lang="en-CA" sz="2800" dirty="0"/>
              <a:t>PowerShell Scripting</a:t>
            </a:r>
          </a:p>
          <a:p>
            <a:pPr lvl="1"/>
            <a:r>
              <a:rPr lang="en-CA" sz="2400" dirty="0"/>
              <a:t>Timing</a:t>
            </a:r>
          </a:p>
          <a:p>
            <a:pPr lvl="1"/>
            <a:r>
              <a:rPr lang="en-CA" sz="2400" dirty="0"/>
              <a:t>Logging </a:t>
            </a:r>
          </a:p>
          <a:p>
            <a:pPr lvl="1"/>
            <a:r>
              <a:rPr lang="en-CA" sz="2400" dirty="0"/>
              <a:t>SQL Scripting</a:t>
            </a:r>
          </a:p>
          <a:p>
            <a:pPr lvl="1"/>
            <a:r>
              <a:rPr lang="en-CA" sz="2400" dirty="0"/>
              <a:t>Notes</a:t>
            </a:r>
          </a:p>
          <a:p>
            <a:r>
              <a:rPr lang="en-CA" sz="2800" dirty="0"/>
              <a:t>SQL Server Scripting</a:t>
            </a:r>
          </a:p>
          <a:p>
            <a:pPr lvl="1"/>
            <a:r>
              <a:rPr lang="en-CA" sz="2400" dirty="0"/>
              <a:t>Backups / Restores</a:t>
            </a:r>
          </a:p>
          <a:p>
            <a:pPr lvl="1"/>
            <a:r>
              <a:rPr lang="en-CA" sz="2400" dirty="0"/>
              <a:t>Setting Security</a:t>
            </a:r>
          </a:p>
          <a:p>
            <a:r>
              <a:rPr lang="en-CA" dirty="0"/>
              <a:t>Check List </a:t>
            </a:r>
          </a:p>
          <a:p>
            <a:pPr lvl="1"/>
            <a:r>
              <a:rPr lang="en-CA" dirty="0"/>
              <a:t>Manual updates</a:t>
            </a:r>
          </a:p>
        </p:txBody>
      </p:sp>
      <p:sp>
        <p:nvSpPr>
          <p:cNvPr id="4" name="Slide Number Placeholder 3"/>
          <p:cNvSpPr>
            <a:spLocks noGrp="1"/>
          </p:cNvSpPr>
          <p:nvPr>
            <p:ph type="sldNum" sz="quarter" idx="10"/>
          </p:nvPr>
        </p:nvSpPr>
        <p:spPr/>
        <p:txBody>
          <a:bodyPr/>
          <a:lstStyle/>
          <a:p>
            <a:fld id="{8B263312-38AA-4E1E-B2B5-0F8F122B24FE}" type="slidenum">
              <a:rPr lang="en-US" smtClean="0"/>
              <a:pPr/>
              <a:t>28</a:t>
            </a:fld>
            <a:endParaRPr lang="en-US" dirty="0"/>
          </a:p>
        </p:txBody>
      </p:sp>
    </p:spTree>
    <p:extLst>
      <p:ext uri="{BB962C8B-B14F-4D97-AF65-F5344CB8AC3E}">
        <p14:creationId xmlns:p14="http://schemas.microsoft.com/office/powerpoint/2010/main" val="4256364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CA" sz="2400" dirty="0">
                <a:solidFill>
                  <a:schemeClr val="tx1"/>
                </a:solidFill>
              </a:rPr>
              <a:t>Servers</a:t>
            </a:r>
          </a:p>
          <a:p>
            <a:pPr lvl="1"/>
            <a:r>
              <a:rPr lang="en-CA" sz="2000" dirty="0">
                <a:solidFill>
                  <a:schemeClr val="tx1"/>
                </a:solidFill>
              </a:rPr>
              <a:t>Azure VM or Premise</a:t>
            </a:r>
          </a:p>
          <a:p>
            <a:pPr lvl="1"/>
            <a:r>
              <a:rPr lang="en-CA" sz="2000" dirty="0">
                <a:solidFill>
                  <a:schemeClr val="tx1"/>
                </a:solidFill>
              </a:rPr>
              <a:t>Build Physical Server Environments</a:t>
            </a:r>
          </a:p>
          <a:p>
            <a:pPr lvl="1"/>
            <a:r>
              <a:rPr lang="en-CA" sz="2000" dirty="0">
                <a:solidFill>
                  <a:schemeClr val="tx1"/>
                </a:solidFill>
              </a:rPr>
              <a:t>UAT and PRODUCTION</a:t>
            </a:r>
          </a:p>
          <a:p>
            <a:r>
              <a:rPr lang="en-CA" sz="2400" dirty="0">
                <a:solidFill>
                  <a:schemeClr val="tx1"/>
                </a:solidFill>
              </a:rPr>
              <a:t>Install SharePoint Software each environment</a:t>
            </a:r>
          </a:p>
          <a:p>
            <a:pPr lvl="1"/>
            <a:r>
              <a:rPr lang="en-CA" sz="2000" dirty="0" err="1">
                <a:solidFill>
                  <a:schemeClr val="tx1"/>
                </a:solidFill>
              </a:rPr>
              <a:t>AutoSPInstaller</a:t>
            </a:r>
            <a:r>
              <a:rPr lang="en-CA" sz="2000" dirty="0">
                <a:solidFill>
                  <a:schemeClr val="tx1"/>
                </a:solidFill>
              </a:rPr>
              <a:t> (was my preference)</a:t>
            </a:r>
          </a:p>
          <a:p>
            <a:r>
              <a:rPr lang="en-CA" sz="2400" dirty="0">
                <a:solidFill>
                  <a:schemeClr val="tx1"/>
                </a:solidFill>
              </a:rPr>
              <a:t>Configure SharePoint Farm Service</a:t>
            </a:r>
          </a:p>
          <a:p>
            <a:pPr lvl="1"/>
            <a:r>
              <a:rPr lang="en-CA" sz="2000" dirty="0">
                <a:solidFill>
                  <a:schemeClr val="tx1"/>
                </a:solidFill>
              </a:rPr>
              <a:t>Minimum servers (FE/Cache/APP/Search/SQL) </a:t>
            </a:r>
          </a:p>
          <a:p>
            <a:pPr lvl="1"/>
            <a:r>
              <a:rPr lang="en-CA" sz="2000" dirty="0">
                <a:solidFill>
                  <a:schemeClr val="tx1"/>
                </a:solidFill>
              </a:rPr>
              <a:t>Minimum services </a:t>
            </a:r>
          </a:p>
          <a:p>
            <a:r>
              <a:rPr lang="en-CA" sz="2400" dirty="0">
                <a:solidFill>
                  <a:schemeClr val="tx1"/>
                </a:solidFill>
              </a:rPr>
              <a:t>Install Office Online Server *</a:t>
            </a:r>
          </a:p>
          <a:p>
            <a:r>
              <a:rPr lang="en-CA" sz="2400" dirty="0">
                <a:solidFill>
                  <a:schemeClr val="tx1"/>
                </a:solidFill>
              </a:rPr>
              <a:t>Install Workflow Manager Server * </a:t>
            </a:r>
          </a:p>
          <a:p>
            <a:r>
              <a:rPr lang="en-CA" sz="2400" dirty="0">
                <a:solidFill>
                  <a:schemeClr val="tx1"/>
                </a:solidFill>
              </a:rPr>
              <a:t>Install SQL Server Reporting Service (</a:t>
            </a:r>
            <a:r>
              <a:rPr lang="en-CA" sz="2000" dirty="0">
                <a:solidFill>
                  <a:schemeClr val="tx1"/>
                </a:solidFill>
              </a:rPr>
              <a:t>Native Mode)</a:t>
            </a:r>
            <a:endParaRPr lang="en-US" sz="900" b="0" i="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fld id="{8B263312-38AA-4E1E-B2B5-0F8F122B24FE}" type="slidenum">
              <a:rPr lang="en-US" smtClean="0"/>
              <a:pPr/>
              <a:t>29</a:t>
            </a:fld>
            <a:endParaRPr lang="en-US" dirty="0"/>
          </a:p>
        </p:txBody>
      </p:sp>
    </p:spTree>
    <p:extLst>
      <p:ext uri="{BB962C8B-B14F-4D97-AF65-F5344CB8AC3E}">
        <p14:creationId xmlns:p14="http://schemas.microsoft.com/office/powerpoint/2010/main" val="2994283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CA" sz="2400" dirty="0">
                <a:solidFill>
                  <a:schemeClr val="tx1"/>
                </a:solidFill>
              </a:rPr>
              <a:t>Servers</a:t>
            </a:r>
          </a:p>
          <a:p>
            <a:pPr lvl="1"/>
            <a:r>
              <a:rPr lang="en-CA" sz="2000" dirty="0">
                <a:solidFill>
                  <a:schemeClr val="tx1"/>
                </a:solidFill>
              </a:rPr>
              <a:t>Azure VM or Premise</a:t>
            </a:r>
          </a:p>
          <a:p>
            <a:pPr lvl="1"/>
            <a:r>
              <a:rPr lang="en-CA" sz="2000" dirty="0">
                <a:solidFill>
                  <a:schemeClr val="tx1"/>
                </a:solidFill>
              </a:rPr>
              <a:t>Build Physical Server Environments</a:t>
            </a:r>
          </a:p>
          <a:p>
            <a:pPr lvl="1"/>
            <a:r>
              <a:rPr lang="en-CA" sz="2000" dirty="0">
                <a:solidFill>
                  <a:schemeClr val="tx1"/>
                </a:solidFill>
              </a:rPr>
              <a:t>UAT and PRODUCTION</a:t>
            </a:r>
          </a:p>
          <a:p>
            <a:r>
              <a:rPr lang="en-CA" sz="2400" dirty="0">
                <a:solidFill>
                  <a:schemeClr val="tx1"/>
                </a:solidFill>
              </a:rPr>
              <a:t>Install SharePoint Software each environment</a:t>
            </a:r>
          </a:p>
          <a:p>
            <a:pPr lvl="1"/>
            <a:r>
              <a:rPr lang="en-CA" sz="2000" dirty="0" err="1">
                <a:solidFill>
                  <a:schemeClr val="tx1"/>
                </a:solidFill>
              </a:rPr>
              <a:t>AutoSPInstaller</a:t>
            </a:r>
            <a:r>
              <a:rPr lang="en-CA" sz="2000" dirty="0">
                <a:solidFill>
                  <a:schemeClr val="tx1"/>
                </a:solidFill>
              </a:rPr>
              <a:t> (was my preference)</a:t>
            </a:r>
          </a:p>
          <a:p>
            <a:r>
              <a:rPr lang="en-CA" sz="2400" dirty="0">
                <a:solidFill>
                  <a:schemeClr val="tx1"/>
                </a:solidFill>
              </a:rPr>
              <a:t>Configure SharePoint Farm Service</a:t>
            </a:r>
          </a:p>
          <a:p>
            <a:pPr lvl="1"/>
            <a:r>
              <a:rPr lang="en-CA" sz="2000" dirty="0">
                <a:solidFill>
                  <a:schemeClr val="tx1"/>
                </a:solidFill>
              </a:rPr>
              <a:t>Minimum servers (FE/Cache/APP/Search/SQL) </a:t>
            </a:r>
          </a:p>
          <a:p>
            <a:pPr lvl="1"/>
            <a:r>
              <a:rPr lang="en-CA" sz="2000" dirty="0">
                <a:solidFill>
                  <a:schemeClr val="tx1"/>
                </a:solidFill>
              </a:rPr>
              <a:t>Minimum services </a:t>
            </a:r>
          </a:p>
          <a:p>
            <a:r>
              <a:rPr lang="en-CA" sz="2400" dirty="0">
                <a:solidFill>
                  <a:schemeClr val="tx1"/>
                </a:solidFill>
              </a:rPr>
              <a:t>Install Office Online Server *</a:t>
            </a:r>
          </a:p>
          <a:p>
            <a:r>
              <a:rPr lang="en-CA" sz="2400" dirty="0">
                <a:solidFill>
                  <a:schemeClr val="tx1"/>
                </a:solidFill>
              </a:rPr>
              <a:t>Install Workflow Manager Server * </a:t>
            </a:r>
          </a:p>
          <a:p>
            <a:r>
              <a:rPr lang="en-CA" sz="2400" dirty="0">
                <a:solidFill>
                  <a:schemeClr val="tx1"/>
                </a:solidFill>
              </a:rPr>
              <a:t>Install SQL Server Reporting Service (</a:t>
            </a:r>
            <a:r>
              <a:rPr lang="en-CA" sz="2000" dirty="0">
                <a:solidFill>
                  <a:schemeClr val="tx1"/>
                </a:solidFill>
              </a:rPr>
              <a:t>Native Mode)</a:t>
            </a:r>
            <a:endParaRPr lang="en-US" sz="900" b="0" i="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fld id="{8B263312-38AA-4E1E-B2B5-0F8F122B24FE}" type="slidenum">
              <a:rPr lang="en-US" smtClean="0"/>
              <a:pPr/>
              <a:t>30</a:t>
            </a:fld>
            <a:endParaRPr lang="en-US" dirty="0"/>
          </a:p>
        </p:txBody>
      </p:sp>
    </p:spTree>
    <p:extLst>
      <p:ext uri="{BB962C8B-B14F-4D97-AF65-F5344CB8AC3E}">
        <p14:creationId xmlns:p14="http://schemas.microsoft.com/office/powerpoint/2010/main" val="1627736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sz="2400" dirty="0">
                <a:solidFill>
                  <a:schemeClr val="tx1"/>
                </a:solidFill>
              </a:rPr>
              <a:t>Upgrade Stages</a:t>
            </a:r>
          </a:p>
          <a:p>
            <a:pPr lvl="1"/>
            <a:r>
              <a:rPr lang="en-CA" sz="2000" dirty="0">
                <a:solidFill>
                  <a:schemeClr val="tx1"/>
                </a:solidFill>
              </a:rPr>
              <a:t>Servers and Joining Domain</a:t>
            </a:r>
          </a:p>
          <a:p>
            <a:pPr lvl="1"/>
            <a:r>
              <a:rPr lang="en-CA" sz="2000" dirty="0">
                <a:solidFill>
                  <a:schemeClr val="tx1"/>
                </a:solidFill>
              </a:rPr>
              <a:t>Accounts and Permissions</a:t>
            </a:r>
          </a:p>
          <a:p>
            <a:r>
              <a:rPr lang="en-CA" sz="2400" dirty="0">
                <a:solidFill>
                  <a:schemeClr val="tx1"/>
                </a:solidFill>
              </a:rPr>
              <a:t>SQL Server Scripting</a:t>
            </a:r>
          </a:p>
          <a:p>
            <a:pPr lvl="1"/>
            <a:r>
              <a:rPr lang="en-CA" sz="2000" dirty="0">
                <a:solidFill>
                  <a:schemeClr val="tx1"/>
                </a:solidFill>
              </a:rPr>
              <a:t>Backups / Restores</a:t>
            </a:r>
          </a:p>
          <a:p>
            <a:pPr lvl="1"/>
            <a:r>
              <a:rPr lang="en-CA" sz="2000" dirty="0">
                <a:solidFill>
                  <a:schemeClr val="tx1"/>
                </a:solidFill>
              </a:rPr>
              <a:t>Security Setup</a:t>
            </a:r>
          </a:p>
          <a:p>
            <a:r>
              <a:rPr lang="en-CA" sz="2400" dirty="0">
                <a:solidFill>
                  <a:schemeClr val="tx1"/>
                </a:solidFill>
              </a:rPr>
              <a:t>Demo</a:t>
            </a:r>
          </a:p>
          <a:p>
            <a:pPr lvl="1"/>
            <a:r>
              <a:rPr lang="en-CA" sz="2000" dirty="0">
                <a:solidFill>
                  <a:schemeClr val="tx1"/>
                </a:solidFill>
              </a:rPr>
              <a:t>Restoring with SQL script</a:t>
            </a:r>
          </a:p>
          <a:p>
            <a:pPr lvl="1"/>
            <a:r>
              <a:rPr lang="en-CA" sz="2000" dirty="0">
                <a:solidFill>
                  <a:schemeClr val="tx1"/>
                </a:solidFill>
              </a:rPr>
              <a:t>Cleanup with SQL script</a:t>
            </a:r>
          </a:p>
          <a:p>
            <a:pPr lvl="1"/>
            <a:endParaRPr lang="en-CA"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31</a:t>
            </a:fld>
            <a:endParaRPr lang="en-US" dirty="0"/>
          </a:p>
        </p:txBody>
      </p:sp>
    </p:spTree>
    <p:extLst>
      <p:ext uri="{BB962C8B-B14F-4D97-AF65-F5344CB8AC3E}">
        <p14:creationId xmlns:p14="http://schemas.microsoft.com/office/powerpoint/2010/main" val="20202651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sz="2400" dirty="0">
                <a:solidFill>
                  <a:schemeClr val="tx1"/>
                </a:solidFill>
              </a:rPr>
              <a:t>Upgrade Stages</a:t>
            </a:r>
          </a:p>
          <a:p>
            <a:pPr lvl="1"/>
            <a:r>
              <a:rPr lang="en-CA" sz="2000" dirty="0">
                <a:solidFill>
                  <a:schemeClr val="tx1"/>
                </a:solidFill>
              </a:rPr>
              <a:t>Servers and Joining Domain</a:t>
            </a:r>
          </a:p>
          <a:p>
            <a:pPr lvl="1"/>
            <a:r>
              <a:rPr lang="en-CA" sz="2000" dirty="0">
                <a:solidFill>
                  <a:schemeClr val="tx1"/>
                </a:solidFill>
              </a:rPr>
              <a:t>Accounts and Permissions</a:t>
            </a:r>
          </a:p>
          <a:p>
            <a:r>
              <a:rPr lang="en-CA" sz="2400" dirty="0">
                <a:solidFill>
                  <a:schemeClr val="tx1"/>
                </a:solidFill>
              </a:rPr>
              <a:t>SQL Server Scripting</a:t>
            </a:r>
          </a:p>
          <a:p>
            <a:pPr lvl="1"/>
            <a:r>
              <a:rPr lang="en-CA" sz="2000" dirty="0">
                <a:solidFill>
                  <a:schemeClr val="tx1"/>
                </a:solidFill>
              </a:rPr>
              <a:t>Backups / Restores</a:t>
            </a:r>
          </a:p>
          <a:p>
            <a:pPr lvl="1"/>
            <a:r>
              <a:rPr lang="en-CA" sz="2000" dirty="0">
                <a:solidFill>
                  <a:schemeClr val="tx1"/>
                </a:solidFill>
              </a:rPr>
              <a:t>Security Setup</a:t>
            </a:r>
          </a:p>
          <a:p>
            <a:r>
              <a:rPr lang="en-CA" sz="2400" dirty="0">
                <a:solidFill>
                  <a:schemeClr val="tx1"/>
                </a:solidFill>
              </a:rPr>
              <a:t>Demo</a:t>
            </a:r>
          </a:p>
          <a:p>
            <a:pPr lvl="1"/>
            <a:r>
              <a:rPr lang="en-CA" sz="2000" dirty="0">
                <a:solidFill>
                  <a:schemeClr val="tx1"/>
                </a:solidFill>
              </a:rPr>
              <a:t>Restoring with SQL script</a:t>
            </a:r>
          </a:p>
          <a:p>
            <a:pPr lvl="1"/>
            <a:r>
              <a:rPr lang="en-CA" sz="2000" dirty="0">
                <a:solidFill>
                  <a:schemeClr val="tx1"/>
                </a:solidFill>
              </a:rPr>
              <a:t>Cleanup with SQL script</a:t>
            </a:r>
          </a:p>
          <a:p>
            <a:pPr lvl="1"/>
            <a:endParaRPr lang="en-CA"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32</a:t>
            </a:fld>
            <a:endParaRPr lang="en-US" dirty="0"/>
          </a:p>
        </p:txBody>
      </p:sp>
    </p:spTree>
    <p:extLst>
      <p:ext uri="{BB962C8B-B14F-4D97-AF65-F5344CB8AC3E}">
        <p14:creationId xmlns:p14="http://schemas.microsoft.com/office/powerpoint/2010/main" val="2296648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a:t>Many SharePoint</a:t>
            </a:r>
            <a:r>
              <a:rPr lang="en-CA" baseline="0" dirty="0"/>
              <a:t> farms are several years old.</a:t>
            </a:r>
          </a:p>
          <a:p>
            <a:pPr marL="228600" indent="-228600">
              <a:buAutoNum type="arabicParenR"/>
            </a:pPr>
            <a:r>
              <a:rPr lang="en-CA" baseline="0" dirty="0"/>
              <a:t>Installation of web parts</a:t>
            </a:r>
          </a:p>
          <a:p>
            <a:pPr marL="228600" indent="-228600">
              <a:buAutoNum type="arabicParenR"/>
            </a:pPr>
            <a:r>
              <a:rPr lang="en-CA" baseline="0" dirty="0"/>
              <a:t>Experimenting on production</a:t>
            </a:r>
          </a:p>
          <a:p>
            <a:pPr marL="228600" indent="-228600">
              <a:buAutoNum type="arabicParenR"/>
            </a:pPr>
            <a:endParaRPr lang="en-CA" baseline="0" dirty="0"/>
          </a:p>
          <a:p>
            <a:pPr marL="0" indent="0">
              <a:buNone/>
            </a:pPr>
            <a:r>
              <a:rPr lang="en-CA" baseline="0" dirty="0"/>
              <a:t>That may have been intention but over the years different people, consultants, trainers, patches have changed it</a:t>
            </a:r>
          </a:p>
          <a:p>
            <a:pPr marL="228600" indent="-228600">
              <a:buAutoNum type="arabicParenR"/>
            </a:pPr>
            <a:endParaRPr lang="en-CA"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34</a:t>
            </a:fld>
            <a:endParaRPr lang="en-US" dirty="0"/>
          </a:p>
        </p:txBody>
      </p:sp>
    </p:spTree>
    <p:extLst>
      <p:ext uri="{BB962C8B-B14F-4D97-AF65-F5344CB8AC3E}">
        <p14:creationId xmlns:p14="http://schemas.microsoft.com/office/powerpoint/2010/main" val="2356766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a:t>Many SharePoint</a:t>
            </a:r>
            <a:r>
              <a:rPr lang="en-CA" baseline="0" dirty="0"/>
              <a:t> farms are several years old.</a:t>
            </a:r>
          </a:p>
          <a:p>
            <a:pPr marL="228600" indent="-228600">
              <a:buAutoNum type="arabicParenR"/>
            </a:pPr>
            <a:r>
              <a:rPr lang="en-CA" baseline="0" dirty="0"/>
              <a:t>Installation of web parts</a:t>
            </a:r>
          </a:p>
          <a:p>
            <a:pPr marL="228600" indent="-228600">
              <a:buAutoNum type="arabicParenR"/>
            </a:pPr>
            <a:r>
              <a:rPr lang="en-CA" baseline="0" dirty="0"/>
              <a:t>Experimenting on production</a:t>
            </a:r>
          </a:p>
          <a:p>
            <a:pPr marL="228600" indent="-228600">
              <a:buAutoNum type="arabicParenR"/>
            </a:pPr>
            <a:endParaRPr lang="en-CA" baseline="0" dirty="0"/>
          </a:p>
          <a:p>
            <a:pPr marL="0" indent="0">
              <a:buNone/>
            </a:pPr>
            <a:r>
              <a:rPr lang="en-CA" baseline="0" dirty="0"/>
              <a:t>That may have been intention but over the years different people, consultants, trainers, patches have changed it</a:t>
            </a:r>
          </a:p>
          <a:p>
            <a:pPr marL="228600" indent="-228600">
              <a:buAutoNum type="arabicParenR"/>
            </a:pPr>
            <a:endParaRPr lang="en-CA"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35</a:t>
            </a:fld>
            <a:endParaRPr lang="en-US" dirty="0"/>
          </a:p>
        </p:txBody>
      </p:sp>
    </p:spTree>
    <p:extLst>
      <p:ext uri="{BB962C8B-B14F-4D97-AF65-F5344CB8AC3E}">
        <p14:creationId xmlns:p14="http://schemas.microsoft.com/office/powerpoint/2010/main" val="3292162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3</a:t>
            </a:r>
            <a:r>
              <a:rPr lang="en-US" sz="900" baseline="30000" dirty="0"/>
              <a:t>rd</a:t>
            </a:r>
            <a:r>
              <a:rPr lang="en-US" sz="900" dirty="0"/>
              <a:t> Party Web Parts don’t migrate</a:t>
            </a:r>
          </a:p>
          <a:p>
            <a:r>
              <a:rPr lang="en-US" sz="900" dirty="0"/>
              <a:t>Project Site Templates all out</a:t>
            </a:r>
            <a:r>
              <a:rPr lang="en-US" sz="900" baseline="0" dirty="0"/>
              <a:t> of </a:t>
            </a:r>
            <a:r>
              <a:rPr lang="en-US" sz="900" baseline="0" dirty="0" err="1"/>
              <a:t>wack</a:t>
            </a:r>
            <a:endParaRPr lang="en-US" sz="900" dirty="0"/>
          </a:p>
          <a:p>
            <a:r>
              <a:rPr lang="en-US" sz="900" dirty="0"/>
              <a:t>Customized Navigation does</a:t>
            </a:r>
            <a:r>
              <a:rPr lang="en-US" sz="900" baseline="0" dirty="0"/>
              <a:t>n’t jive with standard menu</a:t>
            </a:r>
            <a:endParaRPr lang="en-US" sz="900" dirty="0"/>
          </a:p>
          <a:p>
            <a:r>
              <a:rPr lang="en-US" sz="900" dirty="0"/>
              <a:t>PWA workflow missing –</a:t>
            </a:r>
            <a:r>
              <a:rPr lang="en-US" sz="900" baseline="0" dirty="0"/>
              <a:t> workflow has moved about with each version</a:t>
            </a:r>
            <a:endParaRPr lang="en-US" sz="900" dirty="0"/>
          </a:p>
          <a:p>
            <a:r>
              <a:rPr lang="en-US" sz="900" dirty="0"/>
              <a:t>Changing Domains</a:t>
            </a:r>
          </a:p>
          <a:p>
            <a:r>
              <a:rPr lang="en-US" sz="900" dirty="0"/>
              <a:t>Old resources and projects schedules</a:t>
            </a:r>
          </a:p>
          <a:p>
            <a:r>
              <a:rPr lang="en-US" sz="900" dirty="0"/>
              <a:t>SharePoint Permissions</a:t>
            </a:r>
          </a:p>
          <a:p>
            <a:r>
              <a:rPr lang="en-US" sz="900" dirty="0"/>
              <a:t>Project Permissions</a:t>
            </a:r>
          </a:p>
          <a:p>
            <a:r>
              <a:rPr lang="en-US" sz="900" dirty="0"/>
              <a:t>PWA Configuration Changes</a:t>
            </a:r>
          </a:p>
          <a:p>
            <a:r>
              <a:rPr lang="en-US" sz="900" dirty="0"/>
              <a:t>Broken Project Sites / Issues and Risks</a:t>
            </a:r>
          </a:p>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36</a:t>
            </a:fld>
            <a:endParaRPr lang="en-US" dirty="0"/>
          </a:p>
        </p:txBody>
      </p:sp>
    </p:spTree>
    <p:extLst>
      <p:ext uri="{BB962C8B-B14F-4D97-AF65-F5344CB8AC3E}">
        <p14:creationId xmlns:p14="http://schemas.microsoft.com/office/powerpoint/2010/main" val="1648814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CA" sz="2400" dirty="0"/>
              <a:t>Pre Upgrade</a:t>
            </a:r>
          </a:p>
          <a:p>
            <a:r>
              <a:rPr lang="en-CA" sz="2400" dirty="0"/>
              <a:t>SharePoint Upgrade</a:t>
            </a:r>
          </a:p>
          <a:p>
            <a:pPr lvl="1"/>
            <a:r>
              <a:rPr lang="en-CA" sz="2000" dirty="0"/>
              <a:t>Test-</a:t>
            </a:r>
            <a:r>
              <a:rPr lang="en-CA" sz="2000" dirty="0" err="1"/>
              <a:t>SPContentDatabase</a:t>
            </a:r>
            <a:endParaRPr lang="en-CA" sz="2000" dirty="0"/>
          </a:p>
          <a:p>
            <a:pPr lvl="1"/>
            <a:r>
              <a:rPr lang="en-CA" sz="1800" dirty="0"/>
              <a:t>Mount-</a:t>
            </a:r>
            <a:r>
              <a:rPr lang="en-CA" sz="1800" dirty="0" err="1"/>
              <a:t>SPContentDatabase</a:t>
            </a:r>
            <a:endParaRPr lang="en-CA" sz="2000" dirty="0"/>
          </a:p>
          <a:p>
            <a:pPr lvl="1"/>
            <a:r>
              <a:rPr lang="en-CA" sz="2000" dirty="0"/>
              <a:t>Test-</a:t>
            </a:r>
            <a:r>
              <a:rPr lang="en-CA" sz="2000" dirty="0" err="1"/>
              <a:t>SPSIte</a:t>
            </a:r>
            <a:endParaRPr lang="en-CA" sz="2000" dirty="0"/>
          </a:p>
          <a:p>
            <a:pPr lvl="1"/>
            <a:r>
              <a:rPr lang="en-CA" sz="2000" dirty="0"/>
              <a:t>Upgrade-</a:t>
            </a:r>
            <a:r>
              <a:rPr lang="en-CA" sz="2000" dirty="0" err="1"/>
              <a:t>SPSite</a:t>
            </a:r>
            <a:endParaRPr lang="en-CA" sz="2000" dirty="0"/>
          </a:p>
          <a:p>
            <a:r>
              <a:rPr lang="en-CA" sz="2400" dirty="0"/>
              <a:t>Project Server Upgrade</a:t>
            </a:r>
          </a:p>
          <a:p>
            <a:pPr lvl="1"/>
            <a:r>
              <a:rPr lang="en-CA" sz="2000" dirty="0" err="1"/>
              <a:t>ConvertTo-SPProjectDatabase</a:t>
            </a:r>
            <a:endParaRPr lang="en-CA" sz="2000" dirty="0"/>
          </a:p>
          <a:p>
            <a:pPr lvl="1"/>
            <a:r>
              <a:rPr lang="en-CA" sz="2000" dirty="0"/>
              <a:t>Mount-</a:t>
            </a:r>
            <a:r>
              <a:rPr lang="en-CA" sz="2000" dirty="0" err="1"/>
              <a:t>SPProjectDatabase</a:t>
            </a:r>
            <a:endParaRPr lang="en-CA" sz="2000" dirty="0"/>
          </a:p>
          <a:p>
            <a:pPr lvl="1"/>
            <a:r>
              <a:rPr lang="en-CA" sz="2000" dirty="0"/>
              <a:t>Test-</a:t>
            </a:r>
            <a:r>
              <a:rPr lang="en-CA" sz="2000" dirty="0" err="1"/>
              <a:t>SPProjectDatabase</a:t>
            </a:r>
            <a:endParaRPr lang="en-CA" sz="2000" dirty="0"/>
          </a:p>
          <a:p>
            <a:pPr lvl="1"/>
            <a:r>
              <a:rPr lang="en-CA" sz="2000" dirty="0"/>
              <a:t>Upgrade-</a:t>
            </a:r>
            <a:r>
              <a:rPr lang="en-CA" sz="2000" dirty="0" err="1"/>
              <a:t>SPProjectDatabase</a:t>
            </a:r>
            <a:endParaRPr lang="en-CA" sz="2000" dirty="0"/>
          </a:p>
          <a:p>
            <a:pPr lvl="1"/>
            <a:r>
              <a:rPr lang="en-CA" sz="2000" dirty="0"/>
              <a:t>Mount-</a:t>
            </a:r>
            <a:r>
              <a:rPr lang="en-CA" sz="2000" dirty="0" err="1"/>
              <a:t>SPProjectWebInstance</a:t>
            </a:r>
            <a:endParaRPr lang="en-CA" sz="2000" dirty="0"/>
          </a:p>
          <a:p>
            <a:pPr lvl="1"/>
            <a:r>
              <a:rPr lang="en-CA" sz="2000" dirty="0"/>
              <a:t>Test-</a:t>
            </a:r>
            <a:r>
              <a:rPr lang="en-CA" sz="2000" dirty="0" err="1"/>
              <a:t>SPProjectWebInstance</a:t>
            </a:r>
            <a:endParaRPr lang="en-CA" sz="2000" dirty="0"/>
          </a:p>
          <a:p>
            <a:pPr lvl="1"/>
            <a:r>
              <a:rPr lang="en-CA" sz="2000" dirty="0"/>
              <a:t>Upgrade-</a:t>
            </a:r>
            <a:r>
              <a:rPr lang="en-CA" sz="2000" dirty="0" err="1"/>
              <a:t>SPProjectWebInstance</a:t>
            </a:r>
            <a:endParaRPr lang="en-CA" sz="2000" dirty="0"/>
          </a:p>
          <a:p>
            <a:pPr lvl="1"/>
            <a:r>
              <a:rPr lang="en-CA" sz="2000" dirty="0"/>
              <a:t>Enable-</a:t>
            </a:r>
            <a:r>
              <a:rPr lang="en-CA" sz="2000" dirty="0" err="1"/>
              <a:t>SPFeature</a:t>
            </a:r>
            <a:endParaRPr lang="en-CA" sz="2000" dirty="0"/>
          </a:p>
          <a:p>
            <a:r>
              <a:rPr lang="en-CA" sz="2400" dirty="0"/>
              <a:t>Post Upgrade</a:t>
            </a:r>
          </a:p>
        </p:txBody>
      </p:sp>
      <p:sp>
        <p:nvSpPr>
          <p:cNvPr id="4" name="Slide Number Placeholder 3"/>
          <p:cNvSpPr>
            <a:spLocks noGrp="1"/>
          </p:cNvSpPr>
          <p:nvPr>
            <p:ph type="sldNum" sz="quarter" idx="10"/>
          </p:nvPr>
        </p:nvSpPr>
        <p:spPr/>
        <p:txBody>
          <a:bodyPr/>
          <a:lstStyle/>
          <a:p>
            <a:fld id="{8B263312-38AA-4E1E-B2B5-0F8F122B24FE}" type="slidenum">
              <a:rPr lang="en-US" smtClean="0"/>
              <a:pPr/>
              <a:t>37</a:t>
            </a:fld>
            <a:endParaRPr lang="en-US" dirty="0"/>
          </a:p>
        </p:txBody>
      </p:sp>
    </p:spTree>
    <p:extLst>
      <p:ext uri="{BB962C8B-B14F-4D97-AF65-F5344CB8AC3E}">
        <p14:creationId xmlns:p14="http://schemas.microsoft.com/office/powerpoint/2010/main" val="5527153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CA" sz="2800" dirty="0"/>
              <a:t>Pre Upgrade</a:t>
            </a:r>
          </a:p>
          <a:p>
            <a:pPr lvl="1"/>
            <a:r>
              <a:rPr lang="en-CA" sz="2400" dirty="0"/>
              <a:t>Create Project Server Farm</a:t>
            </a:r>
          </a:p>
          <a:p>
            <a:pPr lvl="1"/>
            <a:r>
              <a:rPr lang="en-CA" sz="2400" dirty="0"/>
              <a:t>Copy and Move databases</a:t>
            </a:r>
          </a:p>
          <a:p>
            <a:r>
              <a:rPr lang="en-CA" sz="2800" dirty="0"/>
              <a:t>SharePoint Upgrade</a:t>
            </a:r>
          </a:p>
          <a:p>
            <a:pPr lvl="1"/>
            <a:r>
              <a:rPr lang="en-CA" sz="2000" dirty="0"/>
              <a:t>Mount-</a:t>
            </a:r>
            <a:r>
              <a:rPr lang="en-CA" sz="2000" dirty="0" err="1"/>
              <a:t>SPContentDatabase</a:t>
            </a:r>
            <a:endParaRPr lang="en-CA" sz="2400" dirty="0"/>
          </a:p>
          <a:p>
            <a:pPr lvl="1"/>
            <a:r>
              <a:rPr lang="en-CA" sz="2400" dirty="0"/>
              <a:t>Test-</a:t>
            </a:r>
            <a:r>
              <a:rPr lang="en-CA" sz="2400" dirty="0" err="1"/>
              <a:t>SPContentDatabase</a:t>
            </a:r>
            <a:endParaRPr lang="en-CA" sz="2400" dirty="0"/>
          </a:p>
          <a:p>
            <a:r>
              <a:rPr lang="en-CA" sz="2800" dirty="0"/>
              <a:t>Project Server Upgrade</a:t>
            </a:r>
          </a:p>
          <a:p>
            <a:pPr lvl="1"/>
            <a:r>
              <a:rPr lang="en-CA" sz="2400" dirty="0"/>
              <a:t>Migrate-</a:t>
            </a:r>
            <a:r>
              <a:rPr lang="en-CA" sz="2400" dirty="0" err="1"/>
              <a:t>SPProjectDatabase</a:t>
            </a:r>
            <a:r>
              <a:rPr lang="en-CA" sz="2400" dirty="0"/>
              <a:t>    ***	(copy </a:t>
            </a:r>
            <a:r>
              <a:rPr lang="en-CA" sz="2400" dirty="0" err="1"/>
              <a:t>db</a:t>
            </a:r>
            <a:r>
              <a:rPr lang="en-CA" sz="2400" dirty="0"/>
              <a:t> into Content </a:t>
            </a:r>
            <a:r>
              <a:rPr lang="en-CA" sz="2400" dirty="0" err="1"/>
              <a:t>db</a:t>
            </a:r>
            <a:r>
              <a:rPr lang="en-CA" sz="2400" dirty="0"/>
              <a:t>)</a:t>
            </a:r>
          </a:p>
          <a:p>
            <a:pPr lvl="1"/>
            <a:r>
              <a:rPr lang="en-CA" sz="2400" dirty="0"/>
              <a:t>Migrate-</a:t>
            </a:r>
            <a:r>
              <a:rPr lang="en-CA" sz="2400" dirty="0" err="1"/>
              <a:t>SPProjectResourcePlans</a:t>
            </a:r>
            <a:endParaRPr lang="en-CA" sz="2400" dirty="0"/>
          </a:p>
          <a:p>
            <a:pPr lvl="1"/>
            <a:r>
              <a:rPr lang="en-CA" sz="2400" dirty="0"/>
              <a:t>Set-</a:t>
            </a:r>
            <a:r>
              <a:rPr lang="en-CA" sz="2400" dirty="0" err="1"/>
              <a:t>SPProjectDatabaseQuota</a:t>
            </a:r>
            <a:endParaRPr lang="en-CA" sz="2400" dirty="0"/>
          </a:p>
          <a:p>
            <a:r>
              <a:rPr lang="en-CA" sz="2800" dirty="0"/>
              <a:t>Post Upgrade</a:t>
            </a:r>
          </a:p>
        </p:txBody>
      </p:sp>
      <p:sp>
        <p:nvSpPr>
          <p:cNvPr id="4" name="Slide Number Placeholder 3"/>
          <p:cNvSpPr>
            <a:spLocks noGrp="1"/>
          </p:cNvSpPr>
          <p:nvPr>
            <p:ph type="sldNum" sz="quarter" idx="10"/>
          </p:nvPr>
        </p:nvSpPr>
        <p:spPr/>
        <p:txBody>
          <a:bodyPr/>
          <a:lstStyle/>
          <a:p>
            <a:fld id="{8B263312-38AA-4E1E-B2B5-0F8F122B24FE}" type="slidenum">
              <a:rPr lang="en-US" smtClean="0"/>
              <a:pPr/>
              <a:t>38</a:t>
            </a:fld>
            <a:endParaRPr lang="en-US" dirty="0"/>
          </a:p>
        </p:txBody>
      </p:sp>
    </p:spTree>
    <p:extLst>
      <p:ext uri="{BB962C8B-B14F-4D97-AF65-F5344CB8AC3E}">
        <p14:creationId xmlns:p14="http://schemas.microsoft.com/office/powerpoint/2010/main" val="1252536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CA" sz="2800" dirty="0"/>
              <a:t>Pre Upgrade</a:t>
            </a:r>
          </a:p>
          <a:p>
            <a:pPr lvl="1"/>
            <a:r>
              <a:rPr lang="en-CA" sz="2400" dirty="0"/>
              <a:t>Create Project Server Farm</a:t>
            </a:r>
          </a:p>
          <a:p>
            <a:pPr lvl="1"/>
            <a:r>
              <a:rPr lang="en-CA" sz="2400" dirty="0"/>
              <a:t>Copy and Move databases</a:t>
            </a:r>
          </a:p>
          <a:p>
            <a:r>
              <a:rPr lang="en-CA" sz="2800" dirty="0"/>
              <a:t>SharePoint Upgrade</a:t>
            </a:r>
          </a:p>
          <a:p>
            <a:pPr lvl="1"/>
            <a:r>
              <a:rPr lang="en-CA" sz="2000" dirty="0"/>
              <a:t>Mount-</a:t>
            </a:r>
            <a:r>
              <a:rPr lang="en-CA" sz="2000" dirty="0" err="1"/>
              <a:t>SPContentDatabase</a:t>
            </a:r>
            <a:endParaRPr lang="en-CA" sz="2400" dirty="0"/>
          </a:p>
          <a:p>
            <a:pPr lvl="1"/>
            <a:r>
              <a:rPr lang="en-CA" sz="2400" dirty="0"/>
              <a:t>Test-</a:t>
            </a:r>
            <a:r>
              <a:rPr lang="en-CA" sz="2400" dirty="0" err="1"/>
              <a:t>SPContentDatabase</a:t>
            </a:r>
            <a:endParaRPr lang="en-CA" sz="2400" dirty="0"/>
          </a:p>
          <a:p>
            <a:r>
              <a:rPr lang="en-CA" sz="2800" dirty="0"/>
              <a:t>Project Server Upgrade</a:t>
            </a:r>
          </a:p>
          <a:p>
            <a:pPr lvl="1"/>
            <a:r>
              <a:rPr lang="en-CA" sz="2400" dirty="0"/>
              <a:t>Migrate-</a:t>
            </a:r>
            <a:r>
              <a:rPr lang="en-CA" sz="2400" dirty="0" err="1"/>
              <a:t>SPProjectDatabase</a:t>
            </a:r>
            <a:r>
              <a:rPr lang="en-CA" sz="2400" dirty="0"/>
              <a:t>    ***	(copy </a:t>
            </a:r>
            <a:r>
              <a:rPr lang="en-CA" sz="2400" dirty="0" err="1"/>
              <a:t>db</a:t>
            </a:r>
            <a:r>
              <a:rPr lang="en-CA" sz="2400" dirty="0"/>
              <a:t> into Content </a:t>
            </a:r>
            <a:r>
              <a:rPr lang="en-CA" sz="2400" dirty="0" err="1"/>
              <a:t>db</a:t>
            </a:r>
            <a:r>
              <a:rPr lang="en-CA" sz="2400" dirty="0"/>
              <a:t>)</a:t>
            </a:r>
          </a:p>
          <a:p>
            <a:pPr lvl="1"/>
            <a:r>
              <a:rPr lang="en-CA" sz="2400" dirty="0"/>
              <a:t>Migrate-</a:t>
            </a:r>
            <a:r>
              <a:rPr lang="en-CA" sz="2400" dirty="0" err="1"/>
              <a:t>SPProjectResourcePlans</a:t>
            </a:r>
            <a:endParaRPr lang="en-CA" sz="2400" dirty="0"/>
          </a:p>
          <a:p>
            <a:pPr lvl="1"/>
            <a:r>
              <a:rPr lang="en-CA" sz="2400" dirty="0"/>
              <a:t>Set-</a:t>
            </a:r>
            <a:r>
              <a:rPr lang="en-CA" sz="2400" dirty="0" err="1"/>
              <a:t>SPProjectDatabaseQuota</a:t>
            </a:r>
            <a:endParaRPr lang="en-CA" sz="2400" dirty="0"/>
          </a:p>
          <a:p>
            <a:r>
              <a:rPr lang="en-CA" sz="2800" dirty="0"/>
              <a:t>Post Upgrade</a:t>
            </a:r>
          </a:p>
        </p:txBody>
      </p:sp>
      <p:sp>
        <p:nvSpPr>
          <p:cNvPr id="4" name="Slide Number Placeholder 3"/>
          <p:cNvSpPr>
            <a:spLocks noGrp="1"/>
          </p:cNvSpPr>
          <p:nvPr>
            <p:ph type="sldNum" sz="quarter" idx="10"/>
          </p:nvPr>
        </p:nvSpPr>
        <p:spPr/>
        <p:txBody>
          <a:bodyPr/>
          <a:lstStyle/>
          <a:p>
            <a:fld id="{8B263312-38AA-4E1E-B2B5-0F8F122B24FE}" type="slidenum">
              <a:rPr lang="en-US" smtClean="0"/>
              <a:pPr/>
              <a:t>39</a:t>
            </a:fld>
            <a:endParaRPr lang="en-US" dirty="0"/>
          </a:p>
        </p:txBody>
      </p:sp>
    </p:spTree>
    <p:extLst>
      <p:ext uri="{BB962C8B-B14F-4D97-AF65-F5344CB8AC3E}">
        <p14:creationId xmlns:p14="http://schemas.microsoft.com/office/powerpoint/2010/main" val="59223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sz="2800" dirty="0">
                <a:solidFill>
                  <a:schemeClr val="tx1"/>
                </a:solidFill>
              </a:rPr>
              <a:t>Upgrade is completed</a:t>
            </a:r>
          </a:p>
          <a:p>
            <a:r>
              <a:rPr lang="en-CA" sz="2800" dirty="0">
                <a:solidFill>
                  <a:schemeClr val="tx1"/>
                </a:solidFill>
              </a:rPr>
              <a:t>Build Post Upgrade Checklist</a:t>
            </a:r>
          </a:p>
          <a:p>
            <a:pPr lvl="1"/>
            <a:r>
              <a:rPr lang="en-CA" sz="2400" dirty="0">
                <a:solidFill>
                  <a:schemeClr val="tx1"/>
                </a:solidFill>
              </a:rPr>
              <a:t>SharePoint Farm Adjustments</a:t>
            </a:r>
          </a:p>
          <a:p>
            <a:pPr lvl="1"/>
            <a:r>
              <a:rPr lang="en-CA" sz="2400" dirty="0">
                <a:solidFill>
                  <a:schemeClr val="tx1"/>
                </a:solidFill>
              </a:rPr>
              <a:t>Rebuild Reports </a:t>
            </a:r>
          </a:p>
          <a:p>
            <a:pPr lvl="1"/>
            <a:r>
              <a:rPr lang="en-CA" sz="2400" dirty="0">
                <a:solidFill>
                  <a:schemeClr val="tx1"/>
                </a:solidFill>
              </a:rPr>
              <a:t>Testers </a:t>
            </a:r>
          </a:p>
          <a:p>
            <a:r>
              <a:rPr lang="en-CA" sz="2400" dirty="0">
                <a:solidFill>
                  <a:schemeClr val="tx1"/>
                </a:solidFill>
              </a:rPr>
              <a:t>Deploy Project Pro client for select users</a:t>
            </a:r>
          </a:p>
          <a:p>
            <a:r>
              <a:rPr lang="en-CA" sz="2400" dirty="0">
                <a:solidFill>
                  <a:schemeClr val="tx1"/>
                </a:solidFill>
              </a:rPr>
              <a:t>TEST, TEST, TEST</a:t>
            </a:r>
          </a:p>
          <a:p>
            <a:r>
              <a:rPr lang="en-CA" sz="2400" dirty="0">
                <a:solidFill>
                  <a:schemeClr val="tx1"/>
                </a:solidFill>
              </a:rPr>
              <a:t>UPDATE SCRIPTS AND NOTES</a:t>
            </a:r>
          </a:p>
        </p:txBody>
      </p:sp>
      <p:sp>
        <p:nvSpPr>
          <p:cNvPr id="4" name="Slide Number Placeholder 3"/>
          <p:cNvSpPr>
            <a:spLocks noGrp="1"/>
          </p:cNvSpPr>
          <p:nvPr>
            <p:ph type="sldNum" sz="quarter" idx="10"/>
          </p:nvPr>
        </p:nvSpPr>
        <p:spPr/>
        <p:txBody>
          <a:bodyPr/>
          <a:lstStyle/>
          <a:p>
            <a:fld id="{8B263312-38AA-4E1E-B2B5-0F8F122B24FE}" type="slidenum">
              <a:rPr lang="en-US" smtClean="0"/>
              <a:pPr/>
              <a:t>41</a:t>
            </a:fld>
            <a:endParaRPr lang="en-US" dirty="0"/>
          </a:p>
        </p:txBody>
      </p:sp>
    </p:spTree>
    <p:extLst>
      <p:ext uri="{BB962C8B-B14F-4D97-AF65-F5344CB8AC3E}">
        <p14:creationId xmlns:p14="http://schemas.microsoft.com/office/powerpoint/2010/main" val="36359180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sz="900" dirty="0">
                <a:solidFill>
                  <a:schemeClr val="tx1"/>
                </a:solidFill>
              </a:rPr>
              <a:t>TEST</a:t>
            </a:r>
          </a:p>
          <a:p>
            <a:r>
              <a:rPr lang="en-CA" sz="900" dirty="0">
                <a:solidFill>
                  <a:schemeClr val="tx1"/>
                </a:solidFill>
              </a:rPr>
              <a:t>TEST</a:t>
            </a:r>
          </a:p>
          <a:p>
            <a:r>
              <a:rPr lang="en-CA" sz="900" dirty="0">
                <a:solidFill>
                  <a:schemeClr val="tx1"/>
                </a:solidFill>
              </a:rPr>
              <a:t>TEST</a:t>
            </a:r>
          </a:p>
          <a:p>
            <a:r>
              <a:rPr lang="en-CA" sz="900" dirty="0">
                <a:solidFill>
                  <a:schemeClr val="tx1"/>
                </a:solidFill>
              </a:rPr>
              <a:t>UPDATE SCRIPTS /NOTES</a:t>
            </a:r>
          </a:p>
        </p:txBody>
      </p:sp>
      <p:sp>
        <p:nvSpPr>
          <p:cNvPr id="4" name="Slide Number Placeholder 3"/>
          <p:cNvSpPr>
            <a:spLocks noGrp="1"/>
          </p:cNvSpPr>
          <p:nvPr>
            <p:ph type="sldNum" sz="quarter" idx="10"/>
          </p:nvPr>
        </p:nvSpPr>
        <p:spPr/>
        <p:txBody>
          <a:bodyPr/>
          <a:lstStyle/>
          <a:p>
            <a:fld id="{8B263312-38AA-4E1E-B2B5-0F8F122B24FE}" type="slidenum">
              <a:rPr lang="en-US" smtClean="0"/>
              <a:pPr/>
              <a:t>42</a:t>
            </a:fld>
            <a:endParaRPr lang="en-US" dirty="0"/>
          </a:p>
        </p:txBody>
      </p:sp>
    </p:spTree>
    <p:extLst>
      <p:ext uri="{BB962C8B-B14F-4D97-AF65-F5344CB8AC3E}">
        <p14:creationId xmlns:p14="http://schemas.microsoft.com/office/powerpoint/2010/main" val="1579353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a:t>Project2010</a:t>
            </a:r>
          </a:p>
          <a:p>
            <a:r>
              <a:rPr lang="en-CA" dirty="0"/>
              <a:t>Project Sever 2010</a:t>
            </a:r>
          </a:p>
          <a:p>
            <a:r>
              <a:rPr lang="en-CA" dirty="0"/>
              <a:t>SQL</a:t>
            </a:r>
            <a:r>
              <a:rPr lang="en-CA" baseline="0" dirty="0"/>
              <a:t> Server 2008 and up</a:t>
            </a:r>
          </a:p>
          <a:p>
            <a:r>
              <a:rPr lang="en-CA" baseline="0" dirty="0"/>
              <a:t>PWA</a:t>
            </a:r>
          </a:p>
          <a:p>
            <a:r>
              <a:rPr lang="en-CA" baseline="0" dirty="0"/>
              <a:t>SharePoint 2010</a:t>
            </a:r>
            <a:endParaRPr lang="en-CA"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44</a:t>
            </a:fld>
            <a:endParaRPr lang="en-US" dirty="0"/>
          </a:p>
        </p:txBody>
      </p:sp>
    </p:spTree>
    <p:extLst>
      <p:ext uri="{BB962C8B-B14F-4D97-AF65-F5344CB8AC3E}">
        <p14:creationId xmlns:p14="http://schemas.microsoft.com/office/powerpoint/2010/main" val="588012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normAutofit/>
          </a:bodyPr>
          <a:lstStyle/>
          <a:p>
            <a:r>
              <a:rPr lang="en-US" dirty="0"/>
              <a:t>My passion real</a:t>
            </a:r>
            <a:r>
              <a:rPr lang="en-US" baseline="0" dirty="0"/>
              <a:t> passion is automating and monitoring Project Server</a:t>
            </a:r>
          </a:p>
          <a:p>
            <a:r>
              <a:rPr lang="en-US" baseline="0" dirty="0"/>
              <a:t>My second passion is maintaining good Field Notes!! Using PowerShell</a:t>
            </a:r>
          </a:p>
          <a:p>
            <a:endParaRPr lang="en-US" baseline="0" dirty="0"/>
          </a:p>
          <a:p>
            <a:r>
              <a:rPr lang="en-US" baseline="0" dirty="0"/>
              <a:t>Field Notes</a:t>
            </a:r>
          </a:p>
          <a:p>
            <a:pPr marL="228600" indent="-228600">
              <a:buAutoNum type="arabicParenR"/>
            </a:pPr>
            <a:r>
              <a:rPr lang="en-US" baseline="0" dirty="0"/>
              <a:t>Windows</a:t>
            </a:r>
          </a:p>
          <a:p>
            <a:pPr marL="228600" indent="-228600">
              <a:buAutoNum type="arabicParenR"/>
            </a:pPr>
            <a:r>
              <a:rPr lang="en-US" baseline="0" dirty="0"/>
              <a:t>SQL Server</a:t>
            </a:r>
          </a:p>
          <a:p>
            <a:pPr marL="228600" indent="-228600">
              <a:buAutoNum type="arabicParenR"/>
            </a:pPr>
            <a:r>
              <a:rPr lang="en-US" baseline="0" dirty="0"/>
              <a:t>SharePoint</a:t>
            </a:r>
          </a:p>
          <a:p>
            <a:pPr marL="228600" indent="-228600">
              <a:buAutoNum type="arabicParenR"/>
            </a:pPr>
            <a:r>
              <a:rPr lang="en-US" baseline="0" dirty="0"/>
              <a:t>Project Server</a:t>
            </a:r>
          </a:p>
          <a:p>
            <a:endParaRPr lang="en-US" dirty="0"/>
          </a:p>
          <a:p>
            <a:r>
              <a:rPr lang="en-US" dirty="0"/>
              <a:t>Consistency</a:t>
            </a:r>
            <a:r>
              <a:rPr lang="en-US" baseline="0" dirty="0"/>
              <a:t> with Deployments.</a:t>
            </a:r>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8/5/2019 10:23 PM</a:t>
            </a:fld>
            <a:endParaRPr lang="en-US">
              <a:solidFill>
                <a:prstClr val="black"/>
              </a:solidFill>
            </a:endParaRPr>
          </a:p>
        </p:txBody>
      </p:sp>
      <p:sp>
        <p:nvSpPr>
          <p:cNvPr id="6" name="Footer Placeholder 5"/>
          <p:cNvSpPr>
            <a:spLocks noGrp="1"/>
          </p:cNvSpPr>
          <p:nvPr>
            <p:ph type="ftr" sz="quarter" idx="12"/>
          </p:nvPr>
        </p:nvSpPr>
        <p:spPr/>
        <p:txBody>
          <a:bodyPr/>
          <a:lstStyle/>
          <a:p>
            <a:r>
              <a:rPr lang="en-US" dirty="0">
                <a:solidFill>
                  <a:srgbClr val="000000"/>
                </a:solidFill>
                <a:latin typeface="Segoe UI" pitchFamily="34" charset="0"/>
              </a:rPr>
              <a:t>© 2007 Microsoft Corporation. All rights reserved. Microsoft, Windows, Windows Vista and other product names are or may be registered trademarks and/or trademarks in the U.S. and/or other countries.</a:t>
            </a:r>
          </a:p>
          <a:p>
            <a:r>
              <a:rPr lang="en-US"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a:solidFill>
                  <a:srgbClr val="000000"/>
                </a:solidFill>
                <a:latin typeface="Segoe UI" pitchFamily="34" charset="0"/>
              </a:rPr>
            </a:br>
            <a:r>
              <a:rPr lang="en-US" dirty="0">
                <a:solidFill>
                  <a:srgbClr val="000000"/>
                </a:solidFill>
                <a:latin typeface="Segoe UI" pitchFamily="34" charset="0"/>
              </a:rPr>
              <a:t>MICROSOFT MAKES NO WARRANTIES, EXPRESS, IMPLIED OR STATUTORY, AS TO THE INFORMATION IN THIS PRESENTATION.</a:t>
            </a:r>
          </a:p>
          <a:p>
            <a:endParaRPr lang="en-US" dirty="0">
              <a:solidFill>
                <a:prstClr val="black"/>
              </a:solidFill>
              <a:latin typeface="Segoe U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2621176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771" y="1905002"/>
            <a:ext cx="8363938" cy="1957459"/>
          </a:xfrm>
        </p:spPr>
        <p:txBody>
          <a:bodyPr/>
          <a:lstStyle>
            <a:lvl1pPr>
              <a:lnSpc>
                <a:spcPct val="90000"/>
              </a:lnSpc>
              <a:defRPr sz="2400"/>
            </a:lvl1pPr>
            <a:lvl2pPr>
              <a:lnSpc>
                <a:spcPct val="90000"/>
              </a:lnSpc>
              <a:defRPr sz="2400"/>
            </a:lvl2pPr>
            <a:lvl3pPr>
              <a:lnSpc>
                <a:spcPct val="90000"/>
              </a:lnSpc>
              <a:defRPr sz="2400"/>
            </a:lvl3pPr>
            <a:lvl4pPr>
              <a:lnSpc>
                <a:spcPct val="90000"/>
              </a:lnSpc>
              <a:defRPr sz="2400"/>
            </a:lvl4pPr>
            <a:lvl5pPr>
              <a:lnSpc>
                <a:spcPct val="90000"/>
              </a:lnSpc>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hasCustomPrompt="1"/>
          </p:nvPr>
        </p:nvSpPr>
        <p:spPr>
          <a:xfrm>
            <a:off x="381000" y="852304"/>
            <a:ext cx="8363938" cy="457048"/>
          </a:xfrm>
        </p:spPr>
        <p:txBody>
          <a:bodyPr/>
          <a:lstStyle/>
          <a:p>
            <a:r>
              <a:rPr lang="en-US" dirty="0"/>
              <a:t>Master title style</a:t>
            </a:r>
          </a:p>
        </p:txBody>
      </p:sp>
    </p:spTree>
    <p:extLst>
      <p:ext uri="{BB962C8B-B14F-4D97-AF65-F5344CB8AC3E}">
        <p14:creationId xmlns:p14="http://schemas.microsoft.com/office/powerpoint/2010/main" val="3069836659"/>
      </p:ext>
    </p:extLst>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389437" y="858388"/>
            <a:ext cx="8363938" cy="666387"/>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389437" y="1847473"/>
            <a:ext cx="8363938" cy="1500411"/>
          </a:xfrm>
        </p:spPr>
        <p:txBody>
          <a:bodyPr/>
          <a:lstStyle>
            <a:lvl1pPr>
              <a:buClr>
                <a:schemeClr val="tx1">
                  <a:lumMod val="50000"/>
                  <a:lumOff val="50000"/>
                </a:schemeClr>
              </a:buClr>
              <a:defRPr>
                <a:solidFill>
                  <a:srgbClr val="000000"/>
                </a:solidFill>
              </a:defRPr>
            </a:lvl1pPr>
            <a:lvl2pPr>
              <a:buClr>
                <a:schemeClr val="tx1">
                  <a:lumMod val="50000"/>
                  <a:lumOff val="50000"/>
                </a:schemeClr>
              </a:buClr>
              <a:defRPr>
                <a:solidFill>
                  <a:srgbClr val="000000"/>
                </a:solidFill>
              </a:defRPr>
            </a:lvl2pPr>
            <a:lvl3pPr>
              <a:buClr>
                <a:schemeClr val="tx1">
                  <a:lumMod val="50000"/>
                  <a:lumOff val="50000"/>
                </a:schemeClr>
              </a:buClr>
              <a:defRPr>
                <a:solidFill>
                  <a:srgbClr val="000000"/>
                </a:solidFill>
              </a:defRPr>
            </a:lvl3pPr>
            <a:lvl4pPr>
              <a:buClr>
                <a:schemeClr val="tx1">
                  <a:lumMod val="50000"/>
                  <a:lumOff val="50000"/>
                </a:schemeClr>
              </a:buClr>
              <a:defRPr>
                <a:solidFill>
                  <a:srgbClr val="000000"/>
                </a:solidFill>
              </a:defRPr>
            </a:lvl4pPr>
            <a:lvl5pPr>
              <a:buClr>
                <a:schemeClr val="tx1">
                  <a:lumMod val="50000"/>
                  <a:lumOff val="50000"/>
                </a:schemeClr>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p:cNvSpPr/>
          <p:nvPr userDrawn="1"/>
        </p:nvSpPr>
        <p:spPr bwMode="ltGray">
          <a:xfrm>
            <a:off x="1" y="6621464"/>
            <a:ext cx="8986796" cy="6311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570" tIns="34285" rIns="34285" bIns="34285" numCol="1" spcCol="0" rtlCol="0" fromWordArt="0" anchor="ctr" anchorCtr="0" forceAA="0" compatLnSpc="1">
            <a:prstTxWarp prst="textNoShape">
              <a:avLst/>
            </a:prstTxWarp>
            <a:noAutofit/>
          </a:bodyPr>
          <a:lstStyle/>
          <a:p>
            <a:pPr algn="ctr" defTabSz="685529" fontAlgn="base">
              <a:spcBef>
                <a:spcPct val="0"/>
              </a:spcBef>
              <a:spcAft>
                <a:spcPct val="0"/>
              </a:spcAft>
            </a:pPr>
            <a:endParaRPr lang="en-US" sz="1650" spc="-75"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618325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extBox 1"/>
          <p:cNvSpPr txBox="1"/>
          <p:nvPr userDrawn="1"/>
        </p:nvSpPr>
        <p:spPr>
          <a:xfrm>
            <a:off x="5410200" y="6324600"/>
            <a:ext cx="3733800" cy="338554"/>
          </a:xfrm>
          <a:prstGeom prst="rect">
            <a:avLst/>
          </a:prstGeom>
          <a:noFill/>
        </p:spPr>
        <p:txBody>
          <a:bodyPr wrap="square" rtlCol="0">
            <a:spAutoFit/>
          </a:bodyPr>
          <a:lstStyle/>
          <a:p>
            <a:r>
              <a:rPr lang="en-US" sz="1600" dirty="0">
                <a:solidFill>
                  <a:srgbClr val="FFFFFF"/>
                </a:solidFill>
              </a:rPr>
              <a:t>Wharton</a:t>
            </a:r>
            <a:r>
              <a:rPr lang="en-US" sz="1600" baseline="0" dirty="0">
                <a:solidFill>
                  <a:srgbClr val="FFFFFF"/>
                </a:solidFill>
              </a:rPr>
              <a:t> Computer Consulting, Inc.</a:t>
            </a:r>
            <a:endParaRPr lang="en-US" sz="1600" dirty="0">
              <a:solidFill>
                <a:srgbClr val="FFFFFF"/>
              </a:solidFill>
            </a:endParaRPr>
          </a:p>
        </p:txBody>
      </p:sp>
    </p:spTree>
    <p:extLst>
      <p:ext uri="{BB962C8B-B14F-4D97-AF65-F5344CB8AC3E}">
        <p14:creationId xmlns:p14="http://schemas.microsoft.com/office/powerpoint/2010/main" val="376982119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78181957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8611" y="1040054"/>
            <a:ext cx="8382000" cy="666385"/>
          </a:xfrm>
        </p:spPr>
        <p:txBody>
          <a:bodyPr/>
          <a:lstStyle/>
          <a:p>
            <a:r>
              <a:rPr lang="en-US" dirty="0"/>
              <a:t>Click to edit Master title style</a:t>
            </a:r>
          </a:p>
        </p:txBody>
      </p:sp>
      <p:sp>
        <p:nvSpPr>
          <p:cNvPr id="5" name="Text Placeholder 4"/>
          <p:cNvSpPr>
            <a:spLocks noGrp="1"/>
          </p:cNvSpPr>
          <p:nvPr>
            <p:ph type="body" sz="quarter" idx="10"/>
          </p:nvPr>
        </p:nvSpPr>
        <p:spPr>
          <a:xfrm>
            <a:off x="338611" y="1823247"/>
            <a:ext cx="8382000" cy="19735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1557888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bwMode="auto">
          <a:xfrm>
            <a:off x="-9032" y="0"/>
            <a:ext cx="9144000" cy="762000"/>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77" tIns="34289" rIns="68577" bIns="34289" numCol="1" rtlCol="0" anchor="ctr" anchorCtr="0" compatLnSpc="1">
            <a:prstTxWarp prst="textNoShape">
              <a:avLst/>
            </a:prstTxWarp>
          </a:bodyPr>
          <a:lstStyle/>
          <a:p>
            <a:pPr algn="ctr" defTabSz="685574" fontAlgn="base">
              <a:spcBef>
                <a:spcPct val="0"/>
              </a:spcBef>
              <a:spcAft>
                <a:spcPct val="0"/>
              </a:spcAft>
            </a:pPr>
            <a:endParaRPr lang="en-US" sz="1650" spc="-113" dirty="0">
              <a:gradFill>
                <a:gsLst>
                  <a:gs pos="0">
                    <a:srgbClr val="FFFFFF"/>
                  </a:gs>
                  <a:gs pos="100000">
                    <a:srgbClr val="FFFFFF"/>
                  </a:gs>
                </a:gsLst>
                <a:lin ang="5400000" scaled="0"/>
              </a:gradFill>
              <a:latin typeface="Segoe Light" pitchFamily="34" charset="0"/>
            </a:endParaRPr>
          </a:p>
        </p:txBody>
      </p:sp>
      <p:sp>
        <p:nvSpPr>
          <p:cNvPr id="2" name="Title Placeholder 1"/>
          <p:cNvSpPr>
            <a:spLocks noGrp="1"/>
          </p:cNvSpPr>
          <p:nvPr>
            <p:ph type="title"/>
          </p:nvPr>
        </p:nvSpPr>
        <p:spPr>
          <a:xfrm>
            <a:off x="381000" y="990600"/>
            <a:ext cx="8363938" cy="457048"/>
          </a:xfrm>
          <a:prstGeom prst="rect">
            <a:avLst/>
          </a:prstGeom>
        </p:spPr>
        <p:txBody>
          <a:bodyPr vert="horz" wrap="square" lIns="0" tIns="0" rIns="0" bIns="0" rtlCol="0" anchor="t">
            <a:spAutoFit/>
          </a:bodyPr>
          <a:lstStyle/>
          <a:p>
            <a:r>
              <a:rPr lang="en-US" dirty="0"/>
              <a:t>Thank You Sponsors!</a:t>
            </a:r>
          </a:p>
        </p:txBody>
      </p:sp>
      <p:sp>
        <p:nvSpPr>
          <p:cNvPr id="3" name="Text Placeholder 2"/>
          <p:cNvSpPr>
            <a:spLocks noGrp="1"/>
          </p:cNvSpPr>
          <p:nvPr>
            <p:ph type="body" idx="1"/>
          </p:nvPr>
        </p:nvSpPr>
        <p:spPr>
          <a:xfrm>
            <a:off x="381001" y="2800052"/>
            <a:ext cx="8363937" cy="150041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5715000" y="165558"/>
            <a:ext cx="3339503" cy="323165"/>
          </a:xfrm>
          <a:prstGeom prst="rect">
            <a:avLst/>
          </a:prstGeom>
          <a:noFill/>
        </p:spPr>
        <p:txBody>
          <a:bodyPr wrap="square" lIns="0" tIns="0" rIns="0" bIns="0" rtlCol="0">
            <a:spAutoFit/>
          </a:bodyPr>
          <a:lstStyle/>
          <a:p>
            <a:pPr algn="r"/>
            <a:r>
              <a:rPr lang="en-US" sz="2100" spc="-113" dirty="0">
                <a:solidFill>
                  <a:schemeClr val="bg1"/>
                </a:solidFill>
                <a:latin typeface="Segoe Light" pitchFamily="34" charset="0"/>
              </a:rPr>
              <a:t>@CASPUG   #SPSCLT19</a:t>
            </a:r>
          </a:p>
        </p:txBody>
      </p:sp>
      <p:pic>
        <p:nvPicPr>
          <p:cNvPr id="9" name="Picture 8"/>
          <p:cNvPicPr>
            <a:picLocks noChangeAspect="1"/>
          </p:cNvPicPr>
          <p:nvPr userDrawn="1"/>
        </p:nvPicPr>
        <p:blipFill>
          <a:blip r:embed="rId7"/>
          <a:stretch>
            <a:fillRect/>
          </a:stretch>
        </p:blipFill>
        <p:spPr>
          <a:xfrm>
            <a:off x="57150" y="86734"/>
            <a:ext cx="1595887" cy="588532"/>
          </a:xfrm>
          <a:prstGeom prst="rect">
            <a:avLst/>
          </a:prstGeom>
        </p:spPr>
      </p:pic>
    </p:spTree>
    <p:extLst>
      <p:ext uri="{BB962C8B-B14F-4D97-AF65-F5344CB8AC3E}">
        <p14:creationId xmlns:p14="http://schemas.microsoft.com/office/powerpoint/2010/main" val="3070897232"/>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7" r:id="rId4"/>
    <p:sldLayoutId id="2147483778" r:id="rId5"/>
  </p:sldLayoutIdLst>
  <p:transition spd="slow">
    <p:push/>
  </p:transition>
  <p:hf hdr="0" ftr="0" dt="0"/>
  <p:txStyles>
    <p:titleStyle>
      <a:lvl1pPr algn="l" defTabSz="685772" rtl="0" eaLnBrk="1" latinLnBrk="0" hangingPunct="1">
        <a:lnSpc>
          <a:spcPct val="90000"/>
        </a:lnSpc>
        <a:spcBef>
          <a:spcPct val="0"/>
        </a:spcBef>
        <a:buNone/>
        <a:defRPr lang="en-US" sz="3300" b="0" kern="1200" cap="none" spc="-113" baseline="0" dirty="0" smtClean="0">
          <a:ln w="3175">
            <a:noFill/>
          </a:ln>
          <a:gradFill flip="none" rotWithShape="1">
            <a:gsLst>
              <a:gs pos="0">
                <a:schemeClr val="tx2"/>
              </a:gs>
              <a:gs pos="86000">
                <a:schemeClr val="tx2"/>
              </a:gs>
            </a:gsLst>
            <a:lin ang="5400000" scaled="0"/>
            <a:tileRect/>
          </a:gradFill>
          <a:effectLst/>
          <a:latin typeface="Segoe Light" pitchFamily="34" charset="0"/>
          <a:ea typeface="+mn-ea"/>
          <a:cs typeface="Arial" charset="0"/>
        </a:defRPr>
      </a:lvl1pPr>
    </p:titleStyle>
    <p:bodyStyle>
      <a:lvl1pPr marL="260747" indent="-260747" algn="l" defTabSz="685772" rtl="0" eaLnBrk="1" latinLnBrk="0" hangingPunct="1">
        <a:lnSpc>
          <a:spcPct val="90000"/>
        </a:lnSpc>
        <a:spcBef>
          <a:spcPct val="20000"/>
        </a:spcBef>
        <a:buClr>
          <a:schemeClr val="accent1"/>
        </a:buClr>
        <a:buSzPct val="100000"/>
        <a:buFont typeface="Wingdings" pitchFamily="2" charset="2"/>
        <a:buChar char="§"/>
        <a:defRPr sz="2400" kern="1200" spc="-113">
          <a:solidFill>
            <a:srgbClr val="000000"/>
          </a:solidFill>
          <a:latin typeface="Segoe Light" pitchFamily="34" charset="0"/>
          <a:ea typeface="+mn-ea"/>
          <a:cs typeface="+mn-cs"/>
        </a:defRPr>
      </a:lvl1pPr>
      <a:lvl2pPr marL="558404" indent="-213122" algn="l" defTabSz="685772" rtl="0" eaLnBrk="1" latinLnBrk="0" hangingPunct="1">
        <a:lnSpc>
          <a:spcPct val="90000"/>
        </a:lnSpc>
        <a:spcBef>
          <a:spcPct val="20000"/>
        </a:spcBef>
        <a:buClr>
          <a:schemeClr val="tx2"/>
        </a:buClr>
        <a:buSzPct val="100000"/>
        <a:buFont typeface="Wingdings" pitchFamily="2" charset="2"/>
        <a:buChar char="§"/>
        <a:defRPr sz="2100" kern="1200" spc="-113">
          <a:solidFill>
            <a:srgbClr val="000000"/>
          </a:solidFill>
          <a:latin typeface="Segoe Light" pitchFamily="34" charset="0"/>
          <a:ea typeface="+mn-ea"/>
          <a:cs typeface="+mn-cs"/>
        </a:defRPr>
      </a:lvl2pPr>
      <a:lvl3pPr marL="857250" indent="-215504" algn="l" defTabSz="685772" rtl="0" eaLnBrk="1" latinLnBrk="0" hangingPunct="1">
        <a:lnSpc>
          <a:spcPct val="90000"/>
        </a:lnSpc>
        <a:spcBef>
          <a:spcPct val="20000"/>
        </a:spcBef>
        <a:buClr>
          <a:schemeClr val="tx2"/>
        </a:buClr>
        <a:buSzPct val="100000"/>
        <a:buFont typeface="Wingdings" pitchFamily="2" charset="2"/>
        <a:buChar char="§"/>
        <a:defRPr sz="1800" kern="1200" spc="-113">
          <a:solidFill>
            <a:srgbClr val="000000"/>
          </a:solidFill>
          <a:latin typeface="Segoe Light" pitchFamily="34" charset="0"/>
          <a:ea typeface="+mn-ea"/>
          <a:cs typeface="+mn-cs"/>
        </a:defRPr>
      </a:lvl3pPr>
      <a:lvl4pPr marL="1117997" indent="-173831" algn="l" defTabSz="685772" rtl="0" eaLnBrk="1" latinLnBrk="0" hangingPunct="1">
        <a:lnSpc>
          <a:spcPct val="90000"/>
        </a:lnSpc>
        <a:spcBef>
          <a:spcPct val="20000"/>
        </a:spcBef>
        <a:buClr>
          <a:schemeClr val="tx2"/>
        </a:buClr>
        <a:buSzPct val="100000"/>
        <a:buFont typeface="Wingdings" pitchFamily="2" charset="2"/>
        <a:buChar char="§"/>
        <a:defRPr sz="1500" kern="1200" spc="-113">
          <a:solidFill>
            <a:srgbClr val="000000"/>
          </a:solidFill>
          <a:latin typeface="Segoe Light" pitchFamily="34" charset="0"/>
          <a:ea typeface="+mn-ea"/>
          <a:cs typeface="+mn-cs"/>
        </a:defRPr>
      </a:lvl4pPr>
      <a:lvl5pPr marL="1371600" indent="-167879" algn="l" defTabSz="685772" rtl="0" eaLnBrk="1" latinLnBrk="0" hangingPunct="1">
        <a:lnSpc>
          <a:spcPct val="90000"/>
        </a:lnSpc>
        <a:spcBef>
          <a:spcPct val="20000"/>
        </a:spcBef>
        <a:buClr>
          <a:schemeClr val="tx2"/>
        </a:buClr>
        <a:buSzPct val="100000"/>
        <a:buFont typeface="Wingdings" pitchFamily="2" charset="2"/>
        <a:buChar char="§"/>
        <a:defRPr sz="1500" kern="1200" spc="-113">
          <a:solidFill>
            <a:srgbClr val="000000"/>
          </a:solidFill>
          <a:latin typeface="Segoe Light" pitchFamily="34" charset="0"/>
          <a:ea typeface="+mn-ea"/>
          <a:cs typeface="+mn-cs"/>
        </a:defRPr>
      </a:lvl5pPr>
      <a:lvl6pPr marL="188587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61"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47"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3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2" rtl="0" eaLnBrk="1" latinLnBrk="0" hangingPunct="1">
        <a:defRPr sz="1350" kern="1200">
          <a:solidFill>
            <a:schemeClr val="tx1"/>
          </a:solidFill>
          <a:latin typeface="+mn-lt"/>
          <a:ea typeface="+mn-ea"/>
          <a:cs typeface="+mn-cs"/>
        </a:defRPr>
      </a:lvl1pPr>
      <a:lvl2pPr marL="342887" algn="l" defTabSz="685772" rtl="0" eaLnBrk="1" latinLnBrk="0" hangingPunct="1">
        <a:defRPr sz="1350" kern="1200">
          <a:solidFill>
            <a:schemeClr val="tx1"/>
          </a:solidFill>
          <a:latin typeface="+mn-lt"/>
          <a:ea typeface="+mn-ea"/>
          <a:cs typeface="+mn-cs"/>
        </a:defRPr>
      </a:lvl2pPr>
      <a:lvl3pPr marL="685772" algn="l" defTabSz="685772" rtl="0" eaLnBrk="1" latinLnBrk="0" hangingPunct="1">
        <a:defRPr sz="1350" kern="1200">
          <a:solidFill>
            <a:schemeClr val="tx1"/>
          </a:solidFill>
          <a:latin typeface="+mn-lt"/>
          <a:ea typeface="+mn-ea"/>
          <a:cs typeface="+mn-cs"/>
        </a:defRPr>
      </a:lvl3pPr>
      <a:lvl4pPr marL="1028659" algn="l" defTabSz="685772" rtl="0" eaLnBrk="1" latinLnBrk="0" hangingPunct="1">
        <a:defRPr sz="1350" kern="1200">
          <a:solidFill>
            <a:schemeClr val="tx1"/>
          </a:solidFill>
          <a:latin typeface="+mn-lt"/>
          <a:ea typeface="+mn-ea"/>
          <a:cs typeface="+mn-cs"/>
        </a:defRPr>
      </a:lvl4pPr>
      <a:lvl5pPr marL="1371545" algn="l" defTabSz="685772" rtl="0" eaLnBrk="1" latinLnBrk="0" hangingPunct="1">
        <a:defRPr sz="1350" kern="1200">
          <a:solidFill>
            <a:schemeClr val="tx1"/>
          </a:solidFill>
          <a:latin typeface="+mn-lt"/>
          <a:ea typeface="+mn-ea"/>
          <a:cs typeface="+mn-cs"/>
        </a:defRPr>
      </a:lvl5pPr>
      <a:lvl6pPr marL="1714432" algn="l" defTabSz="685772" rtl="0" eaLnBrk="1" latinLnBrk="0" hangingPunct="1">
        <a:defRPr sz="1350" kern="1200">
          <a:solidFill>
            <a:schemeClr val="tx1"/>
          </a:solidFill>
          <a:latin typeface="+mn-lt"/>
          <a:ea typeface="+mn-ea"/>
          <a:cs typeface="+mn-cs"/>
        </a:defRPr>
      </a:lvl6pPr>
      <a:lvl7pPr marL="2057318" algn="l" defTabSz="685772" rtl="0" eaLnBrk="1" latinLnBrk="0" hangingPunct="1">
        <a:defRPr sz="1350" kern="1200">
          <a:solidFill>
            <a:schemeClr val="tx1"/>
          </a:solidFill>
          <a:latin typeface="+mn-lt"/>
          <a:ea typeface="+mn-ea"/>
          <a:cs typeface="+mn-cs"/>
        </a:defRPr>
      </a:lvl7pPr>
      <a:lvl8pPr marL="2400204" algn="l" defTabSz="685772" rtl="0" eaLnBrk="1" latinLnBrk="0" hangingPunct="1">
        <a:defRPr sz="1350" kern="1200">
          <a:solidFill>
            <a:schemeClr val="tx1"/>
          </a:solidFill>
          <a:latin typeface="+mn-lt"/>
          <a:ea typeface="+mn-ea"/>
          <a:cs typeface="+mn-cs"/>
        </a:defRPr>
      </a:lvl8pPr>
      <a:lvl9pPr marL="2743091" algn="l" defTabSz="685772"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8.jpe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png"/><Relationship Id="rId9" Type="http://schemas.openxmlformats.org/officeDocument/2006/relationships/image" Target="../media/image21.jpe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1.jp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hyperlink" Target="https://github.com/MyProjectExpert/ProjectServerTool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18.jpe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png"/><Relationship Id="rId9"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3" y="18422"/>
            <a:ext cx="9135417" cy="6839578"/>
          </a:xfrm>
          <a:prstGeom prst="rect">
            <a:avLst/>
          </a:prstGeom>
        </p:spPr>
      </p:pic>
      <p:sp>
        <p:nvSpPr>
          <p:cNvPr id="5" name="Rectangle 4"/>
          <p:cNvSpPr/>
          <p:nvPr/>
        </p:nvSpPr>
        <p:spPr>
          <a:xfrm>
            <a:off x="571500" y="742494"/>
            <a:ext cx="8286749" cy="646331"/>
          </a:xfrm>
          <a:prstGeom prst="rect">
            <a:avLst/>
          </a:prstGeom>
        </p:spPr>
        <p:txBody>
          <a:bodyPr wrap="square">
            <a:spAutoFit/>
          </a:bodyPr>
          <a:lstStyle/>
          <a:p>
            <a:pPr algn="ctr"/>
            <a:r>
              <a:rPr lang="en-US" sz="3600" dirty="0">
                <a:solidFill>
                  <a:schemeClr val="bg1"/>
                </a:solidFill>
              </a:rPr>
              <a:t>SharePoint 2019 Upgrade </a:t>
            </a:r>
          </a:p>
        </p:txBody>
      </p:sp>
      <p:sp>
        <p:nvSpPr>
          <p:cNvPr id="2" name="TextBox 1"/>
          <p:cNvSpPr txBox="1"/>
          <p:nvPr/>
        </p:nvSpPr>
        <p:spPr>
          <a:xfrm>
            <a:off x="264397" y="4781624"/>
            <a:ext cx="6248400" cy="1938992"/>
          </a:xfrm>
          <a:prstGeom prst="rect">
            <a:avLst/>
          </a:prstGeom>
          <a:noFill/>
        </p:spPr>
        <p:txBody>
          <a:bodyPr wrap="square" rtlCol="0">
            <a:spAutoFit/>
          </a:bodyPr>
          <a:lstStyle/>
          <a:p>
            <a:r>
              <a:rPr lang="en-US" sz="2000" dirty="0">
                <a:solidFill>
                  <a:schemeClr val="bg1"/>
                </a:solidFill>
              </a:rPr>
              <a:t>Michael Wharton</a:t>
            </a:r>
          </a:p>
          <a:p>
            <a:r>
              <a:rPr lang="en-US" sz="2000" dirty="0">
                <a:solidFill>
                  <a:schemeClr val="bg1"/>
                </a:solidFill>
              </a:rPr>
              <a:t>‘mwharton@whartoncomputer.com’</a:t>
            </a:r>
          </a:p>
          <a:p>
            <a:r>
              <a:rPr lang="en-US" sz="2000" dirty="0">
                <a:solidFill>
                  <a:schemeClr val="bg1"/>
                </a:solidFill>
              </a:rPr>
              <a:t>336-972-5741</a:t>
            </a:r>
          </a:p>
          <a:p>
            <a:r>
              <a:rPr lang="en-US" sz="2000" dirty="0">
                <a:solidFill>
                  <a:schemeClr val="bg1"/>
                </a:solidFill>
              </a:rPr>
              <a:t>web site: ‘www.WhartonComputer.com’</a:t>
            </a:r>
          </a:p>
          <a:p>
            <a:r>
              <a:rPr lang="en-US" sz="2000" dirty="0">
                <a:solidFill>
                  <a:schemeClr val="bg1"/>
                </a:solidFill>
              </a:rPr>
              <a:t>Blog: ‘www.MyProjectExpert’</a:t>
            </a:r>
          </a:p>
          <a:p>
            <a:r>
              <a:rPr lang="en-US" sz="2000" dirty="0">
                <a:solidFill>
                  <a:schemeClr val="bg1"/>
                </a:solidFill>
              </a:rPr>
              <a:t>Twitter: @</a:t>
            </a:r>
            <a:r>
              <a:rPr lang="en-US" sz="2000" dirty="0" err="1">
                <a:solidFill>
                  <a:schemeClr val="bg1"/>
                </a:solidFill>
              </a:rPr>
              <a:t>MyProjectExpert</a:t>
            </a:r>
            <a:endParaRPr lang="en-US" sz="2000" dirty="0">
              <a:solidFill>
                <a:schemeClr val="bg1"/>
              </a:solidFill>
            </a:endParaRPr>
          </a:p>
        </p:txBody>
      </p:sp>
    </p:spTree>
    <p:extLst>
      <p:ext uri="{BB962C8B-B14F-4D97-AF65-F5344CB8AC3E}">
        <p14:creationId xmlns:p14="http://schemas.microsoft.com/office/powerpoint/2010/main" val="3232817346"/>
      </p:ext>
    </p:extLst>
  </p:cSld>
  <p:clrMapOvr>
    <a:masterClrMapping/>
  </p:clrMapOvr>
  <mc:AlternateContent xmlns:mc="http://schemas.openxmlformats.org/markup-compatibility/2006" xmlns:p14="http://schemas.microsoft.com/office/powerpoint/2010/main">
    <mc:Choice Requires="p14">
      <p:transition spd="slow" p14:dur="1225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C9684E-9122-4C79-B082-13C8BD180004}"/>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385126" y="1891305"/>
            <a:ext cx="2456480" cy="685800"/>
          </a:xfrm>
          <a:prstGeom prst="rect">
            <a:avLst/>
          </a:prstGeom>
        </p:spPr>
      </p:pic>
      <p:pic>
        <p:nvPicPr>
          <p:cNvPr id="6" name="Picture 5">
            <a:extLst>
              <a:ext uri="{FF2B5EF4-FFF2-40B4-BE49-F238E27FC236}">
                <a16:creationId xmlns:a16="http://schemas.microsoft.com/office/drawing/2014/main" id="{9FC056FF-B50E-4C5D-8B34-D306512D1D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6127" y="5585220"/>
            <a:ext cx="2003961" cy="617220"/>
          </a:xfrm>
          <a:prstGeom prst="rect">
            <a:avLst/>
          </a:prstGeom>
        </p:spPr>
      </p:pic>
      <p:pic>
        <p:nvPicPr>
          <p:cNvPr id="7" name="Picture 6">
            <a:extLst>
              <a:ext uri="{FF2B5EF4-FFF2-40B4-BE49-F238E27FC236}">
                <a16:creationId xmlns:a16="http://schemas.microsoft.com/office/drawing/2014/main" id="{285DFC55-85B5-43F8-8342-497B206A6097}"/>
              </a:ext>
            </a:extLst>
          </p:cNvPr>
          <p:cNvPicPr>
            <a:picLocks noChangeAspect="1"/>
          </p:cNvPicPr>
          <p:nvPr/>
        </p:nvPicPr>
        <p:blipFill rotWithShape="1">
          <a:blip r:embed="rId5"/>
          <a:srcRect t="16946" b="14209"/>
          <a:stretch/>
        </p:blipFill>
        <p:spPr>
          <a:xfrm>
            <a:off x="7606585" y="3829924"/>
            <a:ext cx="697311" cy="480060"/>
          </a:xfrm>
          <a:prstGeom prst="rect">
            <a:avLst/>
          </a:prstGeom>
        </p:spPr>
      </p:pic>
      <p:pic>
        <p:nvPicPr>
          <p:cNvPr id="8" name="Picture 7">
            <a:extLst>
              <a:ext uri="{FF2B5EF4-FFF2-40B4-BE49-F238E27FC236}">
                <a16:creationId xmlns:a16="http://schemas.microsoft.com/office/drawing/2014/main" id="{E445EE9D-C3B3-48B9-AC66-32D1CA1B1B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85483" y="5874801"/>
            <a:ext cx="1670608" cy="480060"/>
          </a:xfrm>
          <a:prstGeom prst="rect">
            <a:avLst/>
          </a:prstGeom>
        </p:spPr>
      </p:pic>
      <p:pic>
        <p:nvPicPr>
          <p:cNvPr id="9" name="Picture 8">
            <a:extLst>
              <a:ext uri="{FF2B5EF4-FFF2-40B4-BE49-F238E27FC236}">
                <a16:creationId xmlns:a16="http://schemas.microsoft.com/office/drawing/2014/main" id="{BF32654F-F58C-4183-B8E4-F989CE209922}"/>
              </a:ext>
            </a:extLst>
          </p:cNvPr>
          <p:cNvPicPr>
            <a:picLocks noChangeAspect="1"/>
          </p:cNvPicPr>
          <p:nvPr/>
        </p:nvPicPr>
        <p:blipFill>
          <a:blip r:embed="rId7"/>
          <a:stretch>
            <a:fillRect/>
          </a:stretch>
        </p:blipFill>
        <p:spPr>
          <a:xfrm>
            <a:off x="298583" y="5773840"/>
            <a:ext cx="1815352" cy="685800"/>
          </a:xfrm>
          <a:prstGeom prst="rect">
            <a:avLst/>
          </a:prstGeom>
        </p:spPr>
      </p:pic>
      <p:pic>
        <p:nvPicPr>
          <p:cNvPr id="10" name="Picture 9">
            <a:extLst>
              <a:ext uri="{FF2B5EF4-FFF2-40B4-BE49-F238E27FC236}">
                <a16:creationId xmlns:a16="http://schemas.microsoft.com/office/drawing/2014/main" id="{5D8AEBF3-5F10-4478-8215-4FF3ED7AEE9C}"/>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148639" y="5153325"/>
            <a:ext cx="2115239" cy="685800"/>
          </a:xfrm>
          <a:prstGeom prst="rect">
            <a:avLst/>
          </a:prstGeom>
        </p:spPr>
      </p:pic>
      <p:pic>
        <p:nvPicPr>
          <p:cNvPr id="11" name="Picture 10">
            <a:extLst>
              <a:ext uri="{FF2B5EF4-FFF2-40B4-BE49-F238E27FC236}">
                <a16:creationId xmlns:a16="http://schemas.microsoft.com/office/drawing/2014/main" id="{BC131308-F6A4-44D6-ADBF-F29E663D408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8853" y="1787721"/>
            <a:ext cx="1775945" cy="891540"/>
          </a:xfrm>
          <a:prstGeom prst="rect">
            <a:avLst/>
          </a:prstGeom>
        </p:spPr>
      </p:pic>
      <p:sp>
        <p:nvSpPr>
          <p:cNvPr id="12" name="Rectangle 11">
            <a:extLst>
              <a:ext uri="{FF2B5EF4-FFF2-40B4-BE49-F238E27FC236}">
                <a16:creationId xmlns:a16="http://schemas.microsoft.com/office/drawing/2014/main" id="{C1B2F3C1-276E-4BB9-BBB6-56B9E6C91DA8}"/>
              </a:ext>
            </a:extLst>
          </p:cNvPr>
          <p:cNvSpPr/>
          <p:nvPr/>
        </p:nvSpPr>
        <p:spPr>
          <a:xfrm>
            <a:off x="231372" y="1723854"/>
            <a:ext cx="8763988" cy="1074235"/>
          </a:xfrm>
          <a:prstGeom prst="rect">
            <a:avLst/>
          </a:prstGeom>
          <a:noFill/>
          <a:ln w="76200">
            <a:solidFill>
              <a:srgbClr val="E5E4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1"/>
          </a:p>
        </p:txBody>
      </p:sp>
      <p:sp>
        <p:nvSpPr>
          <p:cNvPr id="13" name="TextBox 14">
            <a:extLst>
              <a:ext uri="{FF2B5EF4-FFF2-40B4-BE49-F238E27FC236}">
                <a16:creationId xmlns:a16="http://schemas.microsoft.com/office/drawing/2014/main" id="{EF47EBEB-45FB-4909-AC38-CF69131F72B0}"/>
              </a:ext>
            </a:extLst>
          </p:cNvPr>
          <p:cNvSpPr txBox="1"/>
          <p:nvPr/>
        </p:nvSpPr>
        <p:spPr>
          <a:xfrm>
            <a:off x="231372" y="2723822"/>
            <a:ext cx="8763988" cy="323165"/>
          </a:xfrm>
          <a:prstGeom prst="rect">
            <a:avLst/>
          </a:prstGeom>
          <a:solidFill>
            <a:srgbClr val="E5E4E2"/>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dirty="0">
                <a:latin typeface="Arial" charset="0"/>
                <a:ea typeface="Arial" charset="0"/>
                <a:cs typeface="Arial" charset="0"/>
              </a:rPr>
              <a:t>Platinum Sponsors</a:t>
            </a:r>
          </a:p>
        </p:txBody>
      </p:sp>
      <p:sp>
        <p:nvSpPr>
          <p:cNvPr id="14" name="Rectangle 13">
            <a:extLst>
              <a:ext uri="{FF2B5EF4-FFF2-40B4-BE49-F238E27FC236}">
                <a16:creationId xmlns:a16="http://schemas.microsoft.com/office/drawing/2014/main" id="{EF7DB5E1-0ECA-4F8C-8481-13A6206D2BDE}"/>
              </a:ext>
            </a:extLst>
          </p:cNvPr>
          <p:cNvSpPr/>
          <p:nvPr/>
        </p:nvSpPr>
        <p:spPr>
          <a:xfrm>
            <a:off x="231372" y="5117331"/>
            <a:ext cx="8763988" cy="1381598"/>
          </a:xfrm>
          <a:prstGeom prst="rect">
            <a:avLst/>
          </a:prstGeom>
          <a:noFill/>
          <a:ln w="762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1"/>
          </a:p>
        </p:txBody>
      </p:sp>
      <p:sp>
        <p:nvSpPr>
          <p:cNvPr id="15" name="TextBox 16">
            <a:extLst>
              <a:ext uri="{FF2B5EF4-FFF2-40B4-BE49-F238E27FC236}">
                <a16:creationId xmlns:a16="http://schemas.microsoft.com/office/drawing/2014/main" id="{36D583C1-0479-4E82-A023-49143D6A04BE}"/>
              </a:ext>
            </a:extLst>
          </p:cNvPr>
          <p:cNvSpPr txBox="1"/>
          <p:nvPr/>
        </p:nvSpPr>
        <p:spPr>
          <a:xfrm>
            <a:off x="298583" y="4873065"/>
            <a:ext cx="8608702" cy="300082"/>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350" b="1" dirty="0">
                <a:latin typeface="Arial" charset="0"/>
                <a:ea typeface="Arial" charset="0"/>
                <a:cs typeface="Arial" charset="0"/>
              </a:rPr>
              <a:t>Gold Sponsors</a:t>
            </a:r>
          </a:p>
        </p:txBody>
      </p:sp>
      <p:sp>
        <p:nvSpPr>
          <p:cNvPr id="16" name="Rectangle 15">
            <a:extLst>
              <a:ext uri="{FF2B5EF4-FFF2-40B4-BE49-F238E27FC236}">
                <a16:creationId xmlns:a16="http://schemas.microsoft.com/office/drawing/2014/main" id="{2F629B7D-E913-4C81-81B1-DCA7E9663439}"/>
              </a:ext>
            </a:extLst>
          </p:cNvPr>
          <p:cNvSpPr/>
          <p:nvPr/>
        </p:nvSpPr>
        <p:spPr>
          <a:xfrm>
            <a:off x="6871822" y="3535999"/>
            <a:ext cx="2123537" cy="1067912"/>
          </a:xfrm>
          <a:prstGeom prst="rect">
            <a:avLst/>
          </a:prstGeom>
          <a:noFill/>
          <a:ln w="571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1"/>
          </a:p>
        </p:txBody>
      </p:sp>
      <p:sp>
        <p:nvSpPr>
          <p:cNvPr id="17" name="TextBox 19">
            <a:extLst>
              <a:ext uri="{FF2B5EF4-FFF2-40B4-BE49-F238E27FC236}">
                <a16:creationId xmlns:a16="http://schemas.microsoft.com/office/drawing/2014/main" id="{37A47DF5-A3CB-49CD-AB15-A110E2CA3BA0}"/>
              </a:ext>
            </a:extLst>
          </p:cNvPr>
          <p:cNvSpPr txBox="1"/>
          <p:nvPr/>
        </p:nvSpPr>
        <p:spPr>
          <a:xfrm>
            <a:off x="7108411" y="3334878"/>
            <a:ext cx="1624754" cy="230832"/>
          </a:xfrm>
          <a:prstGeom prst="rect">
            <a:avLst/>
          </a:prstGeom>
          <a:solidFill>
            <a:schemeClr val="accent2">
              <a:lumMod val="60000"/>
              <a:lumOff val="40000"/>
            </a:schemeClr>
          </a:solidFill>
          <a:ln>
            <a:solidFill>
              <a:schemeClr val="accent2">
                <a:lumMod val="40000"/>
                <a:lumOff val="60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dirty="0">
                <a:latin typeface="Arial" charset="0"/>
                <a:ea typeface="Arial" charset="0"/>
                <a:cs typeface="Arial" charset="0"/>
              </a:rPr>
              <a:t>Speaker Dinner Sponsor</a:t>
            </a:r>
          </a:p>
        </p:txBody>
      </p:sp>
      <p:sp>
        <p:nvSpPr>
          <p:cNvPr id="18" name="Rectangle 17">
            <a:extLst>
              <a:ext uri="{FF2B5EF4-FFF2-40B4-BE49-F238E27FC236}">
                <a16:creationId xmlns:a16="http://schemas.microsoft.com/office/drawing/2014/main" id="{A81C0F61-C0E9-4DB5-B3B4-1473B255F0FE}"/>
              </a:ext>
            </a:extLst>
          </p:cNvPr>
          <p:cNvSpPr/>
          <p:nvPr/>
        </p:nvSpPr>
        <p:spPr>
          <a:xfrm>
            <a:off x="231372" y="3535999"/>
            <a:ext cx="2123537" cy="1067912"/>
          </a:xfrm>
          <a:prstGeom prst="rect">
            <a:avLst/>
          </a:prstGeom>
          <a:noFill/>
          <a:ln w="571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1"/>
          </a:p>
        </p:txBody>
      </p:sp>
      <p:sp>
        <p:nvSpPr>
          <p:cNvPr id="19" name="TextBox 21">
            <a:extLst>
              <a:ext uri="{FF2B5EF4-FFF2-40B4-BE49-F238E27FC236}">
                <a16:creationId xmlns:a16="http://schemas.microsoft.com/office/drawing/2014/main" id="{DCDB51BC-BA55-4CB4-8CFF-B1D9C0ED7FAC}"/>
              </a:ext>
            </a:extLst>
          </p:cNvPr>
          <p:cNvSpPr txBox="1"/>
          <p:nvPr/>
        </p:nvSpPr>
        <p:spPr>
          <a:xfrm>
            <a:off x="463879" y="3293807"/>
            <a:ext cx="1624754" cy="276999"/>
          </a:xfrm>
          <a:prstGeom prst="rect">
            <a:avLst/>
          </a:prstGeom>
          <a:solidFill>
            <a:schemeClr val="tx2">
              <a:lumMod val="20000"/>
              <a:lumOff val="80000"/>
            </a:schemeClr>
          </a:solidFill>
          <a:ln w="9525">
            <a:solidFill>
              <a:schemeClr val="tx2">
                <a:lumMod val="20000"/>
                <a:lumOff val="80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dirty="0">
                <a:latin typeface="Arial" charset="0"/>
                <a:ea typeface="Arial" charset="0"/>
                <a:cs typeface="Arial" charset="0"/>
              </a:rPr>
              <a:t>Silver Sponsors</a:t>
            </a:r>
          </a:p>
        </p:txBody>
      </p:sp>
      <p:pic>
        <p:nvPicPr>
          <p:cNvPr id="20" name="Picture 19">
            <a:extLst>
              <a:ext uri="{FF2B5EF4-FFF2-40B4-BE49-F238E27FC236}">
                <a16:creationId xmlns:a16="http://schemas.microsoft.com/office/drawing/2014/main" id="{C445DCC7-033C-8C43-8C67-AF8D007E64F4}"/>
              </a:ext>
            </a:extLst>
          </p:cNvPr>
          <p:cNvPicPr>
            <a:picLocks noChangeAspect="1"/>
          </p:cNvPicPr>
          <p:nvPr/>
        </p:nvPicPr>
        <p:blipFill>
          <a:blip r:embed="rId10"/>
          <a:stretch>
            <a:fillRect/>
          </a:stretch>
        </p:blipFill>
        <p:spPr>
          <a:xfrm>
            <a:off x="6519752" y="1815201"/>
            <a:ext cx="1797461" cy="891540"/>
          </a:xfrm>
          <a:prstGeom prst="rect">
            <a:avLst/>
          </a:prstGeom>
        </p:spPr>
      </p:pic>
      <p:pic>
        <p:nvPicPr>
          <p:cNvPr id="21" name="Picture 20">
            <a:extLst>
              <a:ext uri="{FF2B5EF4-FFF2-40B4-BE49-F238E27FC236}">
                <a16:creationId xmlns:a16="http://schemas.microsoft.com/office/drawing/2014/main" id="{BABFEC49-E4FE-DE46-996B-7F6ECFF886D5}"/>
              </a:ext>
            </a:extLst>
          </p:cNvPr>
          <p:cNvPicPr>
            <a:picLocks noChangeAspect="1"/>
          </p:cNvPicPr>
          <p:nvPr/>
        </p:nvPicPr>
        <p:blipFill>
          <a:blip r:embed="rId11"/>
          <a:stretch>
            <a:fillRect/>
          </a:stretch>
        </p:blipFill>
        <p:spPr>
          <a:xfrm>
            <a:off x="2113936" y="5550930"/>
            <a:ext cx="1382663" cy="685800"/>
          </a:xfrm>
          <a:prstGeom prst="rect">
            <a:avLst/>
          </a:prstGeom>
        </p:spPr>
      </p:pic>
      <p:pic>
        <p:nvPicPr>
          <p:cNvPr id="22" name="Picture 21">
            <a:extLst>
              <a:ext uri="{FF2B5EF4-FFF2-40B4-BE49-F238E27FC236}">
                <a16:creationId xmlns:a16="http://schemas.microsoft.com/office/drawing/2014/main" id="{19ABC9E8-3D6C-0443-9FD9-863FDA857F2A}"/>
              </a:ext>
            </a:extLst>
          </p:cNvPr>
          <p:cNvPicPr>
            <a:picLocks noChangeAspect="1"/>
          </p:cNvPicPr>
          <p:nvPr/>
        </p:nvPicPr>
        <p:blipFill>
          <a:blip r:embed="rId12"/>
          <a:stretch>
            <a:fillRect/>
          </a:stretch>
        </p:blipFill>
        <p:spPr>
          <a:xfrm>
            <a:off x="5562691" y="5550930"/>
            <a:ext cx="1371600" cy="685800"/>
          </a:xfrm>
          <a:prstGeom prst="rect">
            <a:avLst/>
          </a:prstGeom>
        </p:spPr>
      </p:pic>
      <p:pic>
        <p:nvPicPr>
          <p:cNvPr id="23" name="Picture 22">
            <a:extLst>
              <a:ext uri="{FF2B5EF4-FFF2-40B4-BE49-F238E27FC236}">
                <a16:creationId xmlns:a16="http://schemas.microsoft.com/office/drawing/2014/main" id="{BC13C251-C0DB-5944-8181-5EBB48492047}"/>
              </a:ext>
            </a:extLst>
          </p:cNvPr>
          <p:cNvPicPr>
            <a:picLocks noChangeAspect="1"/>
          </p:cNvPicPr>
          <p:nvPr/>
        </p:nvPicPr>
        <p:blipFill>
          <a:blip r:embed="rId13"/>
          <a:stretch>
            <a:fillRect/>
          </a:stretch>
        </p:blipFill>
        <p:spPr>
          <a:xfrm>
            <a:off x="6934291" y="5225200"/>
            <a:ext cx="1972994" cy="548640"/>
          </a:xfrm>
          <a:prstGeom prst="rect">
            <a:avLst/>
          </a:prstGeom>
        </p:spPr>
      </p:pic>
      <p:pic>
        <p:nvPicPr>
          <p:cNvPr id="24" name="Picture 23">
            <a:extLst>
              <a:ext uri="{FF2B5EF4-FFF2-40B4-BE49-F238E27FC236}">
                <a16:creationId xmlns:a16="http://schemas.microsoft.com/office/drawing/2014/main" id="{BE8AF2E2-18F4-6C48-A7E5-B64E9DD73EC1}"/>
              </a:ext>
            </a:extLst>
          </p:cNvPr>
          <p:cNvPicPr>
            <a:picLocks noChangeAspect="1"/>
          </p:cNvPicPr>
          <p:nvPr/>
        </p:nvPicPr>
        <p:blipFill>
          <a:blip r:embed="rId14"/>
          <a:stretch>
            <a:fillRect/>
          </a:stretch>
        </p:blipFill>
        <p:spPr>
          <a:xfrm>
            <a:off x="726198" y="3829924"/>
            <a:ext cx="960120" cy="480060"/>
          </a:xfrm>
          <a:prstGeom prst="rect">
            <a:avLst/>
          </a:prstGeom>
        </p:spPr>
      </p:pic>
      <p:sp>
        <p:nvSpPr>
          <p:cNvPr id="25" name="TextBox 1">
            <a:extLst>
              <a:ext uri="{FF2B5EF4-FFF2-40B4-BE49-F238E27FC236}">
                <a16:creationId xmlns:a16="http://schemas.microsoft.com/office/drawing/2014/main" id="{A8981021-73FE-D74B-9B0A-591AB0AF865B}"/>
              </a:ext>
            </a:extLst>
          </p:cNvPr>
          <p:cNvSpPr txBox="1"/>
          <p:nvPr/>
        </p:nvSpPr>
        <p:spPr>
          <a:xfrm>
            <a:off x="2469212" y="3481995"/>
            <a:ext cx="4304383" cy="120032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latin typeface="Impact" panose="020B0806030902050204" pitchFamily="34" charset="0"/>
              </a:rPr>
              <a:t>To all of our sponsors,</a:t>
            </a:r>
          </a:p>
          <a:p>
            <a:pPr algn="ctr"/>
            <a:r>
              <a:rPr lang="en-US" sz="3600" dirty="0">
                <a:latin typeface="Impact" panose="020B0806030902050204" pitchFamily="34" charset="0"/>
              </a:rPr>
              <a:t>Thank you!</a:t>
            </a:r>
          </a:p>
        </p:txBody>
      </p:sp>
      <p:sp>
        <p:nvSpPr>
          <p:cNvPr id="30" name="Title 29">
            <a:extLst>
              <a:ext uri="{FF2B5EF4-FFF2-40B4-BE49-F238E27FC236}">
                <a16:creationId xmlns:a16="http://schemas.microsoft.com/office/drawing/2014/main" id="{6FB1CF6B-9D6E-44E8-93C7-29934CC83CEF}"/>
              </a:ext>
            </a:extLst>
          </p:cNvPr>
          <p:cNvSpPr>
            <a:spLocks noGrp="1"/>
          </p:cNvSpPr>
          <p:nvPr>
            <p:ph type="title"/>
          </p:nvPr>
        </p:nvSpPr>
        <p:spPr/>
        <p:txBody>
          <a:bodyPr/>
          <a:lstStyle/>
          <a:p>
            <a:r>
              <a:rPr lang="en-US" dirty="0"/>
              <a:t>Thank You Sponsors</a:t>
            </a:r>
          </a:p>
        </p:txBody>
      </p:sp>
    </p:spTree>
    <p:extLst>
      <p:ext uri="{BB962C8B-B14F-4D97-AF65-F5344CB8AC3E}">
        <p14:creationId xmlns:p14="http://schemas.microsoft.com/office/powerpoint/2010/main" val="50989601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bwMode="auto">
          <a:xfrm>
            <a:off x="0" y="1245732"/>
            <a:ext cx="9143999" cy="663873"/>
          </a:xfrm>
          <a:prstGeom prst="rect">
            <a:avLst/>
          </a:prstGeom>
          <a:solidFill>
            <a:srgbClr val="7FA0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t" anchorCtr="0" forceAA="0" compatLnSpc="1">
            <a:prstTxWarp prst="textNoShape">
              <a:avLst/>
            </a:prstTxWarp>
            <a:noAutofit/>
          </a:bodyPr>
          <a:lstStyle/>
          <a:p>
            <a:pPr algn="l" defTabSz="685450" fontAlgn="base">
              <a:lnSpc>
                <a:spcPct val="80000"/>
              </a:lnSpc>
              <a:spcBef>
                <a:spcPct val="0"/>
              </a:spcBef>
              <a:spcAft>
                <a:spcPct val="0"/>
              </a:spcAft>
            </a:pPr>
            <a:r>
              <a:rPr lang="en-US" sz="2400" spc="-75" dirty="0">
                <a:solidFill>
                  <a:srgbClr val="000000"/>
                </a:solidFill>
                <a:ea typeface="Segoe UI" pitchFamily="34" charset="0"/>
                <a:cs typeface="Segoe UI" pitchFamily="34" charset="0"/>
              </a:rPr>
              <a:t>30+ EPM </a:t>
            </a:r>
            <a:r>
              <a:rPr lang="en-US" sz="1471" spc="-75" dirty="0">
                <a:solidFill>
                  <a:srgbClr val="000000"/>
                </a:solidFill>
                <a:ea typeface="Segoe UI" pitchFamily="34" charset="0"/>
                <a:cs typeface="Segoe UI" pitchFamily="34" charset="0"/>
              </a:rPr>
              <a:t>Deployments       </a:t>
            </a:r>
            <a:r>
              <a:rPr lang="en-US" sz="2400" spc="-75" dirty="0">
                <a:solidFill>
                  <a:srgbClr val="000000"/>
                </a:solidFill>
                <a:ea typeface="Segoe UI" pitchFamily="34" charset="0"/>
                <a:cs typeface="Segoe UI" pitchFamily="34" charset="0"/>
              </a:rPr>
              <a:t>20+ SharePoint </a:t>
            </a:r>
            <a:r>
              <a:rPr lang="en-US" sz="1471" spc="-75" dirty="0">
                <a:solidFill>
                  <a:srgbClr val="000000"/>
                </a:solidFill>
                <a:ea typeface="Segoe UI" pitchFamily="34" charset="0"/>
                <a:cs typeface="Segoe UI" pitchFamily="34" charset="0"/>
              </a:rPr>
              <a:t>Migrations            </a:t>
            </a:r>
            <a:r>
              <a:rPr lang="en-US" sz="1765" spc="-75" dirty="0">
                <a:solidFill>
                  <a:srgbClr val="000000"/>
                </a:solidFill>
                <a:ea typeface="Segoe UI" pitchFamily="34" charset="0"/>
                <a:cs typeface="Segoe UI" pitchFamily="34" charset="0"/>
              </a:rPr>
              <a:t>1000+ Trained </a:t>
            </a:r>
            <a:r>
              <a:rPr lang="en-US" sz="1324" spc="-75" dirty="0">
                <a:solidFill>
                  <a:srgbClr val="000000"/>
                </a:solidFill>
                <a:ea typeface="Segoe UI" pitchFamily="34" charset="0"/>
                <a:cs typeface="Segoe UI" pitchFamily="34" charset="0"/>
              </a:rPr>
              <a:t>Project Manager</a:t>
            </a:r>
          </a:p>
          <a:p>
            <a:pPr defTabSz="685450" fontAlgn="base">
              <a:lnSpc>
                <a:spcPct val="80000"/>
              </a:lnSpc>
              <a:spcBef>
                <a:spcPct val="0"/>
              </a:spcBef>
              <a:spcAft>
                <a:spcPct val="0"/>
              </a:spcAft>
            </a:pPr>
            <a:endParaRPr lang="en-US" sz="1029" spc="-75" dirty="0">
              <a:solidFill>
                <a:srgbClr val="000000"/>
              </a:solidFill>
              <a:ea typeface="Segoe UI" pitchFamily="34" charset="0"/>
              <a:cs typeface="Segoe UI" pitchFamily="34" charset="0"/>
            </a:endParaRPr>
          </a:p>
        </p:txBody>
      </p:sp>
      <p:pic>
        <p:nvPicPr>
          <p:cNvPr id="2" name="Picture 1"/>
          <p:cNvPicPr>
            <a:picLocks noChangeAspect="1"/>
          </p:cNvPicPr>
          <p:nvPr/>
        </p:nvPicPr>
        <p:blipFill>
          <a:blip r:embed="rId3"/>
          <a:stretch>
            <a:fillRect/>
          </a:stretch>
        </p:blipFill>
        <p:spPr>
          <a:xfrm rot="20989717">
            <a:off x="155394" y="4479382"/>
            <a:ext cx="3000832" cy="2174255"/>
          </a:xfrm>
          <a:prstGeom prst="rect">
            <a:avLst/>
          </a:prstGeom>
        </p:spPr>
      </p:pic>
      <p:sp>
        <p:nvSpPr>
          <p:cNvPr id="41" name="Rectangle 40"/>
          <p:cNvSpPr/>
          <p:nvPr/>
        </p:nvSpPr>
        <p:spPr bwMode="auto">
          <a:xfrm rot="5400000">
            <a:off x="1906469" y="4805808"/>
            <a:ext cx="392478" cy="3812735"/>
          </a:xfrm>
          <a:prstGeom prst="rect">
            <a:avLst/>
          </a:prstGeom>
          <a:solidFill>
            <a:srgbClr val="59701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endParaRPr lang="en-US" sz="1500" spc="-75" dirty="0">
              <a:solidFill>
                <a:schemeClr val="tx1"/>
              </a:solidFill>
              <a:ea typeface="Segoe UI" pitchFamily="34" charset="0"/>
              <a:cs typeface="Segoe UI" pitchFamily="34" charset="0"/>
            </a:endParaRPr>
          </a:p>
        </p:txBody>
      </p:sp>
      <p:sp>
        <p:nvSpPr>
          <p:cNvPr id="12" name="Rectangle 11"/>
          <p:cNvSpPr/>
          <p:nvPr/>
        </p:nvSpPr>
        <p:spPr bwMode="auto">
          <a:xfrm>
            <a:off x="6038764" y="4577201"/>
            <a:ext cx="1662330" cy="1372766"/>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Comic Books</a:t>
            </a:r>
          </a:p>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Hardware</a:t>
            </a:r>
          </a:p>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Hacking</a:t>
            </a:r>
          </a:p>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Robots</a:t>
            </a:r>
            <a:br>
              <a:rPr lang="en-US" sz="1765" spc="-75" dirty="0">
                <a:solidFill>
                  <a:schemeClr val="bg1"/>
                </a:solidFill>
                <a:ea typeface="Segoe UI" pitchFamily="34" charset="0"/>
                <a:cs typeface="Segoe UI" pitchFamily="34" charset="0"/>
              </a:rPr>
            </a:br>
            <a:r>
              <a:rPr lang="en-US" sz="1765" spc="-75" dirty="0">
                <a:solidFill>
                  <a:schemeClr val="bg1"/>
                </a:solidFill>
                <a:ea typeface="Segoe UI" pitchFamily="34" charset="0"/>
                <a:cs typeface="Segoe UI" pitchFamily="34" charset="0"/>
              </a:rPr>
              <a:t>Walking</a:t>
            </a:r>
          </a:p>
        </p:txBody>
      </p:sp>
      <p:sp>
        <p:nvSpPr>
          <p:cNvPr id="13" name="Rectangle 12"/>
          <p:cNvSpPr/>
          <p:nvPr/>
        </p:nvSpPr>
        <p:spPr bwMode="auto">
          <a:xfrm>
            <a:off x="7609902" y="4414600"/>
            <a:ext cx="1534097" cy="151640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ctr" anchorCtr="0" forceAA="0" compatLnSpc="1">
            <a:prstTxWarp prst="textNoShape">
              <a:avLst/>
            </a:prstTxWarp>
            <a:noAutofit/>
          </a:bodyPr>
          <a:lstStyle/>
          <a:p>
            <a:pPr algn="l"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Wharton Computer Consulting  since 1997</a:t>
            </a:r>
          </a:p>
        </p:txBody>
      </p:sp>
      <p:sp>
        <p:nvSpPr>
          <p:cNvPr id="14" name="Rectangle 13"/>
          <p:cNvSpPr/>
          <p:nvPr/>
        </p:nvSpPr>
        <p:spPr bwMode="auto">
          <a:xfrm>
            <a:off x="5350899" y="2975671"/>
            <a:ext cx="3817689" cy="1620550"/>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560" tIns="68560" rIns="68560" bIns="68560" numCol="1" spcCol="0" rtlCol="0" fromWordArt="0" anchor="ctr" anchorCtr="0" forceAA="0" compatLnSpc="1">
            <a:prstTxWarp prst="textNoShape">
              <a:avLst/>
            </a:prstTxWarp>
            <a:noAutofit/>
          </a:bodyPr>
          <a:lstStyle/>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Technical Reviewer</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Missing Manual: Project 2010 and Project 2013</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Project Management using MS Project 2013</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Forecast Scheduling 2013</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Forecast Scheduling 2018</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Forecast Program</a:t>
            </a:r>
          </a:p>
          <a:p>
            <a:pPr algn="r" defTabSz="685450" fontAlgn="base">
              <a:lnSpc>
                <a:spcPct val="80000"/>
              </a:lnSpc>
              <a:spcBef>
                <a:spcPct val="0"/>
              </a:spcBef>
              <a:spcAft>
                <a:spcPct val="0"/>
              </a:spcAft>
            </a:pPr>
            <a:endParaRPr lang="en-US" sz="1400" spc="-75" dirty="0">
              <a:solidFill>
                <a:schemeClr val="bg1"/>
              </a:solidFill>
              <a:ea typeface="Segoe UI" pitchFamily="34" charset="0"/>
              <a:cs typeface="Segoe UI" pitchFamily="34" charset="0"/>
            </a:endParaRPr>
          </a:p>
        </p:txBody>
      </p:sp>
      <p:sp>
        <p:nvSpPr>
          <p:cNvPr id="26" name="Rectangle 25"/>
          <p:cNvSpPr/>
          <p:nvPr/>
        </p:nvSpPr>
        <p:spPr bwMode="auto">
          <a:xfrm>
            <a:off x="3575244" y="1864253"/>
            <a:ext cx="1775655" cy="2731968"/>
          </a:xfrm>
          <a:prstGeom prst="rect">
            <a:avLst/>
          </a:prstGeom>
          <a:solidFill>
            <a:srgbClr val="59701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r>
              <a:rPr lang="en-US" sz="1500" spc="-75" dirty="0">
                <a:solidFill>
                  <a:schemeClr val="bg1"/>
                </a:solidFill>
                <a:ea typeface="Segoe UI" pitchFamily="34" charset="0"/>
                <a:cs typeface="Segoe UI" pitchFamily="34" charset="0"/>
              </a:rPr>
              <a:t>PMO Automations and Monitoring</a:t>
            </a: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r>
              <a:rPr lang="en-US" sz="1500" spc="-75" dirty="0">
                <a:solidFill>
                  <a:schemeClr val="bg1"/>
                </a:solidFill>
                <a:ea typeface="Segoe UI" pitchFamily="34" charset="0"/>
                <a:cs typeface="Segoe UI" pitchFamily="34" charset="0"/>
              </a:rPr>
              <a:t>Fundamentals of Scheduling</a:t>
            </a: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p:txBody>
      </p:sp>
      <p:grpSp>
        <p:nvGrpSpPr>
          <p:cNvPr id="33" name="Group 32"/>
          <p:cNvGrpSpPr/>
          <p:nvPr/>
        </p:nvGrpSpPr>
        <p:grpSpPr bwMode="black">
          <a:xfrm>
            <a:off x="4154579" y="3507030"/>
            <a:ext cx="588202" cy="1070171"/>
            <a:chOff x="3360738" y="989012"/>
            <a:chExt cx="746125" cy="1439864"/>
          </a:xfrm>
        </p:grpSpPr>
        <p:sp>
          <p:nvSpPr>
            <p:cNvPr id="34" name="Freeform 36"/>
            <p:cNvSpPr>
              <a:spLocks/>
            </p:cNvSpPr>
            <p:nvPr/>
          </p:nvSpPr>
          <p:spPr bwMode="black">
            <a:xfrm>
              <a:off x="3360738" y="1255713"/>
              <a:ext cx="525463" cy="1173163"/>
            </a:xfrm>
            <a:custGeom>
              <a:avLst/>
              <a:gdLst>
                <a:gd name="T0" fmla="*/ 252 w 562"/>
                <a:gd name="T1" fmla="*/ 272 h 1256"/>
                <a:gd name="T2" fmla="*/ 234 w 562"/>
                <a:gd name="T3" fmla="*/ 192 h 1256"/>
                <a:gd name="T4" fmla="*/ 407 w 562"/>
                <a:gd name="T5" fmla="*/ 20 h 1256"/>
                <a:gd name="T6" fmla="*/ 534 w 562"/>
                <a:gd name="T7" fmla="*/ 76 h 1256"/>
                <a:gd name="T8" fmla="*/ 562 w 562"/>
                <a:gd name="T9" fmla="*/ 51 h 1256"/>
                <a:gd name="T10" fmla="*/ 443 w 562"/>
                <a:gd name="T11" fmla="*/ 0 h 1256"/>
                <a:gd name="T12" fmla="*/ 164 w 562"/>
                <a:gd name="T13" fmla="*/ 0 h 1256"/>
                <a:gd name="T14" fmla="*/ 0 w 562"/>
                <a:gd name="T15" fmla="*/ 163 h 1256"/>
                <a:gd name="T16" fmla="*/ 0 w 562"/>
                <a:gd name="T17" fmla="*/ 556 h 1256"/>
                <a:gd name="T18" fmla="*/ 55 w 562"/>
                <a:gd name="T19" fmla="*/ 612 h 1256"/>
                <a:gd name="T20" fmla="*/ 110 w 562"/>
                <a:gd name="T21" fmla="*/ 556 h 1256"/>
                <a:gd name="T22" fmla="*/ 110 w 562"/>
                <a:gd name="T23" fmla="*/ 201 h 1256"/>
                <a:gd name="T24" fmla="*/ 139 w 562"/>
                <a:gd name="T25" fmla="*/ 201 h 1256"/>
                <a:gd name="T26" fmla="*/ 139 w 562"/>
                <a:gd name="T27" fmla="*/ 1182 h 1256"/>
                <a:gd name="T28" fmla="*/ 214 w 562"/>
                <a:gd name="T29" fmla="*/ 1256 h 1256"/>
                <a:gd name="T30" fmla="*/ 288 w 562"/>
                <a:gd name="T31" fmla="*/ 1182 h 1256"/>
                <a:gd name="T32" fmla="*/ 288 w 562"/>
                <a:gd name="T33" fmla="*/ 615 h 1256"/>
                <a:gd name="T34" fmla="*/ 317 w 562"/>
                <a:gd name="T35" fmla="*/ 615 h 1256"/>
                <a:gd name="T36" fmla="*/ 317 w 562"/>
                <a:gd name="T37" fmla="*/ 1182 h 1256"/>
                <a:gd name="T38" fmla="*/ 392 w 562"/>
                <a:gd name="T39" fmla="*/ 1256 h 1256"/>
                <a:gd name="T40" fmla="*/ 467 w 562"/>
                <a:gd name="T41" fmla="*/ 1182 h 1256"/>
                <a:gd name="T42" fmla="*/ 467 w 562"/>
                <a:gd name="T43" fmla="*/ 516 h 1256"/>
                <a:gd name="T44" fmla="*/ 252 w 562"/>
                <a:gd name="T45" fmla="*/ 272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2" h="1256">
                  <a:moveTo>
                    <a:pt x="252" y="272"/>
                  </a:moveTo>
                  <a:cubicBezTo>
                    <a:pt x="248" y="262"/>
                    <a:pt x="234" y="225"/>
                    <a:pt x="234" y="192"/>
                  </a:cubicBezTo>
                  <a:cubicBezTo>
                    <a:pt x="234" y="97"/>
                    <a:pt x="312" y="20"/>
                    <a:pt x="407" y="20"/>
                  </a:cubicBezTo>
                  <a:cubicBezTo>
                    <a:pt x="456" y="20"/>
                    <a:pt x="501" y="41"/>
                    <a:pt x="534" y="76"/>
                  </a:cubicBezTo>
                  <a:cubicBezTo>
                    <a:pt x="542" y="66"/>
                    <a:pt x="551" y="58"/>
                    <a:pt x="562" y="51"/>
                  </a:cubicBezTo>
                  <a:cubicBezTo>
                    <a:pt x="532" y="20"/>
                    <a:pt x="490" y="0"/>
                    <a:pt x="443" y="0"/>
                  </a:cubicBezTo>
                  <a:cubicBezTo>
                    <a:pt x="164" y="0"/>
                    <a:pt x="164" y="0"/>
                    <a:pt x="164" y="0"/>
                  </a:cubicBezTo>
                  <a:cubicBezTo>
                    <a:pt x="73" y="0"/>
                    <a:pt x="0" y="73"/>
                    <a:pt x="0" y="163"/>
                  </a:cubicBezTo>
                  <a:cubicBezTo>
                    <a:pt x="0" y="556"/>
                    <a:pt x="0" y="556"/>
                    <a:pt x="0" y="556"/>
                  </a:cubicBezTo>
                  <a:cubicBezTo>
                    <a:pt x="0" y="587"/>
                    <a:pt x="25" y="612"/>
                    <a:pt x="55" y="612"/>
                  </a:cubicBezTo>
                  <a:cubicBezTo>
                    <a:pt x="86" y="612"/>
                    <a:pt x="110" y="587"/>
                    <a:pt x="110" y="556"/>
                  </a:cubicBezTo>
                  <a:cubicBezTo>
                    <a:pt x="110" y="201"/>
                    <a:pt x="110" y="201"/>
                    <a:pt x="110" y="201"/>
                  </a:cubicBezTo>
                  <a:cubicBezTo>
                    <a:pt x="139" y="201"/>
                    <a:pt x="139" y="201"/>
                    <a:pt x="139" y="201"/>
                  </a:cubicBezTo>
                  <a:cubicBezTo>
                    <a:pt x="139" y="1182"/>
                    <a:pt x="139" y="1182"/>
                    <a:pt x="139" y="1182"/>
                  </a:cubicBezTo>
                  <a:cubicBezTo>
                    <a:pt x="139" y="1223"/>
                    <a:pt x="173" y="1256"/>
                    <a:pt x="214" y="1256"/>
                  </a:cubicBezTo>
                  <a:cubicBezTo>
                    <a:pt x="255" y="1256"/>
                    <a:pt x="288" y="1223"/>
                    <a:pt x="288" y="1182"/>
                  </a:cubicBezTo>
                  <a:cubicBezTo>
                    <a:pt x="288" y="615"/>
                    <a:pt x="288" y="615"/>
                    <a:pt x="288" y="615"/>
                  </a:cubicBezTo>
                  <a:cubicBezTo>
                    <a:pt x="317" y="615"/>
                    <a:pt x="317" y="615"/>
                    <a:pt x="317" y="615"/>
                  </a:cubicBezTo>
                  <a:cubicBezTo>
                    <a:pt x="317" y="1182"/>
                    <a:pt x="317" y="1182"/>
                    <a:pt x="317" y="1182"/>
                  </a:cubicBezTo>
                  <a:cubicBezTo>
                    <a:pt x="317" y="1223"/>
                    <a:pt x="351" y="1256"/>
                    <a:pt x="392" y="1256"/>
                  </a:cubicBezTo>
                  <a:cubicBezTo>
                    <a:pt x="433" y="1256"/>
                    <a:pt x="467" y="1223"/>
                    <a:pt x="467" y="1182"/>
                  </a:cubicBezTo>
                  <a:cubicBezTo>
                    <a:pt x="467" y="516"/>
                    <a:pt x="467" y="516"/>
                    <a:pt x="467" y="516"/>
                  </a:cubicBezTo>
                  <a:cubicBezTo>
                    <a:pt x="398" y="459"/>
                    <a:pt x="284" y="354"/>
                    <a:pt x="252" y="2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sp>
          <p:nvSpPr>
            <p:cNvPr id="35" name="Freeform 37"/>
            <p:cNvSpPr>
              <a:spLocks/>
            </p:cNvSpPr>
            <p:nvPr/>
          </p:nvSpPr>
          <p:spPr bwMode="black">
            <a:xfrm>
              <a:off x="3824288" y="1733550"/>
              <a:ext cx="103188" cy="93663"/>
            </a:xfrm>
            <a:custGeom>
              <a:avLst/>
              <a:gdLst>
                <a:gd name="T0" fmla="*/ 58 w 110"/>
                <a:gd name="T1" fmla="*/ 43 h 101"/>
                <a:gd name="T2" fmla="*/ 38 w 110"/>
                <a:gd name="T3" fmla="*/ 59 h 101"/>
                <a:gd name="T4" fmla="*/ 17 w 110"/>
                <a:gd name="T5" fmla="*/ 43 h 101"/>
                <a:gd name="T6" fmla="*/ 0 w 110"/>
                <a:gd name="T7" fmla="*/ 29 h 101"/>
                <a:gd name="T8" fmla="*/ 0 w 110"/>
                <a:gd name="T9" fmla="*/ 45 h 101"/>
                <a:gd name="T10" fmla="*/ 56 w 110"/>
                <a:gd name="T11" fmla="*/ 101 h 101"/>
                <a:gd name="T12" fmla="*/ 110 w 110"/>
                <a:gd name="T13" fmla="*/ 45 h 101"/>
                <a:gd name="T14" fmla="*/ 110 w 110"/>
                <a:gd name="T15" fmla="*/ 0 h 101"/>
                <a:gd name="T16" fmla="*/ 58 w 110"/>
                <a:gd name="T17" fmla="*/ 4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01">
                  <a:moveTo>
                    <a:pt x="58" y="43"/>
                  </a:moveTo>
                  <a:cubicBezTo>
                    <a:pt x="38" y="59"/>
                    <a:pt x="38" y="59"/>
                    <a:pt x="38" y="59"/>
                  </a:cubicBezTo>
                  <a:cubicBezTo>
                    <a:pt x="17" y="43"/>
                    <a:pt x="17" y="43"/>
                    <a:pt x="17" y="43"/>
                  </a:cubicBezTo>
                  <a:cubicBezTo>
                    <a:pt x="13" y="40"/>
                    <a:pt x="7" y="35"/>
                    <a:pt x="0" y="29"/>
                  </a:cubicBezTo>
                  <a:cubicBezTo>
                    <a:pt x="0" y="45"/>
                    <a:pt x="0" y="45"/>
                    <a:pt x="0" y="45"/>
                  </a:cubicBezTo>
                  <a:cubicBezTo>
                    <a:pt x="0" y="76"/>
                    <a:pt x="25" y="101"/>
                    <a:pt x="56" y="101"/>
                  </a:cubicBezTo>
                  <a:cubicBezTo>
                    <a:pt x="85" y="101"/>
                    <a:pt x="110" y="76"/>
                    <a:pt x="110" y="45"/>
                  </a:cubicBezTo>
                  <a:cubicBezTo>
                    <a:pt x="110" y="0"/>
                    <a:pt x="110" y="0"/>
                    <a:pt x="110" y="0"/>
                  </a:cubicBezTo>
                  <a:cubicBezTo>
                    <a:pt x="86" y="20"/>
                    <a:pt x="67" y="35"/>
                    <a:pt x="58" y="4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sp>
          <p:nvSpPr>
            <p:cNvPr id="36" name="Oval 38"/>
            <p:cNvSpPr>
              <a:spLocks noChangeArrowheads="1"/>
            </p:cNvSpPr>
            <p:nvPr/>
          </p:nvSpPr>
          <p:spPr bwMode="black">
            <a:xfrm>
              <a:off x="3525838" y="989012"/>
              <a:ext cx="234950" cy="2381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sp>
          <p:nvSpPr>
            <p:cNvPr id="37" name="Freeform 39"/>
            <p:cNvSpPr>
              <a:spLocks/>
            </p:cNvSpPr>
            <p:nvPr/>
          </p:nvSpPr>
          <p:spPr bwMode="black">
            <a:xfrm>
              <a:off x="3606800" y="1304925"/>
              <a:ext cx="500063" cy="444500"/>
            </a:xfrm>
            <a:custGeom>
              <a:avLst/>
              <a:gdLst>
                <a:gd name="T0" fmla="*/ 267 w 535"/>
                <a:gd name="T1" fmla="*/ 476 h 477"/>
                <a:gd name="T2" fmla="*/ 15 w 535"/>
                <a:gd name="T3" fmla="*/ 208 h 477"/>
                <a:gd name="T4" fmla="*/ 0 w 535"/>
                <a:gd name="T5" fmla="*/ 140 h 477"/>
                <a:gd name="T6" fmla="*/ 141 w 535"/>
                <a:gd name="T7" fmla="*/ 0 h 477"/>
                <a:gd name="T8" fmla="*/ 268 w 535"/>
                <a:gd name="T9" fmla="*/ 80 h 477"/>
                <a:gd name="T10" fmla="*/ 394 w 535"/>
                <a:gd name="T11" fmla="*/ 0 h 477"/>
                <a:gd name="T12" fmla="*/ 535 w 535"/>
                <a:gd name="T13" fmla="*/ 140 h 477"/>
                <a:gd name="T14" fmla="*/ 520 w 535"/>
                <a:gd name="T15" fmla="*/ 208 h 477"/>
                <a:gd name="T16" fmla="*/ 269 w 535"/>
                <a:gd name="T17" fmla="*/ 476 h 477"/>
                <a:gd name="T18" fmla="*/ 268 w 535"/>
                <a:gd name="T19" fmla="*/ 477 h 477"/>
                <a:gd name="T20" fmla="*/ 267 w 535"/>
                <a:gd name="T21" fmla="*/ 476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5" h="477">
                  <a:moveTo>
                    <a:pt x="267" y="476"/>
                  </a:moveTo>
                  <a:cubicBezTo>
                    <a:pt x="247" y="461"/>
                    <a:pt x="55" y="310"/>
                    <a:pt x="15" y="208"/>
                  </a:cubicBezTo>
                  <a:cubicBezTo>
                    <a:pt x="8" y="189"/>
                    <a:pt x="0" y="162"/>
                    <a:pt x="0" y="140"/>
                  </a:cubicBezTo>
                  <a:cubicBezTo>
                    <a:pt x="0" y="63"/>
                    <a:pt x="63" y="0"/>
                    <a:pt x="141" y="0"/>
                  </a:cubicBezTo>
                  <a:cubicBezTo>
                    <a:pt x="197" y="0"/>
                    <a:pt x="245" y="33"/>
                    <a:pt x="268" y="80"/>
                  </a:cubicBezTo>
                  <a:cubicBezTo>
                    <a:pt x="290" y="33"/>
                    <a:pt x="339" y="0"/>
                    <a:pt x="394" y="0"/>
                  </a:cubicBezTo>
                  <a:cubicBezTo>
                    <a:pt x="472" y="0"/>
                    <a:pt x="535" y="63"/>
                    <a:pt x="535" y="140"/>
                  </a:cubicBezTo>
                  <a:cubicBezTo>
                    <a:pt x="535" y="162"/>
                    <a:pt x="527" y="189"/>
                    <a:pt x="520" y="208"/>
                  </a:cubicBezTo>
                  <a:cubicBezTo>
                    <a:pt x="480" y="310"/>
                    <a:pt x="288" y="461"/>
                    <a:pt x="269" y="476"/>
                  </a:cubicBezTo>
                  <a:cubicBezTo>
                    <a:pt x="268" y="477"/>
                    <a:pt x="268" y="477"/>
                    <a:pt x="268" y="477"/>
                  </a:cubicBezTo>
                  <a:lnTo>
                    <a:pt x="267" y="47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grpSp>
      <p:sp>
        <p:nvSpPr>
          <p:cNvPr id="10" name="Rectangle 9"/>
          <p:cNvSpPr/>
          <p:nvPr/>
        </p:nvSpPr>
        <p:spPr>
          <a:xfrm>
            <a:off x="223503" y="6488948"/>
            <a:ext cx="3425060" cy="415498"/>
          </a:xfrm>
          <a:prstGeom prst="rect">
            <a:avLst/>
          </a:prstGeom>
        </p:spPr>
        <p:txBody>
          <a:bodyPr wrap="square">
            <a:spAutoFit/>
          </a:bodyPr>
          <a:lstStyle/>
          <a:p>
            <a:r>
              <a:rPr lang="en-US" sz="2100" spc="-75" dirty="0">
                <a:solidFill>
                  <a:schemeClr val="bg1"/>
                </a:solidFill>
                <a:ea typeface="Segoe UI" pitchFamily="34" charset="0"/>
                <a:cs typeface="Segoe UI" pitchFamily="34" charset="0"/>
              </a:rPr>
              <a:t>MyProjectExpert.com</a:t>
            </a:r>
            <a:endParaRPr lang="da-DK" sz="2100" dirty="0">
              <a:solidFill>
                <a:schemeClr val="bg1"/>
              </a:solidFill>
            </a:endParaRPr>
          </a:p>
        </p:txBody>
      </p:sp>
      <p:sp>
        <p:nvSpPr>
          <p:cNvPr id="24" name="Rectangle 23"/>
          <p:cNvSpPr/>
          <p:nvPr/>
        </p:nvSpPr>
        <p:spPr bwMode="auto">
          <a:xfrm>
            <a:off x="-13005" y="702993"/>
            <a:ext cx="9157005" cy="541064"/>
          </a:xfrm>
          <a:prstGeom prst="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r>
              <a:rPr lang="en-US" sz="3000" spc="-75" dirty="0">
                <a:solidFill>
                  <a:schemeClr val="bg1"/>
                </a:solidFill>
                <a:ea typeface="Segoe UI" pitchFamily="34" charset="0"/>
                <a:cs typeface="Segoe UI" pitchFamily="34" charset="0"/>
              </a:rPr>
              <a:t>About: Michael Wharton (SharePoint/PMO Consultant)</a:t>
            </a:r>
          </a:p>
        </p:txBody>
      </p:sp>
      <p:sp>
        <p:nvSpPr>
          <p:cNvPr id="40" name="Rectangle 39"/>
          <p:cNvSpPr/>
          <p:nvPr/>
        </p:nvSpPr>
        <p:spPr bwMode="auto">
          <a:xfrm>
            <a:off x="3612348" y="4449365"/>
            <a:ext cx="387675" cy="2375536"/>
          </a:xfrm>
          <a:prstGeom prst="rect">
            <a:avLst/>
          </a:prstGeom>
          <a:solidFill>
            <a:srgbClr val="59701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endParaRPr lang="en-US" sz="1500" spc="-75" dirty="0">
              <a:solidFill>
                <a:schemeClr val="tx1"/>
              </a:solidFill>
              <a:ea typeface="Segoe UI" pitchFamily="34" charset="0"/>
              <a:cs typeface="Segoe UI" pitchFamily="34" charset="0"/>
            </a:endParaRPr>
          </a:p>
        </p:txBody>
      </p:sp>
      <p:sp>
        <p:nvSpPr>
          <p:cNvPr id="17" name="Rectangle 16"/>
          <p:cNvSpPr/>
          <p:nvPr/>
        </p:nvSpPr>
        <p:spPr bwMode="auto">
          <a:xfrm>
            <a:off x="5350901" y="1909603"/>
            <a:ext cx="3817690" cy="1066067"/>
          </a:xfrm>
          <a:prstGeom prst="rect">
            <a:avLst/>
          </a:prstGeom>
          <a:solidFill>
            <a:srgbClr val="CC9B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560" tIns="68560" rIns="68560" bIns="68560" numCol="1" spcCol="0" rtlCol="0" fromWordArt="0" anchor="ctr" anchorCtr="0" forceAA="0" compatLnSpc="1">
            <a:prstTxWarp prst="textNoShape">
              <a:avLst/>
            </a:prstTxWarp>
            <a:noAutofit/>
          </a:bodyPr>
          <a:lstStyle/>
          <a:p>
            <a:pPr algn="r" defTabSz="685450" fontAlgn="base">
              <a:lnSpc>
                <a:spcPct val="80000"/>
              </a:lnSpc>
              <a:spcBef>
                <a:spcPct val="0"/>
              </a:spcBef>
              <a:spcAft>
                <a:spcPct val="0"/>
              </a:spcAft>
            </a:pPr>
            <a:r>
              <a:rPr lang="en-US" sz="2647" spc="-75" dirty="0">
                <a:solidFill>
                  <a:srgbClr val="000000"/>
                </a:solidFill>
                <a:ea typeface="Segoe UI" pitchFamily="34" charset="0"/>
                <a:cs typeface="Segoe UI" pitchFamily="34" charset="0"/>
              </a:rPr>
              <a:t>Microsoft</a:t>
            </a:r>
          </a:p>
          <a:p>
            <a:pPr algn="r" defTabSz="685450" fontAlgn="base">
              <a:lnSpc>
                <a:spcPct val="80000"/>
              </a:lnSpc>
              <a:spcBef>
                <a:spcPct val="0"/>
              </a:spcBef>
              <a:spcAft>
                <a:spcPct val="0"/>
              </a:spcAft>
            </a:pPr>
            <a:r>
              <a:rPr lang="en-US" sz="1765" spc="-75" dirty="0">
                <a:solidFill>
                  <a:srgbClr val="000000"/>
                </a:solidFill>
                <a:ea typeface="Segoe UI" pitchFamily="34" charset="0"/>
                <a:cs typeface="Segoe UI" pitchFamily="34" charset="0"/>
              </a:rPr>
              <a:t>MVP | MCT | MCTS  | MCP+44</a:t>
            </a:r>
          </a:p>
        </p:txBody>
      </p:sp>
      <p:pic>
        <p:nvPicPr>
          <p:cNvPr id="19" name="Picture 6" descr="Description: Description: Description: C:\Users\Rolly.Perreaux.PMOLOGISTICS\Documents\MVP\MVP_Logo_Kit\MVP Logo Kit\MVP_Horizontal_FullColo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5723" y="4580607"/>
            <a:ext cx="2154717" cy="87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CB410BB3-DEF4-417C-B346-92CAAB7633E2}"/>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1587" y="1909604"/>
            <a:ext cx="2268037" cy="2452091"/>
          </a:xfrm>
          <a:prstGeom prst="rect">
            <a:avLst/>
          </a:prstGeom>
        </p:spPr>
      </p:pic>
      <p:pic>
        <p:nvPicPr>
          <p:cNvPr id="27" name="Picture 26">
            <a:extLst>
              <a:ext uri="{FF2B5EF4-FFF2-40B4-BE49-F238E27FC236}">
                <a16:creationId xmlns:a16="http://schemas.microsoft.com/office/drawing/2014/main" id="{ED983C24-BE98-4657-9E29-FD50B5214F86}"/>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2279626" y="1902454"/>
            <a:ext cx="1295618" cy="2303321"/>
          </a:xfrm>
          <a:prstGeom prst="rect">
            <a:avLst/>
          </a:prstGeom>
        </p:spPr>
      </p:pic>
      <p:pic>
        <p:nvPicPr>
          <p:cNvPr id="28" name="Picture 27">
            <a:extLst>
              <a:ext uri="{FF2B5EF4-FFF2-40B4-BE49-F238E27FC236}">
                <a16:creationId xmlns:a16="http://schemas.microsoft.com/office/drawing/2014/main" id="{2A1D703D-5AB0-4219-BA73-9D658F9AEE1D}"/>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7584400" y="5749381"/>
            <a:ext cx="1593953" cy="1195465"/>
          </a:xfrm>
          <a:prstGeom prst="rect">
            <a:avLst/>
          </a:prstGeom>
        </p:spPr>
      </p:pic>
      <p:pic>
        <p:nvPicPr>
          <p:cNvPr id="29" name="Picture 1">
            <a:extLst>
              <a:ext uri="{FF2B5EF4-FFF2-40B4-BE49-F238E27FC236}">
                <a16:creationId xmlns:a16="http://schemas.microsoft.com/office/drawing/2014/main" id="{565E76CB-B306-467D-ABD0-30F24802756D}"/>
              </a:ext>
            </a:extLst>
          </p:cNvPr>
          <p:cNvPicPr>
            <a:picLocks noChangeAspect="1"/>
          </p:cNvPicPr>
          <p:nvPr/>
        </p:nvPicPr>
        <p:blipFill>
          <a:blip r:embed="rId8" cstate="screen">
            <a:extLst>
              <a:ext uri="{28A0092B-C50C-407E-A947-70E740481C1C}">
                <a14:useLocalDpi xmlns:a14="http://schemas.microsoft.com/office/drawing/2010/main" val="0"/>
              </a:ext>
            </a:extLst>
          </a:blip>
          <a:srcRect/>
          <a:stretch>
            <a:fillRect/>
          </a:stretch>
        </p:blipFill>
        <p:spPr bwMode="auto">
          <a:xfrm>
            <a:off x="6745626" y="6055424"/>
            <a:ext cx="589068" cy="724833"/>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3130193-6360-48A4-918C-44085A7AB355}"/>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4942559" y="6063661"/>
            <a:ext cx="630420" cy="826622"/>
          </a:xfrm>
          <a:prstGeom prst="rect">
            <a:avLst/>
          </a:prstGeom>
        </p:spPr>
      </p:pic>
      <p:pic>
        <p:nvPicPr>
          <p:cNvPr id="23" name="Picture 22">
            <a:extLst>
              <a:ext uri="{FF2B5EF4-FFF2-40B4-BE49-F238E27FC236}">
                <a16:creationId xmlns:a16="http://schemas.microsoft.com/office/drawing/2014/main" id="{7E29C33B-A408-4D6C-BC62-0CD002D846A3}"/>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5880026" y="6131457"/>
            <a:ext cx="615894" cy="800349"/>
          </a:xfrm>
          <a:prstGeom prst="rect">
            <a:avLst/>
          </a:prstGeom>
        </p:spPr>
      </p:pic>
      <p:pic>
        <p:nvPicPr>
          <p:cNvPr id="30" name="Picture 29"/>
          <p:cNvPicPr>
            <a:picLocks noChangeAspect="1"/>
          </p:cNvPicPr>
          <p:nvPr/>
        </p:nvPicPr>
        <p:blipFill>
          <a:blip r:embed="rId11" cstate="screen">
            <a:extLst>
              <a:ext uri="{28A0092B-C50C-407E-A947-70E740481C1C}">
                <a14:useLocalDpi xmlns:a14="http://schemas.microsoft.com/office/drawing/2010/main" val="0"/>
              </a:ext>
            </a:extLst>
          </a:blip>
          <a:stretch>
            <a:fillRect/>
          </a:stretch>
        </p:blipFill>
        <p:spPr>
          <a:xfrm>
            <a:off x="4097715" y="6092740"/>
            <a:ext cx="616236" cy="765260"/>
          </a:xfrm>
          <a:prstGeom prst="rect">
            <a:avLst/>
          </a:prstGeom>
        </p:spPr>
      </p:pic>
      <p:sp>
        <p:nvSpPr>
          <p:cNvPr id="31" name="Rectangle 30"/>
          <p:cNvSpPr/>
          <p:nvPr/>
        </p:nvSpPr>
        <p:spPr bwMode="auto">
          <a:xfrm>
            <a:off x="3905723" y="5385732"/>
            <a:ext cx="2154717" cy="62808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560" tIns="68560" rIns="68560" bIns="68560" numCol="1" spcCol="0" rtlCol="0" fromWordArt="0" anchor="ctr" anchorCtr="0" forceAA="0" compatLnSpc="1">
            <a:prstTxWarp prst="textNoShape">
              <a:avLst/>
            </a:prstTxWarp>
            <a:noAutofit/>
          </a:bodyPr>
          <a:lstStyle/>
          <a:p>
            <a:pPr algn="ctr" defTabSz="685450" fontAlgn="base">
              <a:lnSpc>
                <a:spcPct val="80000"/>
              </a:lnSpc>
              <a:spcBef>
                <a:spcPct val="0"/>
              </a:spcBef>
              <a:spcAft>
                <a:spcPct val="0"/>
              </a:spcAft>
            </a:pPr>
            <a:r>
              <a:rPr lang="en-US" sz="1600" spc="-75" dirty="0">
                <a:solidFill>
                  <a:schemeClr val="bg1"/>
                </a:solidFill>
                <a:ea typeface="Segoe UI" pitchFamily="34" charset="0"/>
                <a:cs typeface="Segoe UI" pitchFamily="34" charset="0"/>
              </a:rPr>
              <a:t>PowerShell </a:t>
            </a:r>
          </a:p>
          <a:p>
            <a:pPr algn="ctr" defTabSz="685450" fontAlgn="base">
              <a:lnSpc>
                <a:spcPct val="80000"/>
              </a:lnSpc>
              <a:spcBef>
                <a:spcPct val="0"/>
              </a:spcBef>
              <a:spcAft>
                <a:spcPct val="0"/>
              </a:spcAft>
            </a:pPr>
            <a:r>
              <a:rPr lang="en-US" sz="1600" spc="-75" dirty="0">
                <a:solidFill>
                  <a:schemeClr val="bg1"/>
                </a:solidFill>
                <a:ea typeface="Segoe UI" pitchFamily="34" charset="0"/>
                <a:cs typeface="Segoe UI" pitchFamily="34" charset="0"/>
              </a:rPr>
              <a:t>Field Notes</a:t>
            </a:r>
            <a:endParaRPr lang="en-US" sz="1100" spc="-75" dirty="0">
              <a:solidFill>
                <a:schemeClr val="bg1"/>
              </a:solidFill>
              <a:ea typeface="Segoe UI" pitchFamily="34" charset="0"/>
              <a:cs typeface="Segoe UI" pitchFamily="34" charset="0"/>
            </a:endParaRPr>
          </a:p>
        </p:txBody>
      </p:sp>
      <p:sp>
        <p:nvSpPr>
          <p:cNvPr id="5" name="Rectangle 4">
            <a:extLst>
              <a:ext uri="{FF2B5EF4-FFF2-40B4-BE49-F238E27FC236}">
                <a16:creationId xmlns:a16="http://schemas.microsoft.com/office/drawing/2014/main" id="{763C5ADC-FA2B-400D-83F7-ABC0CE9C5EE8}"/>
              </a:ext>
            </a:extLst>
          </p:cNvPr>
          <p:cNvSpPr/>
          <p:nvPr/>
        </p:nvSpPr>
        <p:spPr>
          <a:xfrm>
            <a:off x="3156045" y="4442465"/>
            <a:ext cx="965329" cy="923330"/>
          </a:xfrm>
          <a:prstGeom prst="rect">
            <a:avLst/>
          </a:prstGeom>
          <a:noFill/>
        </p:spPr>
        <p:txBody>
          <a:bodyPr wrap="non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rPr>
              <a:t>7x</a:t>
            </a:r>
          </a:p>
        </p:txBody>
      </p:sp>
    </p:spTree>
    <p:extLst>
      <p:ext uri="{BB962C8B-B14F-4D97-AF65-F5344CB8AC3E}">
        <p14:creationId xmlns:p14="http://schemas.microsoft.com/office/powerpoint/2010/main" val="934986437"/>
      </p:ext>
    </p:extLst>
  </p:cSld>
  <p:clrMapOvr>
    <a:masterClrMapping/>
  </p:clrMapOvr>
  <mc:AlternateContent xmlns:mc="http://schemas.openxmlformats.org/markup-compatibility/2006" xmlns:p14="http://schemas.microsoft.com/office/powerpoint/2010/main">
    <mc:Choice Requires="p14">
      <p:transition spd="slow" p14:dur="2000" advClick="0">
        <p:push/>
      </p:transition>
    </mc:Choice>
    <mc:Fallback xmlns="">
      <p:transition spd="slow" advClick="0">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anim calcmode="lin" valueType="num">
                                      <p:cBhvr>
                                        <p:cTn id="14" dur="1000" fill="hold"/>
                                        <p:tgtEl>
                                          <p:spTgt spid="26"/>
                                        </p:tgtEl>
                                        <p:attrNameLst>
                                          <p:attrName>ppt_x</p:attrName>
                                        </p:attrNameLst>
                                      </p:cBhvr>
                                      <p:tavLst>
                                        <p:tav tm="0">
                                          <p:val>
                                            <p:strVal val="#ppt_x"/>
                                          </p:val>
                                        </p:tav>
                                        <p:tav tm="100000">
                                          <p:val>
                                            <p:strVal val="#ppt_x"/>
                                          </p:val>
                                        </p:tav>
                                      </p:tavLst>
                                    </p:anim>
                                    <p:anim calcmode="lin" valueType="num">
                                      <p:cBhvr>
                                        <p:cTn id="15" dur="1000" fill="hold"/>
                                        <p:tgtEl>
                                          <p:spTgt spid="26"/>
                                        </p:tgtEl>
                                        <p:attrNameLst>
                                          <p:attrName>ppt_y</p:attrName>
                                        </p:attrNameLst>
                                      </p:cBhvr>
                                      <p:tavLst>
                                        <p:tav tm="0">
                                          <p:val>
                                            <p:strVal val="#ppt_y-.1"/>
                                          </p:val>
                                        </p:tav>
                                        <p:tav tm="100000">
                                          <p:val>
                                            <p:strVal val="#ppt_y"/>
                                          </p:val>
                                        </p:tav>
                                      </p:tavLst>
                                    </p:anim>
                                  </p:childTnLst>
                                </p:cTn>
                              </p:par>
                              <p:par>
                                <p:cTn id="16" presetID="47"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1000"/>
                                        <p:tgtEl>
                                          <p:spTgt spid="33"/>
                                        </p:tgtEl>
                                      </p:cBhvr>
                                    </p:animEffect>
                                    <p:anim calcmode="lin" valueType="num">
                                      <p:cBhvr>
                                        <p:cTn id="19" dur="1000" fill="hold"/>
                                        <p:tgtEl>
                                          <p:spTgt spid="33"/>
                                        </p:tgtEl>
                                        <p:attrNameLst>
                                          <p:attrName>ppt_x</p:attrName>
                                        </p:attrNameLst>
                                      </p:cBhvr>
                                      <p:tavLst>
                                        <p:tav tm="0">
                                          <p:val>
                                            <p:strVal val="#ppt_x"/>
                                          </p:val>
                                        </p:tav>
                                        <p:tav tm="100000">
                                          <p:val>
                                            <p:strVal val="#ppt_x"/>
                                          </p:val>
                                        </p:tav>
                                      </p:tavLst>
                                    </p:anim>
                                    <p:anim calcmode="lin" valueType="num">
                                      <p:cBhvr>
                                        <p:cTn id="20" dur="1000" fill="hold"/>
                                        <p:tgtEl>
                                          <p:spTgt spid="33"/>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 presetClass="entr" presetSubtype="2" fill="hold" grpId="0" nodeType="after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1+#ppt_w/2"/>
                                          </p:val>
                                        </p:tav>
                                        <p:tav tm="100000">
                                          <p:val>
                                            <p:strVal val="#ppt_x"/>
                                          </p:val>
                                        </p:tav>
                                      </p:tavLst>
                                    </p:anim>
                                    <p:anim calcmode="lin" valueType="num">
                                      <p:cBhvr additive="base">
                                        <p:cTn id="25" dur="500" fill="hold"/>
                                        <p:tgtEl>
                                          <p:spTgt spid="17"/>
                                        </p:tgtEl>
                                        <p:attrNameLst>
                                          <p:attrName>ppt_y</p:attrName>
                                        </p:attrNameLst>
                                      </p:cBhvr>
                                      <p:tavLst>
                                        <p:tav tm="0">
                                          <p:val>
                                            <p:strVal val="#ppt_y"/>
                                          </p:val>
                                        </p:tav>
                                        <p:tav tm="100000">
                                          <p:val>
                                            <p:strVal val="#ppt_y"/>
                                          </p:val>
                                        </p:tav>
                                      </p:tavLst>
                                    </p:anim>
                                  </p:childTnLst>
                                </p:cTn>
                              </p:par>
                            </p:childTnLst>
                          </p:cTn>
                        </p:par>
                        <p:par>
                          <p:cTn id="26" fill="hold">
                            <p:stCondLst>
                              <p:cond delay="2500"/>
                            </p:stCondLst>
                            <p:childTnLst>
                              <p:par>
                                <p:cTn id="27" presetID="2" presetClass="entr" presetSubtype="2"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1+#ppt_w/2"/>
                                          </p:val>
                                        </p:tav>
                                        <p:tav tm="100000">
                                          <p:val>
                                            <p:strVal val="#ppt_x"/>
                                          </p:val>
                                        </p:tav>
                                      </p:tavLst>
                                    </p:anim>
                                    <p:anim calcmode="lin" valueType="num">
                                      <p:cBhvr additive="base">
                                        <p:cTn id="30" dur="500" fill="hold"/>
                                        <p:tgtEl>
                                          <p:spTgt spid="14"/>
                                        </p:tgtEl>
                                        <p:attrNameLst>
                                          <p:attrName>ppt_y</p:attrName>
                                        </p:attrNameLst>
                                      </p:cBhvr>
                                      <p:tavLst>
                                        <p:tav tm="0">
                                          <p:val>
                                            <p:strVal val="#ppt_y"/>
                                          </p:val>
                                        </p:tav>
                                        <p:tav tm="100000">
                                          <p:val>
                                            <p:strVal val="#ppt_y"/>
                                          </p:val>
                                        </p:tav>
                                      </p:tavLst>
                                    </p:anim>
                                  </p:childTnLst>
                                </p:cTn>
                              </p:par>
                            </p:childTnLst>
                          </p:cTn>
                        </p:par>
                        <p:par>
                          <p:cTn id="31" fill="hold">
                            <p:stCondLst>
                              <p:cond delay="3000"/>
                            </p:stCondLst>
                            <p:childTnLst>
                              <p:par>
                                <p:cTn id="32" presetID="2" presetClass="entr" presetSubtype="4"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1+#ppt_h/2"/>
                                          </p:val>
                                        </p:tav>
                                        <p:tav tm="100000">
                                          <p:val>
                                            <p:strVal val="#ppt_y"/>
                                          </p:val>
                                        </p:tav>
                                      </p:tavLst>
                                    </p:anim>
                                  </p:childTnLst>
                                </p:cTn>
                              </p:par>
                            </p:childTnLst>
                          </p:cTn>
                        </p:par>
                        <p:par>
                          <p:cTn id="36" fill="hold">
                            <p:stCondLst>
                              <p:cond delay="3500"/>
                            </p:stCondLst>
                            <p:childTnLst>
                              <p:par>
                                <p:cTn id="37" presetID="2" presetClass="entr" presetSubtype="4"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childTnLst>
                          </p:cTn>
                        </p:par>
                        <p:par>
                          <p:cTn id="41" fill="hold">
                            <p:stCondLst>
                              <p:cond delay="4000"/>
                            </p:stCondLst>
                            <p:childTnLst>
                              <p:par>
                                <p:cTn id="42" presetID="47"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1000"/>
                                        <p:tgtEl>
                                          <p:spTgt spid="40"/>
                                        </p:tgtEl>
                                      </p:cBhvr>
                                    </p:animEffect>
                                    <p:anim calcmode="lin" valueType="num">
                                      <p:cBhvr>
                                        <p:cTn id="45" dur="1000" fill="hold"/>
                                        <p:tgtEl>
                                          <p:spTgt spid="40"/>
                                        </p:tgtEl>
                                        <p:attrNameLst>
                                          <p:attrName>ppt_x</p:attrName>
                                        </p:attrNameLst>
                                      </p:cBhvr>
                                      <p:tavLst>
                                        <p:tav tm="0">
                                          <p:val>
                                            <p:strVal val="#ppt_x"/>
                                          </p:val>
                                        </p:tav>
                                        <p:tav tm="100000">
                                          <p:val>
                                            <p:strVal val="#ppt_x"/>
                                          </p:val>
                                        </p:tav>
                                      </p:tavLst>
                                    </p:anim>
                                    <p:anim calcmode="lin" valueType="num">
                                      <p:cBhvr>
                                        <p:cTn id="46" dur="1000" fill="hold"/>
                                        <p:tgtEl>
                                          <p:spTgt spid="40"/>
                                        </p:tgtEl>
                                        <p:attrNameLst>
                                          <p:attrName>ppt_y</p:attrName>
                                        </p:attrNameLst>
                                      </p:cBhvr>
                                      <p:tavLst>
                                        <p:tav tm="0">
                                          <p:val>
                                            <p:strVal val="#ppt_y-.1"/>
                                          </p:val>
                                        </p:tav>
                                        <p:tav tm="100000">
                                          <p:val>
                                            <p:strVal val="#ppt_y"/>
                                          </p:val>
                                        </p:tav>
                                      </p:tavLst>
                                    </p:anim>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500"/>
                                        <p:tgtEl>
                                          <p:spTgt spid="4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childTnLst>
                          </p:cTn>
                        </p:par>
                        <p:par>
                          <p:cTn id="54" fill="hold">
                            <p:stCondLst>
                              <p:cond delay="5500"/>
                            </p:stCondLst>
                            <p:childTnLst>
                              <p:par>
                                <p:cTn id="55" presetID="2" presetClass="entr" presetSubtype="2" fill="hold" grpId="0" nodeType="after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1+#ppt_w/2"/>
                                          </p:val>
                                        </p:tav>
                                        <p:tav tm="100000">
                                          <p:val>
                                            <p:strVal val="#ppt_x"/>
                                          </p:val>
                                        </p:tav>
                                      </p:tavLst>
                                    </p:anim>
                                    <p:anim calcmode="lin" valueType="num">
                                      <p:cBhvr additive="base">
                                        <p:cTn id="58"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1" grpId="0" animBg="1"/>
      <p:bldP spid="12" grpId="0" animBg="1"/>
      <p:bldP spid="13" grpId="0" animBg="1"/>
      <p:bldP spid="14" grpId="0" animBg="1"/>
      <p:bldP spid="26" grpId="0" animBg="1"/>
      <p:bldP spid="10" grpId="0"/>
      <p:bldP spid="40" grpId="0" animBg="1"/>
      <p:bldP spid="17" grpId="0" animBg="1"/>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446738"/>
            <a:ext cx="8382000" cy="666385"/>
          </a:xfrm>
        </p:spPr>
        <p:txBody>
          <a:bodyPr/>
          <a:lstStyle/>
          <a:p>
            <a:r>
              <a:rPr lang="en-US" b="1" dirty="0"/>
              <a:t>Survey</a:t>
            </a:r>
          </a:p>
        </p:txBody>
      </p:sp>
      <p:sp>
        <p:nvSpPr>
          <p:cNvPr id="6" name="Text Placeholder 5">
            <a:extLst>
              <a:ext uri="{FF2B5EF4-FFF2-40B4-BE49-F238E27FC236}">
                <a16:creationId xmlns:a16="http://schemas.microsoft.com/office/drawing/2014/main" id="{66794C8B-6F52-489A-ABD6-381380B0E43D}"/>
              </a:ext>
            </a:extLst>
          </p:cNvPr>
          <p:cNvSpPr>
            <a:spLocks noGrp="1"/>
          </p:cNvSpPr>
          <p:nvPr>
            <p:ph type="body" sz="quarter" idx="10"/>
          </p:nvPr>
        </p:nvSpPr>
        <p:spPr>
          <a:xfrm>
            <a:off x="381000" y="2550458"/>
            <a:ext cx="8382000" cy="3482789"/>
          </a:xfrm>
        </p:spPr>
        <p:txBody>
          <a:bodyPr/>
          <a:lstStyle/>
          <a:p>
            <a:pPr marL="0" indent="0">
              <a:buNone/>
            </a:pPr>
            <a:r>
              <a:rPr lang="en-CA" sz="4400" dirty="0">
                <a:solidFill>
                  <a:schemeClr val="tx1"/>
                </a:solidFill>
              </a:rPr>
              <a:t>What is role?</a:t>
            </a:r>
          </a:p>
          <a:p>
            <a:r>
              <a:rPr lang="en-CA" sz="4400" dirty="0">
                <a:solidFill>
                  <a:schemeClr val="tx1"/>
                </a:solidFill>
              </a:rPr>
              <a:t>SharePoint Admin?</a:t>
            </a:r>
          </a:p>
          <a:p>
            <a:r>
              <a:rPr lang="en-CA" sz="4400" dirty="0">
                <a:solidFill>
                  <a:schemeClr val="tx1"/>
                </a:solidFill>
              </a:rPr>
              <a:t>IT Professionals</a:t>
            </a:r>
          </a:p>
          <a:p>
            <a:r>
              <a:rPr lang="en-CA" sz="4400" dirty="0">
                <a:solidFill>
                  <a:schemeClr val="tx1"/>
                </a:solidFill>
              </a:rPr>
              <a:t>Consultant / Consulting Firms</a:t>
            </a:r>
          </a:p>
          <a:p>
            <a:r>
              <a:rPr lang="en-CA" sz="4400" dirty="0">
                <a:solidFill>
                  <a:schemeClr val="tx1"/>
                </a:solidFill>
              </a:rPr>
              <a:t>Other</a:t>
            </a:r>
          </a:p>
          <a:p>
            <a:endParaRPr lang="en-US" sz="4400" dirty="0"/>
          </a:p>
        </p:txBody>
      </p:sp>
      <p:sp>
        <p:nvSpPr>
          <p:cNvPr id="4" name="Text Placeholder 2"/>
          <p:cNvSpPr txBox="1">
            <a:spLocks/>
          </p:cNvSpPr>
          <p:nvPr/>
        </p:nvSpPr>
        <p:spPr>
          <a:xfrm>
            <a:off x="381000" y="1009403"/>
            <a:ext cx="8382000" cy="5761577"/>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CA" sz="2400" dirty="0"/>
          </a:p>
        </p:txBody>
      </p:sp>
    </p:spTree>
    <p:extLst>
      <p:ext uri="{BB962C8B-B14F-4D97-AF65-F5344CB8AC3E}">
        <p14:creationId xmlns:p14="http://schemas.microsoft.com/office/powerpoint/2010/main" val="2775828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a:t>Agenda</a:t>
            </a:r>
          </a:p>
        </p:txBody>
      </p:sp>
      <p:sp>
        <p:nvSpPr>
          <p:cNvPr id="5" name="Text Placeholder 2"/>
          <p:cNvSpPr txBox="1">
            <a:spLocks/>
          </p:cNvSpPr>
          <p:nvPr/>
        </p:nvSpPr>
        <p:spPr>
          <a:xfrm>
            <a:off x="381000" y="1840686"/>
            <a:ext cx="8222450" cy="5017314"/>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000" dirty="0"/>
              <a:t>Envisioning </a:t>
            </a:r>
          </a:p>
          <a:p>
            <a:pPr lvl="1"/>
            <a:r>
              <a:rPr lang="en-CA" sz="1800" dirty="0"/>
              <a:t>Vision /  Requirements</a:t>
            </a:r>
          </a:p>
          <a:p>
            <a:pPr lvl="1"/>
            <a:r>
              <a:rPr lang="en-CA" sz="1600" dirty="0"/>
              <a:t>Cleaning up</a:t>
            </a:r>
          </a:p>
          <a:p>
            <a:pPr lvl="1"/>
            <a:r>
              <a:rPr lang="en-CA" sz="1600" dirty="0"/>
              <a:t>Be Familiar with new SharePoint 2019</a:t>
            </a:r>
          </a:p>
          <a:p>
            <a:r>
              <a:rPr lang="en-CA" sz="2000" dirty="0">
                <a:solidFill>
                  <a:schemeClr val="tx1"/>
                </a:solidFill>
              </a:rPr>
              <a:t>Planning</a:t>
            </a:r>
          </a:p>
          <a:p>
            <a:pPr lvl="1"/>
            <a:r>
              <a:rPr lang="en-CA" sz="1800" dirty="0"/>
              <a:t>Migration or Upgrade</a:t>
            </a:r>
          </a:p>
          <a:p>
            <a:pPr lvl="1"/>
            <a:r>
              <a:rPr lang="en-CA" sz="1800" dirty="0"/>
              <a:t>SharePoint / Project Server Architect</a:t>
            </a:r>
          </a:p>
          <a:p>
            <a:pPr lvl="1"/>
            <a:r>
              <a:rPr lang="en-CA" sz="1800" dirty="0"/>
              <a:t>Upgrade Path and Strategy</a:t>
            </a:r>
          </a:p>
          <a:p>
            <a:r>
              <a:rPr lang="en-CA" sz="2000" dirty="0"/>
              <a:t>Building</a:t>
            </a:r>
          </a:p>
          <a:p>
            <a:pPr lvl="1"/>
            <a:r>
              <a:rPr lang="en-CA" sz="1800" dirty="0"/>
              <a:t>SharePoint Installation / Upgrade Scripts</a:t>
            </a:r>
          </a:p>
          <a:p>
            <a:pPr lvl="1"/>
            <a:r>
              <a:rPr lang="en-CA" sz="1800" dirty="0"/>
              <a:t>Upgrade Discovery and Issues</a:t>
            </a:r>
          </a:p>
          <a:p>
            <a:r>
              <a:rPr lang="en-CA" sz="2000" dirty="0"/>
              <a:t>Stabilizing</a:t>
            </a:r>
          </a:p>
          <a:p>
            <a:pPr lvl="1"/>
            <a:r>
              <a:rPr lang="en-CA" sz="1800" dirty="0"/>
              <a:t>Finding and fixing SharePoint / Project Server Issues</a:t>
            </a:r>
          </a:p>
          <a:p>
            <a:r>
              <a:rPr lang="en-CA" sz="2000" dirty="0"/>
              <a:t>Deploying</a:t>
            </a:r>
          </a:p>
          <a:p>
            <a:pPr lvl="1"/>
            <a:r>
              <a:rPr lang="en-CA" sz="1800" dirty="0"/>
              <a:t>The final upgrade</a:t>
            </a:r>
          </a:p>
        </p:txBody>
      </p:sp>
    </p:spTree>
    <p:extLst>
      <p:ext uri="{BB962C8B-B14F-4D97-AF65-F5344CB8AC3E}">
        <p14:creationId xmlns:p14="http://schemas.microsoft.com/office/powerpoint/2010/main" val="3175489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4F11E1-04F2-4509-AD4D-2F3BE04B9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 y="33838"/>
            <a:ext cx="9144377" cy="6824162"/>
          </a:xfrm>
          <a:prstGeom prst="rect">
            <a:avLst/>
          </a:prstGeom>
        </p:spPr>
      </p:pic>
      <p:sp>
        <p:nvSpPr>
          <p:cNvPr id="3" name="Title 2">
            <a:extLst>
              <a:ext uri="{FF2B5EF4-FFF2-40B4-BE49-F238E27FC236}">
                <a16:creationId xmlns:a16="http://schemas.microsoft.com/office/drawing/2014/main" id="{DC1FF4F4-4620-4430-9A9F-8323AEEF9CEA}"/>
              </a:ext>
            </a:extLst>
          </p:cNvPr>
          <p:cNvSpPr>
            <a:spLocks noGrp="1"/>
          </p:cNvSpPr>
          <p:nvPr>
            <p:ph type="title"/>
          </p:nvPr>
        </p:nvSpPr>
        <p:spPr>
          <a:xfrm>
            <a:off x="280332" y="235591"/>
            <a:ext cx="8363938" cy="664797"/>
          </a:xfrm>
        </p:spPr>
        <p:txBody>
          <a:bodyPr/>
          <a:lstStyle/>
          <a:p>
            <a:r>
              <a:rPr lang="en-US" sz="4800" b="1" dirty="0">
                <a:solidFill>
                  <a:schemeClr val="accent1"/>
                </a:solidFill>
              </a:rPr>
              <a:t>Envisioning</a:t>
            </a:r>
          </a:p>
        </p:txBody>
      </p:sp>
    </p:spTree>
    <p:extLst>
      <p:ext uri="{BB962C8B-B14F-4D97-AF65-F5344CB8AC3E}">
        <p14:creationId xmlns:p14="http://schemas.microsoft.com/office/powerpoint/2010/main" val="80132477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SharePoint 2019 – New Features</a:t>
            </a:r>
          </a:p>
        </p:txBody>
      </p:sp>
      <p:sp>
        <p:nvSpPr>
          <p:cNvPr id="3" name="Text Placeholder 2">
            <a:extLst>
              <a:ext uri="{FF2B5EF4-FFF2-40B4-BE49-F238E27FC236}">
                <a16:creationId xmlns:a16="http://schemas.microsoft.com/office/drawing/2014/main" id="{D941C9A0-B7C5-45EE-A5A6-5D8A00B6BC41}"/>
              </a:ext>
            </a:extLst>
          </p:cNvPr>
          <p:cNvSpPr>
            <a:spLocks noGrp="1"/>
          </p:cNvSpPr>
          <p:nvPr>
            <p:ph type="body" sz="quarter" idx="10"/>
          </p:nvPr>
        </p:nvSpPr>
        <p:spPr>
          <a:xfrm>
            <a:off x="389437" y="1847473"/>
            <a:ext cx="8363938" cy="4395049"/>
          </a:xfrm>
        </p:spPr>
        <p:txBody>
          <a:bodyPr/>
          <a:lstStyle/>
          <a:p>
            <a:r>
              <a:rPr lang="en-US" dirty="0"/>
              <a:t>Team Site sync is now available</a:t>
            </a:r>
          </a:p>
          <a:p>
            <a:r>
              <a:rPr lang="en-US" dirty="0"/>
              <a:t>PDF Viewer built in</a:t>
            </a:r>
          </a:p>
          <a:p>
            <a:r>
              <a:rPr lang="en-US" dirty="0"/>
              <a:t>Recycle Bin restore improvements</a:t>
            </a:r>
          </a:p>
          <a:p>
            <a:r>
              <a:rPr lang="en-US" dirty="0"/>
              <a:t>Fast site correction</a:t>
            </a:r>
          </a:p>
          <a:p>
            <a:r>
              <a:rPr lang="en-US" dirty="0"/>
              <a:t>Creating Sites in different web apps</a:t>
            </a:r>
          </a:p>
          <a:p>
            <a:r>
              <a:rPr lang="en-US" dirty="0"/>
              <a:t>Communication Sites</a:t>
            </a:r>
          </a:p>
          <a:p>
            <a:r>
              <a:rPr lang="en-US" dirty="0"/>
              <a:t>SharePoint Home</a:t>
            </a:r>
          </a:p>
          <a:p>
            <a:r>
              <a:rPr lang="en-US" dirty="0"/>
              <a:t>Modern Teams</a:t>
            </a:r>
          </a:p>
          <a:p>
            <a:r>
              <a:rPr lang="en-US" dirty="0"/>
              <a:t>Modern Lists and Libraries</a:t>
            </a:r>
          </a:p>
          <a:p>
            <a:r>
              <a:rPr lang="en-US" dirty="0"/>
              <a:t>SharePoint 2019 ships from a SharePoint Online branch</a:t>
            </a:r>
          </a:p>
          <a:p>
            <a:r>
              <a:rPr lang="en-US" dirty="0"/>
              <a:t>Etc., etc., </a:t>
            </a:r>
            <a:r>
              <a:rPr lang="en-US" dirty="0" err="1"/>
              <a:t>etc</a:t>
            </a:r>
            <a:r>
              <a:rPr lang="en-US" dirty="0"/>
              <a:t>,. </a:t>
            </a:r>
          </a:p>
        </p:txBody>
      </p:sp>
      <p:sp>
        <p:nvSpPr>
          <p:cNvPr id="5" name="Text Placeholder 2"/>
          <p:cNvSpPr txBox="1">
            <a:spLocks/>
          </p:cNvSpPr>
          <p:nvPr/>
        </p:nvSpPr>
        <p:spPr>
          <a:xfrm>
            <a:off x="389437" y="1524776"/>
            <a:ext cx="8222450" cy="4855062"/>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CA" sz="2400" dirty="0"/>
          </a:p>
        </p:txBody>
      </p:sp>
    </p:spTree>
    <p:extLst>
      <p:ext uri="{BB962C8B-B14F-4D97-AF65-F5344CB8AC3E}">
        <p14:creationId xmlns:p14="http://schemas.microsoft.com/office/powerpoint/2010/main" val="1269804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437" y="781415"/>
            <a:ext cx="8363938" cy="457048"/>
          </a:xfrm>
        </p:spPr>
        <p:txBody>
          <a:bodyPr/>
          <a:lstStyle/>
          <a:p>
            <a:r>
              <a:rPr lang="en-US" dirty="0"/>
              <a:t>SharePoint 2019 –Depreciated Features</a:t>
            </a:r>
          </a:p>
        </p:txBody>
      </p:sp>
      <p:sp>
        <p:nvSpPr>
          <p:cNvPr id="3" name="Text Placeholder 2">
            <a:extLst>
              <a:ext uri="{FF2B5EF4-FFF2-40B4-BE49-F238E27FC236}">
                <a16:creationId xmlns:a16="http://schemas.microsoft.com/office/drawing/2014/main" id="{AA0521B8-141D-4D83-AC28-B0F1474E6B38}"/>
              </a:ext>
            </a:extLst>
          </p:cNvPr>
          <p:cNvSpPr>
            <a:spLocks noGrp="1"/>
          </p:cNvSpPr>
          <p:nvPr>
            <p:ph type="body" sz="quarter" idx="10"/>
          </p:nvPr>
        </p:nvSpPr>
        <p:spPr>
          <a:xfrm>
            <a:off x="389437" y="1638046"/>
            <a:ext cx="8363938" cy="4242700"/>
          </a:xfrm>
        </p:spPr>
        <p:txBody>
          <a:bodyPr/>
          <a:lstStyle/>
          <a:p>
            <a:r>
              <a:rPr lang="en-US" dirty="0"/>
              <a:t>Depreciated</a:t>
            </a:r>
          </a:p>
          <a:p>
            <a:pPr lvl="1"/>
            <a:r>
              <a:rPr lang="en-US" dirty="0"/>
              <a:t>Access Services 2010 and 2013</a:t>
            </a:r>
          </a:p>
          <a:p>
            <a:pPr lvl="1"/>
            <a:r>
              <a:rPr lang="en-US" dirty="0"/>
              <a:t>Aggregated Newsfeed</a:t>
            </a:r>
          </a:p>
          <a:p>
            <a:pPr lvl="1"/>
            <a:r>
              <a:rPr lang="en-US" dirty="0"/>
              <a:t>Custom help</a:t>
            </a:r>
          </a:p>
          <a:p>
            <a:pPr lvl="1"/>
            <a:r>
              <a:rPr lang="en-US" dirty="0"/>
              <a:t>Grove Sync Client</a:t>
            </a:r>
          </a:p>
          <a:p>
            <a:pPr lvl="1"/>
            <a:r>
              <a:rPr lang="en-US" dirty="0"/>
              <a:t>InfoPath Services</a:t>
            </a:r>
          </a:p>
          <a:p>
            <a:pPr lvl="1"/>
            <a:r>
              <a:rPr lang="en-US" dirty="0"/>
              <a:t>List Web Services</a:t>
            </a:r>
          </a:p>
          <a:p>
            <a:pPr lvl="1"/>
            <a:r>
              <a:rPr lang="en-US" dirty="0"/>
              <a:t>Machine Translations (and variations)</a:t>
            </a:r>
          </a:p>
          <a:p>
            <a:pPr lvl="1"/>
            <a:r>
              <a:rPr lang="en-US" dirty="0"/>
              <a:t>Performance Point Services</a:t>
            </a:r>
          </a:p>
          <a:p>
            <a:pPr lvl="1"/>
            <a:r>
              <a:rPr lang="en-US" dirty="0"/>
              <a:t>SharePoint Designer</a:t>
            </a:r>
          </a:p>
          <a:p>
            <a:pPr lvl="1"/>
            <a:r>
              <a:rPr lang="en-US" dirty="0"/>
              <a:t>Site Manager</a:t>
            </a:r>
          </a:p>
          <a:p>
            <a:pPr lvl="1"/>
            <a:r>
              <a:rPr lang="en-US" dirty="0"/>
              <a:t>Site Mailbox</a:t>
            </a:r>
          </a:p>
        </p:txBody>
      </p:sp>
      <p:sp>
        <p:nvSpPr>
          <p:cNvPr id="5" name="Text Placeholder 2"/>
          <p:cNvSpPr txBox="1">
            <a:spLocks/>
          </p:cNvSpPr>
          <p:nvPr/>
        </p:nvSpPr>
        <p:spPr>
          <a:xfrm>
            <a:off x="389437" y="2008746"/>
            <a:ext cx="8222450" cy="4371091"/>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CA" sz="2400" dirty="0"/>
          </a:p>
        </p:txBody>
      </p:sp>
    </p:spTree>
    <p:extLst>
      <p:ext uri="{BB962C8B-B14F-4D97-AF65-F5344CB8AC3E}">
        <p14:creationId xmlns:p14="http://schemas.microsoft.com/office/powerpoint/2010/main" val="2652580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437" y="781415"/>
            <a:ext cx="8363938" cy="457048"/>
          </a:xfrm>
        </p:spPr>
        <p:txBody>
          <a:bodyPr/>
          <a:lstStyle/>
          <a:p>
            <a:r>
              <a:rPr lang="en-US" dirty="0"/>
              <a:t>SharePoint 2019 – Removed Features</a:t>
            </a:r>
          </a:p>
        </p:txBody>
      </p:sp>
      <p:sp>
        <p:nvSpPr>
          <p:cNvPr id="3" name="Text Placeholder 2">
            <a:extLst>
              <a:ext uri="{FF2B5EF4-FFF2-40B4-BE49-F238E27FC236}">
                <a16:creationId xmlns:a16="http://schemas.microsoft.com/office/drawing/2014/main" id="{AA0521B8-141D-4D83-AC28-B0F1474E6B38}"/>
              </a:ext>
            </a:extLst>
          </p:cNvPr>
          <p:cNvSpPr>
            <a:spLocks noGrp="1"/>
          </p:cNvSpPr>
          <p:nvPr>
            <p:ph type="body" sz="quarter" idx="10"/>
          </p:nvPr>
        </p:nvSpPr>
        <p:spPr>
          <a:xfrm>
            <a:off x="389437" y="1643109"/>
            <a:ext cx="8363938" cy="2820772"/>
          </a:xfrm>
        </p:spPr>
        <p:txBody>
          <a:bodyPr/>
          <a:lstStyle/>
          <a:p>
            <a:r>
              <a:rPr lang="en-US" dirty="0"/>
              <a:t>Removed</a:t>
            </a:r>
          </a:p>
          <a:p>
            <a:pPr lvl="1"/>
            <a:r>
              <a:rPr lang="en-US" dirty="0"/>
              <a:t>Code Base Sandbox Solution</a:t>
            </a:r>
          </a:p>
          <a:p>
            <a:pPr lvl="1"/>
            <a:r>
              <a:rPr lang="en-US" dirty="0"/>
              <a:t>Digest Authentication</a:t>
            </a:r>
          </a:p>
          <a:p>
            <a:pPr lvl="1"/>
            <a:r>
              <a:rPr lang="en-US" dirty="0"/>
              <a:t>Incoming email automatic mode</a:t>
            </a:r>
          </a:p>
          <a:p>
            <a:pPr lvl="1"/>
            <a:r>
              <a:rPr lang="en-US" dirty="0"/>
              <a:t>Multi-Tenancy</a:t>
            </a:r>
          </a:p>
          <a:p>
            <a:pPr lvl="1"/>
            <a:r>
              <a:rPr lang="en-US" dirty="0"/>
              <a:t>Power-Pivot Gallery Refresh</a:t>
            </a:r>
          </a:p>
          <a:p>
            <a:pPr lvl="1"/>
            <a:r>
              <a:rPr lang="en-US" dirty="0"/>
              <a:t>Visio Services – Silverlight based rendering</a:t>
            </a:r>
          </a:p>
          <a:p>
            <a:pPr lvl="1"/>
            <a:r>
              <a:rPr lang="en-US" dirty="0"/>
              <a:t>SQL Server Reporting Services – SharePoint Integrated Mode</a:t>
            </a:r>
          </a:p>
        </p:txBody>
      </p:sp>
      <p:sp>
        <p:nvSpPr>
          <p:cNvPr id="5" name="Text Placeholder 2"/>
          <p:cNvSpPr txBox="1">
            <a:spLocks/>
          </p:cNvSpPr>
          <p:nvPr/>
        </p:nvSpPr>
        <p:spPr>
          <a:xfrm>
            <a:off x="389437" y="2008746"/>
            <a:ext cx="8222450" cy="4371091"/>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CA" sz="2400" dirty="0"/>
          </a:p>
        </p:txBody>
      </p:sp>
    </p:spTree>
    <p:extLst>
      <p:ext uri="{BB962C8B-B14F-4D97-AF65-F5344CB8AC3E}">
        <p14:creationId xmlns:p14="http://schemas.microsoft.com/office/powerpoint/2010/main" val="1113668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437" y="928529"/>
            <a:ext cx="8363938" cy="666387"/>
          </a:xfrm>
        </p:spPr>
        <p:txBody>
          <a:bodyPr/>
          <a:lstStyle/>
          <a:p>
            <a:r>
              <a:rPr lang="en-US" dirty="0"/>
              <a:t>SharePoint 2019 – Architect Changes</a:t>
            </a:r>
          </a:p>
        </p:txBody>
      </p:sp>
      <p:sp>
        <p:nvSpPr>
          <p:cNvPr id="6" name="Content Placeholder 5">
            <a:extLst>
              <a:ext uri="{FF2B5EF4-FFF2-40B4-BE49-F238E27FC236}">
                <a16:creationId xmlns:a16="http://schemas.microsoft.com/office/drawing/2014/main" id="{E154E10C-5D02-449C-BDD7-048906C2CFED}"/>
              </a:ext>
            </a:extLst>
          </p:cNvPr>
          <p:cNvSpPr>
            <a:spLocks noGrp="1"/>
          </p:cNvSpPr>
          <p:nvPr>
            <p:ph type="body" sz="quarter" idx="10"/>
          </p:nvPr>
        </p:nvSpPr>
        <p:spPr>
          <a:xfrm>
            <a:off x="389437" y="1847473"/>
            <a:ext cx="8363938" cy="3176254"/>
          </a:xfrm>
        </p:spPr>
        <p:txBody>
          <a:bodyPr/>
          <a:lstStyle/>
          <a:p>
            <a:r>
              <a:rPr lang="en-US" dirty="0"/>
              <a:t>Windows Server 2016 or 2019</a:t>
            </a:r>
          </a:p>
          <a:p>
            <a:r>
              <a:rPr lang="en-US" dirty="0"/>
              <a:t>SQL Server 2016 or 2017</a:t>
            </a:r>
          </a:p>
          <a:p>
            <a:r>
              <a:rPr lang="en-US" dirty="0"/>
              <a:t>New Workflow Manager</a:t>
            </a:r>
          </a:p>
          <a:p>
            <a:r>
              <a:rPr lang="en-US" dirty="0"/>
              <a:t>SSRS not in SharePoint Mode (Only Native Mode)</a:t>
            </a:r>
          </a:p>
          <a:p>
            <a:pPr lvl="1"/>
            <a:r>
              <a:rPr lang="en-US" dirty="0">
                <a:solidFill>
                  <a:srgbClr val="FF0000"/>
                </a:solidFill>
              </a:rPr>
              <a:t>Migrate and </a:t>
            </a:r>
            <a:r>
              <a:rPr lang="en-US">
                <a:solidFill>
                  <a:srgbClr val="FF0000"/>
                </a:solidFill>
              </a:rPr>
              <a:t>remove SSRS </a:t>
            </a:r>
            <a:r>
              <a:rPr lang="en-US" dirty="0">
                <a:solidFill>
                  <a:srgbClr val="FF0000"/>
                </a:solidFill>
              </a:rPr>
              <a:t>and BI components from 2016 before upgrade</a:t>
            </a:r>
          </a:p>
          <a:p>
            <a:r>
              <a:rPr lang="en-US" dirty="0"/>
              <a:t>Outbound Email Notifications SMTP</a:t>
            </a:r>
          </a:p>
          <a:p>
            <a:r>
              <a:rPr lang="en-US" dirty="0"/>
              <a:t>OneDrive Sync Client</a:t>
            </a:r>
          </a:p>
          <a:p>
            <a:r>
              <a:rPr lang="en-US" dirty="0"/>
              <a:t>More PowerShell Cmdlets</a:t>
            </a:r>
          </a:p>
        </p:txBody>
      </p:sp>
    </p:spTree>
    <p:extLst>
      <p:ext uri="{BB962C8B-B14F-4D97-AF65-F5344CB8AC3E}">
        <p14:creationId xmlns:p14="http://schemas.microsoft.com/office/powerpoint/2010/main" val="1545354409"/>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049" y="1169165"/>
            <a:ext cx="8363938" cy="666387"/>
          </a:xfrm>
        </p:spPr>
        <p:txBody>
          <a:bodyPr/>
          <a:lstStyle/>
          <a:p>
            <a:r>
              <a:rPr lang="en-US" dirty="0"/>
              <a:t>Envisioning</a:t>
            </a:r>
          </a:p>
        </p:txBody>
      </p:sp>
      <p:sp>
        <p:nvSpPr>
          <p:cNvPr id="5" name="Text Placeholder 2"/>
          <p:cNvSpPr txBox="1">
            <a:spLocks/>
          </p:cNvSpPr>
          <p:nvPr/>
        </p:nvSpPr>
        <p:spPr>
          <a:xfrm>
            <a:off x="389437" y="2008746"/>
            <a:ext cx="8222450" cy="4371091"/>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800" dirty="0"/>
              <a:t>Office Vision of using SharePoint Server</a:t>
            </a:r>
          </a:p>
          <a:p>
            <a:r>
              <a:rPr lang="en-CA" sz="2800" dirty="0"/>
              <a:t>Mission Statement</a:t>
            </a:r>
          </a:p>
          <a:p>
            <a:r>
              <a:rPr lang="en-CA" sz="2800" dirty="0"/>
              <a:t>Business Objectives</a:t>
            </a:r>
          </a:p>
          <a:p>
            <a:endParaRPr lang="en-CA" sz="2800" dirty="0"/>
          </a:p>
          <a:p>
            <a:r>
              <a:rPr lang="en-CA" sz="2800" dirty="0"/>
              <a:t>Many Questions that need answers</a:t>
            </a:r>
          </a:p>
          <a:p>
            <a:pPr lvl="1"/>
            <a:r>
              <a:rPr lang="en-CA" sz="2400" dirty="0"/>
              <a:t>Is SharePoint Governance the same?</a:t>
            </a:r>
          </a:p>
          <a:p>
            <a:pPr lvl="1"/>
            <a:r>
              <a:rPr lang="en-CA" sz="2400" dirty="0"/>
              <a:t>How has the Office changed?</a:t>
            </a:r>
          </a:p>
          <a:p>
            <a:pPr lvl="1"/>
            <a:r>
              <a:rPr lang="en-CA" sz="2400" dirty="0"/>
              <a:t>New Features in SharePoint Server change?</a:t>
            </a:r>
          </a:p>
          <a:p>
            <a:pPr lvl="1"/>
            <a:r>
              <a:rPr lang="en-CA" sz="2400" dirty="0"/>
              <a:t>Functionality has changed between versions </a:t>
            </a:r>
          </a:p>
        </p:txBody>
      </p:sp>
    </p:spTree>
    <p:extLst>
      <p:ext uri="{BB962C8B-B14F-4D97-AF65-F5344CB8AC3E}">
        <p14:creationId xmlns:p14="http://schemas.microsoft.com/office/powerpoint/2010/main" val="575507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609398"/>
          </a:xfrm>
        </p:spPr>
        <p:txBody>
          <a:bodyPr/>
          <a:lstStyle/>
          <a:p>
            <a:r>
              <a:rPr lang="en-US" sz="4400" dirty="0"/>
              <a:t>Review Any Old/New Requirements</a:t>
            </a:r>
          </a:p>
        </p:txBody>
      </p:sp>
      <p:sp>
        <p:nvSpPr>
          <p:cNvPr id="5" name="Text Placeholder 2"/>
          <p:cNvSpPr txBox="1">
            <a:spLocks/>
          </p:cNvSpPr>
          <p:nvPr/>
        </p:nvSpPr>
        <p:spPr>
          <a:xfrm>
            <a:off x="287192" y="1814467"/>
            <a:ext cx="8222450" cy="4168220"/>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800" dirty="0"/>
              <a:t>Keeping/Deleting/Archiving</a:t>
            </a:r>
          </a:p>
          <a:p>
            <a:pPr lvl="1"/>
            <a:r>
              <a:rPr lang="en-CA" sz="2400" dirty="0"/>
              <a:t>Completed Project Schedules</a:t>
            </a:r>
          </a:p>
          <a:p>
            <a:pPr lvl="1"/>
            <a:r>
              <a:rPr lang="en-CA" sz="2400" dirty="0"/>
              <a:t>Resource that have left company</a:t>
            </a:r>
          </a:p>
          <a:p>
            <a:pPr lvl="1"/>
            <a:r>
              <a:rPr lang="en-CA" sz="2400" dirty="0"/>
              <a:t>Project Documents and Items</a:t>
            </a:r>
          </a:p>
          <a:p>
            <a:r>
              <a:rPr lang="en-CA" sz="2800" dirty="0"/>
              <a:t>Security/Roles/Permissions</a:t>
            </a:r>
          </a:p>
          <a:p>
            <a:r>
              <a:rPr lang="en-CA" sz="2800" dirty="0"/>
              <a:t>SharePoint Farm and Services</a:t>
            </a:r>
          </a:p>
          <a:p>
            <a:r>
              <a:rPr lang="en-CA" sz="2800" dirty="0"/>
              <a:t>SharePoint / Project Workflow </a:t>
            </a:r>
          </a:p>
          <a:p>
            <a:r>
              <a:rPr lang="en-CA" sz="2800" dirty="0"/>
              <a:t>PMO Process and procedures</a:t>
            </a:r>
          </a:p>
          <a:p>
            <a:r>
              <a:rPr lang="en-CA" sz="2800" dirty="0"/>
              <a:t>Cleaning up *****</a:t>
            </a:r>
          </a:p>
          <a:p>
            <a:endParaRPr lang="en-CA" sz="2800" dirty="0"/>
          </a:p>
        </p:txBody>
      </p:sp>
    </p:spTree>
    <p:extLst>
      <p:ext uri="{BB962C8B-B14F-4D97-AF65-F5344CB8AC3E}">
        <p14:creationId xmlns:p14="http://schemas.microsoft.com/office/powerpoint/2010/main" val="41159686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97A5D5-3FA4-4DC6-8A67-7881C78036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03888"/>
            <a:ext cx="9151187" cy="5974418"/>
          </a:xfrm>
          <a:prstGeom prst="rect">
            <a:avLst/>
          </a:prstGeom>
        </p:spPr>
      </p:pic>
      <p:sp>
        <p:nvSpPr>
          <p:cNvPr id="3" name="Title 2">
            <a:extLst>
              <a:ext uri="{FF2B5EF4-FFF2-40B4-BE49-F238E27FC236}">
                <a16:creationId xmlns:a16="http://schemas.microsoft.com/office/drawing/2014/main" id="{DC1FF4F4-4620-4430-9A9F-8323AEEF9CEA}"/>
              </a:ext>
            </a:extLst>
          </p:cNvPr>
          <p:cNvSpPr>
            <a:spLocks noGrp="1"/>
          </p:cNvSpPr>
          <p:nvPr>
            <p:ph type="title"/>
          </p:nvPr>
        </p:nvSpPr>
        <p:spPr>
          <a:xfrm>
            <a:off x="380999" y="990600"/>
            <a:ext cx="8368717" cy="1218795"/>
          </a:xfrm>
        </p:spPr>
        <p:txBody>
          <a:bodyPr/>
          <a:lstStyle/>
          <a:p>
            <a:pPr algn="ctr"/>
            <a:r>
              <a:rPr lang="en-US" sz="8800" b="1" dirty="0">
                <a:solidFill>
                  <a:schemeClr val="accent1"/>
                </a:solidFill>
              </a:rPr>
              <a:t>Planning</a:t>
            </a:r>
          </a:p>
        </p:txBody>
      </p:sp>
    </p:spTree>
    <p:extLst>
      <p:ext uri="{BB962C8B-B14F-4D97-AF65-F5344CB8AC3E}">
        <p14:creationId xmlns:p14="http://schemas.microsoft.com/office/powerpoint/2010/main" val="103755735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method to follow? Terminology</a:t>
            </a:r>
          </a:p>
        </p:txBody>
      </p:sp>
      <p:sp>
        <p:nvSpPr>
          <p:cNvPr id="5" name="Text Placeholder 2"/>
          <p:cNvSpPr txBox="1">
            <a:spLocks/>
          </p:cNvSpPr>
          <p:nvPr/>
        </p:nvSpPr>
        <p:spPr>
          <a:xfrm>
            <a:off x="443753" y="1805492"/>
            <a:ext cx="8382000" cy="4184724"/>
          </a:xfrm>
          <a:prstGeom prst="rect">
            <a:avLst/>
          </a:prstGeom>
        </p:spPr>
        <p:txBody>
          <a:bodyPr/>
          <a:lstStyle>
            <a:lvl1pPr marL="460375" indent="-460375" algn="l" defTabSz="914363" rtl="0" eaLnBrk="1" latinLnBrk="0" hangingPunct="1">
              <a:lnSpc>
                <a:spcPct val="90000"/>
              </a:lnSpc>
              <a:spcBef>
                <a:spcPct val="20000"/>
              </a:spcBef>
              <a:buFontTx/>
              <a:buBlip>
                <a:blip r:embed="rId2"/>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2"/>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2"/>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2"/>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2"/>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3600" dirty="0">
                <a:solidFill>
                  <a:schemeClr val="tx1"/>
                </a:solidFill>
              </a:rPr>
              <a:t>Migration</a:t>
            </a:r>
          </a:p>
          <a:p>
            <a:pPr marL="0" indent="0">
              <a:buNone/>
            </a:pPr>
            <a:r>
              <a:rPr lang="en-US" sz="2400" dirty="0">
                <a:solidFill>
                  <a:schemeClr val="tx1"/>
                </a:solidFill>
              </a:rPr>
              <a:t>Importing content and metadata into SharePoint from any legacy document repository… even if that legacy document repository is SharePoint</a:t>
            </a:r>
            <a:endParaRPr lang="en-CA" sz="2400" dirty="0">
              <a:solidFill>
                <a:schemeClr val="tx1"/>
              </a:solidFill>
            </a:endParaRPr>
          </a:p>
          <a:p>
            <a:r>
              <a:rPr lang="en-CA" sz="3600" dirty="0">
                <a:solidFill>
                  <a:schemeClr val="tx1"/>
                </a:solidFill>
              </a:rPr>
              <a:t>Upgrade</a:t>
            </a:r>
          </a:p>
          <a:p>
            <a:pPr marL="0" indent="0">
              <a:buNone/>
            </a:pPr>
            <a:r>
              <a:rPr lang="en-US" sz="2400" dirty="0">
                <a:solidFill>
                  <a:schemeClr val="tx1"/>
                </a:solidFill>
              </a:rPr>
              <a:t>The process of updating an existing SharePoint installation to a newer major version</a:t>
            </a:r>
          </a:p>
          <a:p>
            <a:pPr marL="0" indent="0">
              <a:buNone/>
            </a:pPr>
            <a:r>
              <a:rPr lang="en-US" sz="2400" dirty="0">
                <a:solidFill>
                  <a:schemeClr val="tx1"/>
                </a:solidFill>
              </a:rPr>
              <a:t>	SP2010 to SP2013</a:t>
            </a:r>
          </a:p>
          <a:p>
            <a:pPr marL="0" indent="0">
              <a:buNone/>
            </a:pPr>
            <a:r>
              <a:rPr lang="en-US" sz="2400" dirty="0">
                <a:solidFill>
                  <a:schemeClr val="tx1"/>
                </a:solidFill>
              </a:rPr>
              <a:t>	SP2013 to SP2016</a:t>
            </a:r>
          </a:p>
          <a:p>
            <a:pPr marL="0" indent="0">
              <a:buNone/>
            </a:pPr>
            <a:r>
              <a:rPr lang="en-US" sz="2400" dirty="0">
                <a:solidFill>
                  <a:schemeClr val="tx1"/>
                </a:solidFill>
              </a:rPr>
              <a:t>	SP2016 to SP2019</a:t>
            </a:r>
          </a:p>
          <a:p>
            <a:pPr marL="0" indent="0">
              <a:buNone/>
            </a:pPr>
            <a:endParaRPr lang="en-CA" sz="2400" dirty="0">
              <a:solidFill>
                <a:schemeClr val="tx1"/>
              </a:solidFill>
            </a:endParaRPr>
          </a:p>
        </p:txBody>
      </p:sp>
    </p:spTree>
    <p:extLst>
      <p:ext uri="{BB962C8B-B14F-4D97-AF65-F5344CB8AC3E}">
        <p14:creationId xmlns:p14="http://schemas.microsoft.com/office/powerpoint/2010/main" val="3773244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u="sng" dirty="0">
                <a:solidFill>
                  <a:schemeClr val="tx1"/>
                </a:solidFill>
              </a:rPr>
              <a:t>Migration</a:t>
            </a:r>
            <a:r>
              <a:rPr lang="en-US" sz="2800" i="1" dirty="0">
                <a:solidFill>
                  <a:schemeClr val="tx1"/>
                </a:solidFill>
              </a:rPr>
              <a:t> </a:t>
            </a:r>
            <a:r>
              <a:rPr lang="en-US" sz="2800" dirty="0">
                <a:solidFill>
                  <a:schemeClr val="tx1"/>
                </a:solidFill>
              </a:rPr>
              <a:t>of SharePoint content</a:t>
            </a:r>
          </a:p>
        </p:txBody>
      </p:sp>
      <p:sp>
        <p:nvSpPr>
          <p:cNvPr id="3" name="Rectangle 2"/>
          <p:cNvSpPr/>
          <p:nvPr/>
        </p:nvSpPr>
        <p:spPr>
          <a:xfrm>
            <a:off x="381000" y="1804408"/>
            <a:ext cx="7679961" cy="4401205"/>
          </a:xfrm>
          <a:prstGeom prst="rect">
            <a:avLst/>
          </a:prstGeom>
        </p:spPr>
        <p:txBody>
          <a:bodyPr wrap="square">
            <a:spAutoFit/>
          </a:bodyPr>
          <a:lstStyle/>
          <a:p>
            <a:pPr marL="285750" indent="-285750">
              <a:buFont typeface="Arial" panose="020B0604020202020204" pitchFamily="34" charset="0"/>
              <a:buChar char="•"/>
            </a:pPr>
            <a:r>
              <a:rPr lang="en-US" sz="2000" dirty="0"/>
              <a:t>The source document repository is not SharePoint</a:t>
            </a:r>
          </a:p>
          <a:p>
            <a:pPr marL="285750" indent="-285750">
              <a:buFont typeface="Arial" panose="020B0604020202020204" pitchFamily="34" charset="0"/>
              <a:buChar char="•"/>
            </a:pPr>
            <a:r>
              <a:rPr lang="en-US" sz="2000" dirty="0"/>
              <a:t>Moving up more than one major SharePoint version (e.g. SP2007 to SP013)</a:t>
            </a:r>
          </a:p>
          <a:p>
            <a:pPr marL="285750" indent="-285750">
              <a:buFont typeface="Arial" panose="020B0604020202020204" pitchFamily="34" charset="0"/>
              <a:buChar char="•"/>
            </a:pPr>
            <a:r>
              <a:rPr lang="en-US" sz="2000" dirty="0"/>
              <a:t>Taxonomy / information architecture needs to be redesigned</a:t>
            </a:r>
          </a:p>
          <a:p>
            <a:pPr marL="285750" indent="-285750">
              <a:buFont typeface="Arial" panose="020B0604020202020204" pitchFamily="34" charset="0"/>
              <a:buChar char="•"/>
            </a:pPr>
            <a:r>
              <a:rPr lang="en-US" sz="2000" dirty="0"/>
              <a:t>Content databases need to be split to improve content database performance or to meet RTO (Recovery Time Objective) or RPO (Recovery Point Objective)</a:t>
            </a:r>
          </a:p>
          <a:p>
            <a:pPr marL="285750" indent="-285750">
              <a:buFont typeface="Arial" panose="020B0604020202020204" pitchFamily="34" charset="0"/>
              <a:buChar char="•"/>
            </a:pPr>
            <a:r>
              <a:rPr lang="en-US" sz="2000" dirty="0"/>
              <a:t>Content is improperly distributed (e.g. folder structures too shallow)</a:t>
            </a:r>
          </a:p>
          <a:p>
            <a:pPr marL="285750" indent="-285750">
              <a:buFont typeface="Arial" panose="020B0604020202020204" pitchFamily="34" charset="0"/>
              <a:buChar char="•"/>
            </a:pPr>
            <a:r>
              <a:rPr lang="en-US" sz="2000" dirty="0"/>
              <a:t>Custom site template was used for document repository site collection – making the upgrade overly-complicated</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FYI:  Project Online is a migration</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337488626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u="sng" dirty="0">
                <a:solidFill>
                  <a:schemeClr val="tx1"/>
                </a:solidFill>
              </a:rPr>
              <a:t>Upgrade</a:t>
            </a:r>
            <a:r>
              <a:rPr lang="en-US" sz="2800" dirty="0">
                <a:solidFill>
                  <a:schemeClr val="tx1"/>
                </a:solidFill>
              </a:rPr>
              <a:t> SharePoint Content</a:t>
            </a:r>
          </a:p>
        </p:txBody>
      </p:sp>
      <p:sp>
        <p:nvSpPr>
          <p:cNvPr id="3" name="Rectangle 2"/>
          <p:cNvSpPr/>
          <p:nvPr/>
        </p:nvSpPr>
        <p:spPr>
          <a:xfrm>
            <a:off x="287311" y="1828659"/>
            <a:ext cx="7959777" cy="4524315"/>
          </a:xfrm>
          <a:prstGeom prst="rect">
            <a:avLst/>
          </a:prstGeom>
        </p:spPr>
        <p:txBody>
          <a:bodyPr wrap="square">
            <a:spAutoFit/>
          </a:bodyPr>
          <a:lstStyle/>
          <a:p>
            <a:pPr marL="285750" indent="-285750">
              <a:buFont typeface="Arial" panose="020B0604020202020204" pitchFamily="34" charset="0"/>
              <a:buChar char="•"/>
            </a:pPr>
            <a:r>
              <a:rPr lang="en-US" sz="2400" dirty="0"/>
              <a:t>Update existing farm is SP2007 or higher (remember, Content Types are not available in SP2003)</a:t>
            </a:r>
          </a:p>
          <a:p>
            <a:pPr marL="285750" indent="-285750">
              <a:buFont typeface="Arial" panose="020B0604020202020204" pitchFamily="34" charset="0"/>
              <a:buChar char="•"/>
            </a:pPr>
            <a:r>
              <a:rPr lang="en-US" sz="2400" dirty="0"/>
              <a:t>Existing taxonomy is well-formed</a:t>
            </a:r>
          </a:p>
          <a:p>
            <a:pPr marL="285750" indent="-285750">
              <a:buFont typeface="Arial" panose="020B0604020202020204" pitchFamily="34" charset="0"/>
              <a:buChar char="•"/>
            </a:pPr>
            <a:r>
              <a:rPr lang="en-US" sz="2400" dirty="0"/>
              <a:t>Site collections and content databases are properly architected</a:t>
            </a:r>
          </a:p>
          <a:p>
            <a:pPr marL="285750" indent="-285750">
              <a:buFont typeface="Arial" panose="020B0604020202020204" pitchFamily="34" charset="0"/>
              <a:buChar char="•"/>
            </a:pPr>
            <a:r>
              <a:rPr lang="en-US" sz="2400" dirty="0"/>
              <a:t>Content is properly distributed &amp; folder structures are not too shallow</a:t>
            </a:r>
          </a:p>
          <a:p>
            <a:pPr marL="285750" indent="-285750">
              <a:buFont typeface="Arial" panose="020B0604020202020204" pitchFamily="34" charset="0"/>
              <a:buChar char="•"/>
            </a:pPr>
            <a:r>
              <a:rPr lang="en-US" sz="2400" dirty="0"/>
              <a:t>Site templates used include Team Site, Document Center or Records Center</a:t>
            </a:r>
          </a:p>
          <a:p>
            <a:pPr marL="285750" indent="-285750">
              <a:buFont typeface="Arial" panose="020B0604020202020204" pitchFamily="34" charset="0"/>
              <a:buChar char="•"/>
            </a:pPr>
            <a:r>
              <a:rPr lang="en-US" sz="2400" dirty="0"/>
              <a:t>Migrating from a given version of SharePoint to the next major version of SharePoint</a:t>
            </a:r>
          </a:p>
          <a:p>
            <a:endParaRPr lang="en-US" sz="2400" dirty="0"/>
          </a:p>
        </p:txBody>
      </p:sp>
    </p:spTree>
    <p:extLst>
      <p:ext uri="{BB962C8B-B14F-4D97-AF65-F5344CB8AC3E}">
        <p14:creationId xmlns:p14="http://schemas.microsoft.com/office/powerpoint/2010/main" val="324421239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Migration Tools and Methods</a:t>
            </a:r>
          </a:p>
        </p:txBody>
      </p:sp>
      <p:sp>
        <p:nvSpPr>
          <p:cNvPr id="5" name="Text Placeholder 2"/>
          <p:cNvSpPr txBox="1">
            <a:spLocks/>
          </p:cNvSpPr>
          <p:nvPr/>
        </p:nvSpPr>
        <p:spPr>
          <a:xfrm>
            <a:off x="260860" y="1585628"/>
            <a:ext cx="8382000" cy="4184724"/>
          </a:xfrm>
          <a:prstGeom prst="rect">
            <a:avLst/>
          </a:prstGeom>
        </p:spPr>
        <p:txBody>
          <a:bodyPr/>
          <a:lstStyle>
            <a:lvl1pPr marL="460375" indent="-460375" algn="l" defTabSz="914363" rtl="0" eaLnBrk="1" latinLnBrk="0" hangingPunct="1">
              <a:lnSpc>
                <a:spcPct val="90000"/>
              </a:lnSpc>
              <a:spcBef>
                <a:spcPct val="20000"/>
              </a:spcBef>
              <a:buFontTx/>
              <a:buBlip>
                <a:blip r:embed="rId2"/>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2"/>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2"/>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2"/>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2"/>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a:solidFill>
                  <a:schemeClr val="tx1"/>
                </a:solidFill>
              </a:rPr>
              <a:t>Drag / Drop into SharePoint libraries</a:t>
            </a:r>
          </a:p>
          <a:p>
            <a:r>
              <a:rPr lang="en-US" sz="3600" dirty="0">
                <a:solidFill>
                  <a:schemeClr val="tx1"/>
                </a:solidFill>
              </a:rPr>
              <a:t>Export/Import Project Schedules</a:t>
            </a:r>
          </a:p>
          <a:p>
            <a:r>
              <a:rPr lang="en-US" sz="3600" dirty="0">
                <a:solidFill>
                  <a:schemeClr val="tx1"/>
                </a:solidFill>
              </a:rPr>
              <a:t>Microsoft SharePoint migration tool</a:t>
            </a:r>
          </a:p>
          <a:p>
            <a:pPr lvl="1"/>
            <a:r>
              <a:rPr lang="en-US" sz="2000" u="sng" dirty="0">
                <a:solidFill>
                  <a:schemeClr val="tx1"/>
                </a:solidFill>
              </a:rPr>
              <a:t>https://docs.microsoft.com/en-us/sharepointmigration/how-to-use-the-sharepoint-migration-tool</a:t>
            </a:r>
          </a:p>
          <a:p>
            <a:r>
              <a:rPr lang="en-US" sz="3600" dirty="0">
                <a:solidFill>
                  <a:schemeClr val="tx1"/>
                </a:solidFill>
              </a:rPr>
              <a:t>3</a:t>
            </a:r>
            <a:r>
              <a:rPr lang="en-US" sz="3600" baseline="30000" dirty="0">
                <a:solidFill>
                  <a:schemeClr val="tx1"/>
                </a:solidFill>
              </a:rPr>
              <a:t>rd</a:t>
            </a:r>
            <a:r>
              <a:rPr lang="en-US" sz="3600" dirty="0">
                <a:solidFill>
                  <a:schemeClr val="tx1"/>
                </a:solidFill>
              </a:rPr>
              <a:t> Party Tools</a:t>
            </a:r>
            <a:endParaRPr lang="en-CA" sz="2400" dirty="0">
              <a:solidFill>
                <a:schemeClr val="tx1"/>
              </a:solidFill>
            </a:endParaRPr>
          </a:p>
          <a:p>
            <a:pPr lvl="1"/>
            <a:r>
              <a:rPr lang="en-US" dirty="0">
                <a:solidFill>
                  <a:schemeClr val="tx1"/>
                </a:solidFill>
              </a:rPr>
              <a:t>Fluent Pro, </a:t>
            </a:r>
            <a:r>
              <a:rPr lang="en-US" dirty="0" err="1">
                <a:solidFill>
                  <a:schemeClr val="tx1"/>
                </a:solidFill>
              </a:rPr>
              <a:t>MetaVis</a:t>
            </a:r>
            <a:r>
              <a:rPr lang="en-US" dirty="0">
                <a:solidFill>
                  <a:schemeClr val="tx1"/>
                </a:solidFill>
              </a:rPr>
              <a:t> Migrator, </a:t>
            </a:r>
            <a:r>
              <a:rPr lang="en-US" dirty="0" err="1">
                <a:solidFill>
                  <a:schemeClr val="tx1"/>
                </a:solidFill>
              </a:rPr>
              <a:t>MetaLogic</a:t>
            </a:r>
            <a:r>
              <a:rPr lang="en-US" dirty="0">
                <a:solidFill>
                  <a:schemeClr val="tx1"/>
                </a:solidFill>
              </a:rPr>
              <a:t> Content Matrix, etc.</a:t>
            </a:r>
          </a:p>
          <a:p>
            <a:r>
              <a:rPr lang="en-US" dirty="0">
                <a:solidFill>
                  <a:schemeClr val="tx1"/>
                </a:solidFill>
              </a:rPr>
              <a:t>Start from scratch</a:t>
            </a:r>
          </a:p>
          <a:p>
            <a:pPr lvl="1"/>
            <a:r>
              <a:rPr lang="en-US" dirty="0">
                <a:solidFill>
                  <a:schemeClr val="tx1"/>
                </a:solidFill>
              </a:rPr>
              <a:t>Good time to begin fresh</a:t>
            </a:r>
          </a:p>
          <a:p>
            <a:pPr marL="0" indent="0">
              <a:buNone/>
            </a:pPr>
            <a:endParaRPr lang="en-US" dirty="0">
              <a:solidFill>
                <a:schemeClr val="tx1"/>
              </a:solidFill>
            </a:endParaRPr>
          </a:p>
        </p:txBody>
      </p:sp>
    </p:spTree>
    <p:extLst>
      <p:ext uri="{BB962C8B-B14F-4D97-AF65-F5344CB8AC3E}">
        <p14:creationId xmlns:p14="http://schemas.microsoft.com/office/powerpoint/2010/main" val="2280836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SP/PS Upgrade Path and Strategy</a:t>
            </a:r>
          </a:p>
        </p:txBody>
      </p:sp>
      <p:sp>
        <p:nvSpPr>
          <p:cNvPr id="5" name="Text Placeholder 2"/>
          <p:cNvSpPr txBox="1">
            <a:spLocks/>
          </p:cNvSpPr>
          <p:nvPr/>
        </p:nvSpPr>
        <p:spPr>
          <a:xfrm>
            <a:off x="381000" y="1708448"/>
            <a:ext cx="7559233" cy="3034627"/>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t>The process of updating an existing SharePoint installation to a newer major version.</a:t>
            </a:r>
          </a:p>
          <a:p>
            <a:pPr marL="514350" indent="-514350">
              <a:buAutoNum type="arabicParenR"/>
            </a:pPr>
            <a:r>
              <a:rPr lang="en-US" sz="2400" dirty="0"/>
              <a:t>Decide: Project Farm vs SharePoint Farm</a:t>
            </a:r>
          </a:p>
          <a:p>
            <a:pPr marL="514350" indent="-514350">
              <a:buAutoNum type="arabicParenR"/>
            </a:pPr>
            <a:r>
              <a:rPr lang="en-US" sz="2400" dirty="0"/>
              <a:t>Install and Configure SharePoint Farm</a:t>
            </a:r>
          </a:p>
          <a:p>
            <a:pPr marL="514350" indent="-514350">
              <a:buAutoNum type="arabicParenR"/>
            </a:pPr>
            <a:r>
              <a:rPr lang="en-US" sz="2400" dirty="0"/>
              <a:t>Configure SharePoint Services</a:t>
            </a:r>
          </a:p>
          <a:p>
            <a:pPr marL="514350" indent="-514350">
              <a:buAutoNum type="arabicParenR"/>
            </a:pPr>
            <a:r>
              <a:rPr lang="en-US" sz="2400" dirty="0"/>
              <a:t>Upgrade SharePoint Content</a:t>
            </a:r>
          </a:p>
          <a:p>
            <a:pPr marL="514350" indent="-514350">
              <a:buAutoNum type="arabicParenR"/>
            </a:pPr>
            <a:r>
              <a:rPr lang="en-US" sz="2400" dirty="0"/>
              <a:t>Upgrade Project Database</a:t>
            </a:r>
            <a:endParaRPr lang="en-CA" sz="2400" dirty="0"/>
          </a:p>
        </p:txBody>
      </p:sp>
      <p:sp>
        <p:nvSpPr>
          <p:cNvPr id="6" name="Rectangle 5"/>
          <p:cNvSpPr/>
          <p:nvPr/>
        </p:nvSpPr>
        <p:spPr bwMode="auto">
          <a:xfrm>
            <a:off x="381000" y="5149552"/>
            <a:ext cx="1716309"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000000"/>
                    </a:gs>
                    <a:gs pos="100000">
                      <a:srgbClr val="000000"/>
                    </a:gs>
                  </a:gsLst>
                  <a:lin ang="5400000" scaled="0"/>
                </a:gradFill>
              </a:rPr>
              <a:t>SharePoint /PWA 2010</a:t>
            </a:r>
          </a:p>
        </p:txBody>
      </p:sp>
      <p:sp>
        <p:nvSpPr>
          <p:cNvPr id="7" name="Rectangle 6"/>
          <p:cNvSpPr/>
          <p:nvPr/>
        </p:nvSpPr>
        <p:spPr bwMode="auto">
          <a:xfrm>
            <a:off x="2611181" y="5147748"/>
            <a:ext cx="1716309"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000000"/>
                    </a:gs>
                    <a:gs pos="100000">
                      <a:srgbClr val="000000"/>
                    </a:gs>
                  </a:gsLst>
                  <a:lin ang="5400000" scaled="0"/>
                </a:gradFill>
              </a:rPr>
              <a:t>SharePoint/PWA 2013</a:t>
            </a:r>
          </a:p>
        </p:txBody>
      </p:sp>
      <p:sp>
        <p:nvSpPr>
          <p:cNvPr id="8" name="Rectangle 7"/>
          <p:cNvSpPr/>
          <p:nvPr/>
        </p:nvSpPr>
        <p:spPr bwMode="auto">
          <a:xfrm>
            <a:off x="4863657" y="5201143"/>
            <a:ext cx="1716310" cy="107055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000000"/>
                    </a:gs>
                    <a:gs pos="100000">
                      <a:srgbClr val="000000"/>
                    </a:gs>
                  </a:gsLst>
                  <a:lin ang="5400000" scaled="0"/>
                </a:gradFill>
              </a:rPr>
              <a:t>SharePoint /PWA 2016</a:t>
            </a:r>
          </a:p>
        </p:txBody>
      </p:sp>
      <p:cxnSp>
        <p:nvCxnSpPr>
          <p:cNvPr id="15" name="Straight Arrow Connector 14"/>
          <p:cNvCxnSpPr>
            <a:cxnSpLocks/>
          </p:cNvCxnSpPr>
          <p:nvPr/>
        </p:nvCxnSpPr>
        <p:spPr>
          <a:xfrm flipV="1">
            <a:off x="4338684" y="5699581"/>
            <a:ext cx="513778" cy="1"/>
          </a:xfrm>
          <a:prstGeom prst="straightConnector1">
            <a:avLst/>
          </a:prstGeom>
          <a:ln w="63500">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p:cNvCxnSpPr>
            <a:cxnSpLocks/>
          </p:cNvCxnSpPr>
          <p:nvPr/>
        </p:nvCxnSpPr>
        <p:spPr>
          <a:xfrm>
            <a:off x="2115456" y="5699582"/>
            <a:ext cx="484531" cy="0"/>
          </a:xfrm>
          <a:prstGeom prst="straightConnector1">
            <a:avLst/>
          </a:prstGeom>
          <a:ln w="635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1" name="Rectangle 10">
            <a:extLst>
              <a:ext uri="{FF2B5EF4-FFF2-40B4-BE49-F238E27FC236}">
                <a16:creationId xmlns:a16="http://schemas.microsoft.com/office/drawing/2014/main" id="{7CAD25F2-8D5A-4158-ADA0-2EA7BE298F2C}"/>
              </a:ext>
            </a:extLst>
          </p:cNvPr>
          <p:cNvSpPr/>
          <p:nvPr/>
        </p:nvSpPr>
        <p:spPr bwMode="auto">
          <a:xfrm>
            <a:off x="7116134" y="5147748"/>
            <a:ext cx="1847489"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gradFill>
                  <a:gsLst>
                    <a:gs pos="0">
                      <a:srgbClr val="000000"/>
                    </a:gs>
                    <a:gs pos="100000">
                      <a:srgbClr val="000000"/>
                    </a:gs>
                  </a:gsLst>
                  <a:lin ang="5400000" scaled="0"/>
                </a:gradFill>
              </a:rPr>
              <a:t>SharePoint /PWA 2019</a:t>
            </a:r>
          </a:p>
        </p:txBody>
      </p:sp>
      <p:cxnSp>
        <p:nvCxnSpPr>
          <p:cNvPr id="13" name="Straight Arrow Connector 12">
            <a:extLst>
              <a:ext uri="{FF2B5EF4-FFF2-40B4-BE49-F238E27FC236}">
                <a16:creationId xmlns:a16="http://schemas.microsoft.com/office/drawing/2014/main" id="{C98B88AF-E19E-49BC-840E-99AB100B582E}"/>
              </a:ext>
            </a:extLst>
          </p:cNvPr>
          <p:cNvCxnSpPr>
            <a:cxnSpLocks/>
          </p:cNvCxnSpPr>
          <p:nvPr/>
        </p:nvCxnSpPr>
        <p:spPr>
          <a:xfrm flipV="1">
            <a:off x="6579967" y="5709723"/>
            <a:ext cx="513778" cy="1"/>
          </a:xfrm>
          <a:prstGeom prst="straightConnector1">
            <a:avLst/>
          </a:prstGeom>
          <a:ln w="63500">
            <a:solidFill>
              <a:schemeClr val="tx1"/>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25797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z="3600" dirty="0"/>
              <a:t>Project Server 2010 Architect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7882" y="1837252"/>
            <a:ext cx="4404000" cy="4640550"/>
          </a:xfrm>
          <a:prstGeom prst="rect">
            <a:avLst/>
          </a:prstGeom>
        </p:spPr>
      </p:pic>
      <p:cxnSp>
        <p:nvCxnSpPr>
          <p:cNvPr id="5" name="Straight Arrow Connector 4"/>
          <p:cNvCxnSpPr/>
          <p:nvPr/>
        </p:nvCxnSpPr>
        <p:spPr>
          <a:xfrm flipH="1">
            <a:off x="2208551" y="5206585"/>
            <a:ext cx="879422" cy="46469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086053" y="5161613"/>
            <a:ext cx="643422" cy="50966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3963554" y="5116643"/>
            <a:ext cx="643423" cy="51716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4841056" y="5116643"/>
            <a:ext cx="585383" cy="51716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339615"/>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79650" y="136525"/>
            <a:ext cx="6864350" cy="642938"/>
          </a:xfrm>
        </p:spPr>
        <p:txBody>
          <a:bodyPr/>
          <a:lstStyle/>
          <a:p>
            <a:r>
              <a:rPr lang="en-CA" sz="3200" dirty="0"/>
              <a:t>Project Server 2013 Architecture</a:t>
            </a:r>
          </a:p>
        </p:txBody>
      </p:sp>
      <p:pic>
        <p:nvPicPr>
          <p:cNvPr id="5" name="Picture 4"/>
          <p:cNvPicPr>
            <a:picLocks noChangeAspect="1"/>
          </p:cNvPicPr>
          <p:nvPr/>
        </p:nvPicPr>
        <p:blipFill>
          <a:blip r:embed="rId3"/>
          <a:stretch>
            <a:fillRect/>
          </a:stretch>
        </p:blipFill>
        <p:spPr>
          <a:xfrm>
            <a:off x="2124314" y="826694"/>
            <a:ext cx="4594119" cy="5893095"/>
          </a:xfrm>
          <a:prstGeom prst="rect">
            <a:avLst/>
          </a:prstGeom>
        </p:spPr>
      </p:pic>
      <p:cxnSp>
        <p:nvCxnSpPr>
          <p:cNvPr id="6" name="Straight Arrow Connector 5"/>
          <p:cNvCxnSpPr/>
          <p:nvPr/>
        </p:nvCxnSpPr>
        <p:spPr>
          <a:xfrm flipH="1" flipV="1">
            <a:off x="3693765" y="5726241"/>
            <a:ext cx="909403" cy="50467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748172"/>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76363" y="192088"/>
            <a:ext cx="7767637" cy="520700"/>
          </a:xfrm>
        </p:spPr>
        <p:txBody>
          <a:bodyPr/>
          <a:lstStyle/>
          <a:p>
            <a:r>
              <a:rPr lang="en-CA" sz="3200" dirty="0">
                <a:solidFill>
                  <a:schemeClr val="tx1"/>
                </a:solidFill>
              </a:rPr>
              <a:t>Project Server 2016 Architecture (unofficial)</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6129" y="782069"/>
            <a:ext cx="4619530" cy="5930975"/>
          </a:xfrm>
          <a:prstGeom prst="rect">
            <a:avLst/>
          </a:prstGeom>
        </p:spPr>
      </p:pic>
      <p:cxnSp>
        <p:nvCxnSpPr>
          <p:cNvPr id="7" name="Straight Arrow Connector 6"/>
          <p:cNvCxnSpPr/>
          <p:nvPr/>
        </p:nvCxnSpPr>
        <p:spPr>
          <a:xfrm flipV="1">
            <a:off x="4597400" y="5784956"/>
            <a:ext cx="303968" cy="38724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5-Point Star 5"/>
          <p:cNvSpPr/>
          <p:nvPr/>
        </p:nvSpPr>
        <p:spPr bwMode="auto">
          <a:xfrm>
            <a:off x="3111500" y="5270500"/>
            <a:ext cx="419100" cy="279400"/>
          </a:xfrm>
          <a:prstGeom prst="star5">
            <a:avLst/>
          </a:prstGeom>
          <a:solidFill>
            <a:srgbClr val="FF0000"/>
          </a:solidFill>
          <a:ln>
            <a:solidFill>
              <a:schemeClr val="accent4"/>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cxnSp>
        <p:nvCxnSpPr>
          <p:cNvPr id="9" name="Straight Arrow Connector 8"/>
          <p:cNvCxnSpPr/>
          <p:nvPr/>
        </p:nvCxnSpPr>
        <p:spPr>
          <a:xfrm>
            <a:off x="3479800" y="5549900"/>
            <a:ext cx="1111451" cy="57176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3204660"/>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Upgrade Path #1 for PS2016 to PS2019</a:t>
            </a:r>
          </a:p>
        </p:txBody>
      </p:sp>
      <p:sp>
        <p:nvSpPr>
          <p:cNvPr id="7" name="Rectangle 6"/>
          <p:cNvSpPr/>
          <p:nvPr/>
        </p:nvSpPr>
        <p:spPr bwMode="auto">
          <a:xfrm>
            <a:off x="3437681" y="2323580"/>
            <a:ext cx="1770927"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2016</a:t>
            </a:r>
          </a:p>
        </p:txBody>
      </p:sp>
      <p:sp>
        <p:nvSpPr>
          <p:cNvPr id="8" name="Rectangle 7"/>
          <p:cNvSpPr/>
          <p:nvPr/>
        </p:nvSpPr>
        <p:spPr bwMode="auto">
          <a:xfrm>
            <a:off x="6257099" y="2342630"/>
            <a:ext cx="1926202" cy="1123950"/>
          </a:xfrm>
          <a:prstGeom prst="rect">
            <a:avLst/>
          </a:prstGeom>
          <a:solidFill>
            <a:schemeClr val="tx1"/>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bg1"/>
                </a:solidFill>
              </a:rPr>
              <a:t>SharePoint</a:t>
            </a:r>
            <a:r>
              <a:rPr lang="en-US" sz="2400" dirty="0">
                <a:solidFill>
                  <a:schemeClr val="tx1"/>
                </a:solidFill>
              </a:rPr>
              <a:t>/ PWA 2016</a:t>
            </a:r>
          </a:p>
        </p:txBody>
      </p:sp>
      <p:cxnSp>
        <p:nvCxnSpPr>
          <p:cNvPr id="15" name="Straight Arrow Connector 14"/>
          <p:cNvCxnSpPr/>
          <p:nvPr/>
        </p:nvCxnSpPr>
        <p:spPr>
          <a:xfrm>
            <a:off x="5208608" y="2907070"/>
            <a:ext cx="1048491" cy="19050"/>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25" name="TextBox 24"/>
          <p:cNvSpPr txBox="1"/>
          <p:nvPr/>
        </p:nvSpPr>
        <p:spPr>
          <a:xfrm>
            <a:off x="604260" y="2323580"/>
            <a:ext cx="230098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PRODUCTION</a:t>
            </a:r>
          </a:p>
        </p:txBody>
      </p:sp>
      <p:sp>
        <p:nvSpPr>
          <p:cNvPr id="10" name="Rectangle 9"/>
          <p:cNvSpPr/>
          <p:nvPr/>
        </p:nvSpPr>
        <p:spPr bwMode="auto">
          <a:xfrm>
            <a:off x="6282175" y="3860841"/>
            <a:ext cx="1901126"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2019</a:t>
            </a:r>
          </a:p>
        </p:txBody>
      </p:sp>
      <p:cxnSp>
        <p:nvCxnSpPr>
          <p:cNvPr id="11" name="Straight Arrow Connector 10"/>
          <p:cNvCxnSpPr>
            <a:endCxn id="10" idx="1"/>
          </p:cNvCxnSpPr>
          <p:nvPr/>
        </p:nvCxnSpPr>
        <p:spPr>
          <a:xfrm>
            <a:off x="5208608" y="3447530"/>
            <a:ext cx="1073567" cy="975286"/>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2" name="TextBox 11"/>
          <p:cNvSpPr txBox="1"/>
          <p:nvPr/>
        </p:nvSpPr>
        <p:spPr>
          <a:xfrm>
            <a:off x="629336" y="3841791"/>
            <a:ext cx="2157164" cy="1702004"/>
          </a:xfrm>
          <a:prstGeom prst="rect">
            <a:avLst/>
          </a:prstGeom>
          <a:noFill/>
        </p:spPr>
        <p:txBody>
          <a:bodyPr wrap="square" lIns="182880" tIns="146304" rIns="182880" bIns="146304" rtlCol="0">
            <a:spAutoFit/>
          </a:bodyPr>
          <a:lstStyle/>
          <a:p>
            <a:pPr>
              <a:lnSpc>
                <a:spcPct val="90000"/>
              </a:lnSpc>
              <a:spcAft>
                <a:spcPts val="600"/>
              </a:spcAft>
            </a:pPr>
            <a:r>
              <a:rPr lang="en-US" sz="2400" dirty="0"/>
              <a:t>UAT</a:t>
            </a:r>
          </a:p>
          <a:p>
            <a:pPr>
              <a:lnSpc>
                <a:spcPct val="90000"/>
              </a:lnSpc>
              <a:spcAft>
                <a:spcPts val="600"/>
              </a:spcAft>
            </a:pPr>
            <a:r>
              <a:rPr lang="en-US" sz="2400" dirty="0"/>
              <a:t>(User Acceptance Testing)</a:t>
            </a:r>
          </a:p>
        </p:txBody>
      </p:sp>
      <p:cxnSp>
        <p:nvCxnSpPr>
          <p:cNvPr id="4" name="Straight Connector 3"/>
          <p:cNvCxnSpPr/>
          <p:nvPr/>
        </p:nvCxnSpPr>
        <p:spPr>
          <a:xfrm flipV="1">
            <a:off x="368300" y="3581400"/>
            <a:ext cx="8470900" cy="12700"/>
          </a:xfrm>
          <a:prstGeom prst="line">
            <a:avLst/>
          </a:prstGeom>
          <a:ln w="5080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905487" y="3797448"/>
            <a:ext cx="1126462" cy="1037207"/>
          </a:xfrm>
          <a:prstGeom prst="rect">
            <a:avLst/>
          </a:prstGeom>
          <a:noFill/>
        </p:spPr>
        <p:txBody>
          <a:bodyPr wrap="none" lIns="182880" tIns="146304" rIns="182880" bIns="146304" rtlCol="0">
            <a:spAutoFit/>
          </a:bodyPr>
          <a:lstStyle/>
          <a:p>
            <a:pPr>
              <a:lnSpc>
                <a:spcPct val="90000"/>
              </a:lnSpc>
              <a:spcAft>
                <a:spcPts val="600"/>
              </a:spcAft>
            </a:pPr>
            <a:r>
              <a:rPr lang="en-US" sz="2400" dirty="0"/>
              <a:t>1</a:t>
            </a:r>
            <a:r>
              <a:rPr lang="en-US" sz="2400" baseline="30000" dirty="0"/>
              <a:t>st</a:t>
            </a:r>
            <a:endParaRPr lang="en-US" sz="2400" dirty="0"/>
          </a:p>
          <a:p>
            <a:pPr>
              <a:lnSpc>
                <a:spcPct val="90000"/>
              </a:lnSpc>
              <a:spcAft>
                <a:spcPts val="600"/>
              </a:spcAft>
            </a:pPr>
            <a:r>
              <a:rPr lang="en-US" sz="2400" dirty="0"/>
              <a:t>3</a:t>
            </a:r>
            <a:r>
              <a:rPr lang="en-US" sz="2400" baseline="30000" dirty="0"/>
              <a:t>rd</a:t>
            </a:r>
            <a:r>
              <a:rPr lang="en-US" sz="2400" dirty="0"/>
              <a:t>…n</a:t>
            </a:r>
          </a:p>
        </p:txBody>
      </p:sp>
      <p:sp>
        <p:nvSpPr>
          <p:cNvPr id="13" name="TextBox 12"/>
          <p:cNvSpPr txBox="1"/>
          <p:nvPr/>
        </p:nvSpPr>
        <p:spPr>
          <a:xfrm>
            <a:off x="5380617" y="1690744"/>
            <a:ext cx="1002519" cy="1037207"/>
          </a:xfrm>
          <a:prstGeom prst="rect">
            <a:avLst/>
          </a:prstGeom>
          <a:noFill/>
        </p:spPr>
        <p:txBody>
          <a:bodyPr wrap="none" lIns="182880" tIns="146304" rIns="182880" bIns="146304" rtlCol="0">
            <a:spAutoFit/>
          </a:bodyPr>
          <a:lstStyle/>
          <a:p>
            <a:pPr>
              <a:lnSpc>
                <a:spcPct val="90000"/>
              </a:lnSpc>
              <a:spcAft>
                <a:spcPts val="600"/>
              </a:spcAft>
            </a:pPr>
            <a:r>
              <a:rPr lang="en-US" sz="2400" dirty="0"/>
              <a:t>2</a:t>
            </a:r>
            <a:r>
              <a:rPr lang="en-US" sz="2400" baseline="30000" dirty="0"/>
              <a:t>nd</a:t>
            </a:r>
            <a:endParaRPr lang="en-US" sz="2400" dirty="0"/>
          </a:p>
          <a:p>
            <a:pPr>
              <a:lnSpc>
                <a:spcPct val="90000"/>
              </a:lnSpc>
              <a:spcAft>
                <a:spcPts val="600"/>
              </a:spcAft>
            </a:pPr>
            <a:r>
              <a:rPr lang="en-US" sz="2400" dirty="0"/>
              <a:t>Final</a:t>
            </a:r>
          </a:p>
        </p:txBody>
      </p:sp>
    </p:spTree>
    <p:extLst>
      <p:ext uri="{BB962C8B-B14F-4D97-AF65-F5344CB8AC3E}">
        <p14:creationId xmlns:p14="http://schemas.microsoft.com/office/powerpoint/2010/main" val="18125569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Upgrade Path #2 for PS2016 to PS2019</a:t>
            </a:r>
          </a:p>
        </p:txBody>
      </p:sp>
      <p:sp>
        <p:nvSpPr>
          <p:cNvPr id="25" name="TextBox 24"/>
          <p:cNvSpPr txBox="1"/>
          <p:nvPr/>
        </p:nvSpPr>
        <p:spPr>
          <a:xfrm>
            <a:off x="604260" y="2323580"/>
            <a:ext cx="230098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PRODUCTION</a:t>
            </a:r>
          </a:p>
        </p:txBody>
      </p:sp>
      <p:sp>
        <p:nvSpPr>
          <p:cNvPr id="12" name="TextBox 11"/>
          <p:cNvSpPr txBox="1"/>
          <p:nvPr/>
        </p:nvSpPr>
        <p:spPr>
          <a:xfrm>
            <a:off x="629336" y="3841791"/>
            <a:ext cx="2157164"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UAT</a:t>
            </a:r>
          </a:p>
        </p:txBody>
      </p:sp>
      <p:sp>
        <p:nvSpPr>
          <p:cNvPr id="13" name="Rectangle 12"/>
          <p:cNvSpPr/>
          <p:nvPr/>
        </p:nvSpPr>
        <p:spPr bwMode="auto">
          <a:xfrm>
            <a:off x="3437681" y="2323580"/>
            <a:ext cx="1770927"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2016</a:t>
            </a:r>
          </a:p>
        </p:txBody>
      </p:sp>
      <p:sp>
        <p:nvSpPr>
          <p:cNvPr id="14" name="Rectangle 13"/>
          <p:cNvSpPr/>
          <p:nvPr/>
        </p:nvSpPr>
        <p:spPr bwMode="auto">
          <a:xfrm>
            <a:off x="6450737" y="1707929"/>
            <a:ext cx="1926202" cy="1123950"/>
          </a:xfrm>
          <a:prstGeom prst="rect">
            <a:avLst/>
          </a:prstGeom>
          <a:solidFill>
            <a:schemeClr val="tx1"/>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bg1"/>
                </a:solidFill>
              </a:rPr>
              <a:t>SharePoint/ PWA 2019</a:t>
            </a:r>
          </a:p>
        </p:txBody>
      </p:sp>
      <p:sp>
        <p:nvSpPr>
          <p:cNvPr id="17" name="Rectangle 16"/>
          <p:cNvSpPr/>
          <p:nvPr/>
        </p:nvSpPr>
        <p:spPr bwMode="auto">
          <a:xfrm>
            <a:off x="6282175" y="3860841"/>
            <a:ext cx="1901126"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2019</a:t>
            </a:r>
          </a:p>
        </p:txBody>
      </p:sp>
      <p:cxnSp>
        <p:nvCxnSpPr>
          <p:cNvPr id="18" name="Straight Arrow Connector 17"/>
          <p:cNvCxnSpPr>
            <a:endCxn id="17" idx="1"/>
          </p:cNvCxnSpPr>
          <p:nvPr/>
        </p:nvCxnSpPr>
        <p:spPr>
          <a:xfrm>
            <a:off x="5208608" y="3447530"/>
            <a:ext cx="1073567" cy="975286"/>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10" name="Straight Connector 9"/>
          <p:cNvCxnSpPr/>
          <p:nvPr/>
        </p:nvCxnSpPr>
        <p:spPr>
          <a:xfrm flipV="1">
            <a:off x="368300" y="3581400"/>
            <a:ext cx="8470900" cy="12700"/>
          </a:xfrm>
          <a:prstGeom prst="line">
            <a:avLst/>
          </a:prstGeom>
          <a:ln w="5080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7" idx="0"/>
          </p:cNvCxnSpPr>
          <p:nvPr/>
        </p:nvCxnSpPr>
        <p:spPr>
          <a:xfrm flipV="1">
            <a:off x="7232738" y="2778091"/>
            <a:ext cx="127311" cy="1082750"/>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1" name="TextBox 10"/>
          <p:cNvSpPr txBox="1"/>
          <p:nvPr/>
        </p:nvSpPr>
        <p:spPr>
          <a:xfrm>
            <a:off x="4765638" y="3980329"/>
            <a:ext cx="691536" cy="627864"/>
          </a:xfrm>
          <a:prstGeom prst="rect">
            <a:avLst/>
          </a:prstGeom>
          <a:noFill/>
        </p:spPr>
        <p:txBody>
          <a:bodyPr wrap="none" lIns="182880" tIns="146304" rIns="182880" bIns="146304" rtlCol="0">
            <a:spAutoFit/>
          </a:bodyPr>
          <a:lstStyle/>
          <a:p>
            <a:pPr>
              <a:lnSpc>
                <a:spcPct val="90000"/>
              </a:lnSpc>
              <a:spcAft>
                <a:spcPts val="600"/>
              </a:spcAft>
            </a:pPr>
            <a:r>
              <a:rPr lang="en-US" sz="2400" dirty="0"/>
              <a:t>1</a:t>
            </a:r>
            <a:r>
              <a:rPr lang="en-US" sz="2400" baseline="30000" dirty="0"/>
              <a:t>st</a:t>
            </a:r>
            <a:endParaRPr lang="en-US" sz="2400" dirty="0"/>
          </a:p>
        </p:txBody>
      </p:sp>
      <p:sp>
        <p:nvSpPr>
          <p:cNvPr id="15" name="TextBox 14"/>
          <p:cNvSpPr txBox="1"/>
          <p:nvPr/>
        </p:nvSpPr>
        <p:spPr>
          <a:xfrm>
            <a:off x="7478358" y="2863328"/>
            <a:ext cx="771686" cy="627864"/>
          </a:xfrm>
          <a:prstGeom prst="rect">
            <a:avLst/>
          </a:prstGeom>
          <a:noFill/>
        </p:spPr>
        <p:txBody>
          <a:bodyPr wrap="none" lIns="182880" tIns="146304" rIns="182880" bIns="146304" rtlCol="0">
            <a:spAutoFit/>
          </a:bodyPr>
          <a:lstStyle/>
          <a:p>
            <a:pPr>
              <a:lnSpc>
                <a:spcPct val="90000"/>
              </a:lnSpc>
              <a:spcAft>
                <a:spcPts val="600"/>
              </a:spcAft>
            </a:pPr>
            <a:r>
              <a:rPr lang="en-US" sz="2400" dirty="0"/>
              <a:t>2</a:t>
            </a:r>
            <a:r>
              <a:rPr lang="en-US" sz="2400" baseline="30000" dirty="0"/>
              <a:t>nd</a:t>
            </a:r>
            <a:endParaRPr lang="en-US" sz="2400" dirty="0"/>
          </a:p>
        </p:txBody>
      </p:sp>
    </p:spTree>
    <p:extLst>
      <p:ext uri="{BB962C8B-B14F-4D97-AF65-F5344CB8AC3E}">
        <p14:creationId xmlns:p14="http://schemas.microsoft.com/office/powerpoint/2010/main" val="41752519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Upgrade Path #3 for PS2013 to PS2019</a:t>
            </a:r>
          </a:p>
        </p:txBody>
      </p:sp>
      <p:sp>
        <p:nvSpPr>
          <p:cNvPr id="6" name="Rectangle 5"/>
          <p:cNvSpPr/>
          <p:nvPr/>
        </p:nvSpPr>
        <p:spPr bwMode="auto">
          <a:xfrm>
            <a:off x="1303168" y="2318818"/>
            <a:ext cx="2041915"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2013</a:t>
            </a:r>
          </a:p>
        </p:txBody>
      </p:sp>
      <p:sp>
        <p:nvSpPr>
          <p:cNvPr id="7" name="Rectangle 6"/>
          <p:cNvSpPr/>
          <p:nvPr/>
        </p:nvSpPr>
        <p:spPr bwMode="auto">
          <a:xfrm>
            <a:off x="3315382" y="3949889"/>
            <a:ext cx="2076951"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2016</a:t>
            </a:r>
          </a:p>
        </p:txBody>
      </p:sp>
      <p:sp>
        <p:nvSpPr>
          <p:cNvPr id="8" name="Rectangle 7"/>
          <p:cNvSpPr/>
          <p:nvPr/>
        </p:nvSpPr>
        <p:spPr bwMode="auto">
          <a:xfrm>
            <a:off x="6257099" y="2342630"/>
            <a:ext cx="2052734" cy="1123950"/>
          </a:xfrm>
          <a:prstGeom prst="rect">
            <a:avLst/>
          </a:prstGeom>
          <a:solidFill>
            <a:schemeClr val="tx1"/>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bg1"/>
                </a:solidFill>
              </a:rPr>
              <a:t>SharePoint/ PWA 2019</a:t>
            </a:r>
          </a:p>
        </p:txBody>
      </p:sp>
      <p:cxnSp>
        <p:nvCxnSpPr>
          <p:cNvPr id="14" name="Straight Arrow Connector 13"/>
          <p:cNvCxnSpPr/>
          <p:nvPr/>
        </p:nvCxnSpPr>
        <p:spPr>
          <a:xfrm>
            <a:off x="3416300" y="2921000"/>
            <a:ext cx="970505" cy="1050405"/>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15" name="Straight Arrow Connector 14"/>
          <p:cNvCxnSpPr/>
          <p:nvPr/>
        </p:nvCxnSpPr>
        <p:spPr>
          <a:xfrm flipV="1">
            <a:off x="5331142" y="2876031"/>
            <a:ext cx="992632" cy="1044772"/>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1" name="Rectangle 10"/>
          <p:cNvSpPr/>
          <p:nvPr/>
        </p:nvSpPr>
        <p:spPr bwMode="auto">
          <a:xfrm>
            <a:off x="6257099" y="3990455"/>
            <a:ext cx="2052734"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2019</a:t>
            </a:r>
          </a:p>
        </p:txBody>
      </p:sp>
      <p:cxnSp>
        <p:nvCxnSpPr>
          <p:cNvPr id="13" name="Straight Arrow Connector 12"/>
          <p:cNvCxnSpPr>
            <a:stCxn id="7" idx="3"/>
            <a:endCxn id="11" idx="1"/>
          </p:cNvCxnSpPr>
          <p:nvPr/>
        </p:nvCxnSpPr>
        <p:spPr>
          <a:xfrm>
            <a:off x="5392333" y="4511864"/>
            <a:ext cx="864766" cy="40566"/>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6" name="TextBox 15"/>
          <p:cNvSpPr txBox="1"/>
          <p:nvPr/>
        </p:nvSpPr>
        <p:spPr>
          <a:xfrm>
            <a:off x="534606" y="1705241"/>
            <a:ext cx="230098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PRODUCTION</a:t>
            </a:r>
          </a:p>
        </p:txBody>
      </p:sp>
      <p:sp>
        <p:nvSpPr>
          <p:cNvPr id="17" name="TextBox 16"/>
          <p:cNvSpPr txBox="1"/>
          <p:nvPr/>
        </p:nvSpPr>
        <p:spPr>
          <a:xfrm>
            <a:off x="689055" y="4084919"/>
            <a:ext cx="2157164"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UAT</a:t>
            </a:r>
          </a:p>
        </p:txBody>
      </p:sp>
      <p:cxnSp>
        <p:nvCxnSpPr>
          <p:cNvPr id="12" name="Straight Connector 11"/>
          <p:cNvCxnSpPr/>
          <p:nvPr/>
        </p:nvCxnSpPr>
        <p:spPr>
          <a:xfrm flipV="1">
            <a:off x="381000" y="3746500"/>
            <a:ext cx="8470900" cy="12700"/>
          </a:xfrm>
          <a:prstGeom prst="line">
            <a:avLst/>
          </a:prstGeom>
          <a:ln w="5080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3164840" y="5085827"/>
            <a:ext cx="221759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t>Temp Staging</a:t>
            </a:r>
          </a:p>
        </p:txBody>
      </p:sp>
      <p:sp>
        <p:nvSpPr>
          <p:cNvPr id="18" name="TextBox 17"/>
          <p:cNvSpPr txBox="1"/>
          <p:nvPr/>
        </p:nvSpPr>
        <p:spPr>
          <a:xfrm>
            <a:off x="3775933" y="2581834"/>
            <a:ext cx="750847" cy="1037207"/>
          </a:xfrm>
          <a:prstGeom prst="rect">
            <a:avLst/>
          </a:prstGeom>
          <a:noFill/>
        </p:spPr>
        <p:txBody>
          <a:bodyPr wrap="none" lIns="182880" tIns="146304" rIns="182880" bIns="146304" rtlCol="0">
            <a:spAutoFit/>
          </a:bodyPr>
          <a:lstStyle/>
          <a:p>
            <a:pPr>
              <a:lnSpc>
                <a:spcPct val="90000"/>
              </a:lnSpc>
              <a:spcAft>
                <a:spcPts val="600"/>
              </a:spcAft>
            </a:pPr>
            <a:r>
              <a:rPr lang="en-US" sz="2400" dirty="0"/>
              <a:t>1</a:t>
            </a:r>
            <a:r>
              <a:rPr lang="en-US" sz="2400" baseline="30000" dirty="0"/>
              <a:t>st</a:t>
            </a:r>
          </a:p>
          <a:p>
            <a:pPr>
              <a:lnSpc>
                <a:spcPct val="90000"/>
              </a:lnSpc>
              <a:spcAft>
                <a:spcPts val="600"/>
              </a:spcAft>
            </a:pPr>
            <a:r>
              <a:rPr lang="en-US" sz="2400" baseline="30000" dirty="0" err="1"/>
              <a:t>n..m</a:t>
            </a:r>
            <a:endParaRPr lang="en-US" sz="2400" dirty="0"/>
          </a:p>
        </p:txBody>
      </p:sp>
      <p:sp>
        <p:nvSpPr>
          <p:cNvPr id="19" name="TextBox 18"/>
          <p:cNvSpPr txBox="1"/>
          <p:nvPr/>
        </p:nvSpPr>
        <p:spPr>
          <a:xfrm>
            <a:off x="5273041" y="2164080"/>
            <a:ext cx="1002519" cy="1037207"/>
          </a:xfrm>
          <a:prstGeom prst="rect">
            <a:avLst/>
          </a:prstGeom>
          <a:noFill/>
        </p:spPr>
        <p:txBody>
          <a:bodyPr wrap="none" lIns="182880" tIns="146304" rIns="182880" bIns="146304" rtlCol="0">
            <a:spAutoFit/>
          </a:bodyPr>
          <a:lstStyle/>
          <a:p>
            <a:pPr>
              <a:lnSpc>
                <a:spcPct val="90000"/>
              </a:lnSpc>
              <a:spcAft>
                <a:spcPts val="600"/>
              </a:spcAft>
            </a:pPr>
            <a:r>
              <a:rPr lang="en-US" sz="2400" dirty="0"/>
              <a:t>3</a:t>
            </a:r>
            <a:r>
              <a:rPr lang="en-US" sz="2400" baseline="30000" dirty="0"/>
              <a:t>rd</a:t>
            </a:r>
            <a:endParaRPr lang="en-US" sz="2400" dirty="0"/>
          </a:p>
          <a:p>
            <a:pPr>
              <a:lnSpc>
                <a:spcPct val="90000"/>
              </a:lnSpc>
              <a:spcAft>
                <a:spcPts val="600"/>
              </a:spcAft>
            </a:pPr>
            <a:r>
              <a:rPr lang="en-US" sz="2400" dirty="0"/>
              <a:t>Final</a:t>
            </a:r>
          </a:p>
        </p:txBody>
      </p:sp>
      <p:sp>
        <p:nvSpPr>
          <p:cNvPr id="20" name="TextBox 19"/>
          <p:cNvSpPr txBox="1"/>
          <p:nvPr/>
        </p:nvSpPr>
        <p:spPr>
          <a:xfrm>
            <a:off x="5497157" y="4593514"/>
            <a:ext cx="923971" cy="926407"/>
          </a:xfrm>
          <a:prstGeom prst="rect">
            <a:avLst/>
          </a:prstGeom>
          <a:noFill/>
        </p:spPr>
        <p:txBody>
          <a:bodyPr wrap="none" lIns="182880" tIns="146304" rIns="182880" bIns="146304" rtlCol="0">
            <a:spAutoFit/>
          </a:bodyPr>
          <a:lstStyle/>
          <a:p>
            <a:pPr>
              <a:lnSpc>
                <a:spcPct val="90000"/>
              </a:lnSpc>
              <a:spcAft>
                <a:spcPts val="600"/>
              </a:spcAft>
            </a:pPr>
            <a:r>
              <a:rPr lang="en-US" sz="2000" dirty="0"/>
              <a:t>2nd</a:t>
            </a:r>
          </a:p>
          <a:p>
            <a:pPr>
              <a:lnSpc>
                <a:spcPct val="90000"/>
              </a:lnSpc>
              <a:spcAft>
                <a:spcPts val="600"/>
              </a:spcAft>
            </a:pPr>
            <a:r>
              <a:rPr lang="en-US" sz="2000" dirty="0"/>
              <a:t>m…n</a:t>
            </a:r>
          </a:p>
        </p:txBody>
      </p:sp>
    </p:spTree>
    <p:extLst>
      <p:ext uri="{BB962C8B-B14F-4D97-AF65-F5344CB8AC3E}">
        <p14:creationId xmlns:p14="http://schemas.microsoft.com/office/powerpoint/2010/main" val="2547346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914096"/>
          </a:xfrm>
        </p:spPr>
        <p:txBody>
          <a:bodyPr/>
          <a:lstStyle/>
          <a:p>
            <a:pPr algn="ctr"/>
            <a:r>
              <a:rPr lang="en-US" dirty="0">
                <a:solidFill>
                  <a:schemeClr val="tx1"/>
                </a:solidFill>
              </a:rPr>
              <a:t>Upgrade Path #4 for PS2013 to PS2019</a:t>
            </a:r>
            <a:br>
              <a:rPr lang="en-US" dirty="0">
                <a:solidFill>
                  <a:schemeClr val="tx1"/>
                </a:solidFill>
              </a:rPr>
            </a:br>
            <a:r>
              <a:rPr lang="en-US" dirty="0">
                <a:solidFill>
                  <a:schemeClr val="tx1"/>
                </a:solidFill>
              </a:rPr>
              <a:t>non-compliant 2010 version</a:t>
            </a:r>
          </a:p>
        </p:txBody>
      </p:sp>
      <p:sp>
        <p:nvSpPr>
          <p:cNvPr id="6" name="Rectangle 5"/>
          <p:cNvSpPr/>
          <p:nvPr/>
        </p:nvSpPr>
        <p:spPr bwMode="auto">
          <a:xfrm>
            <a:off x="868604" y="2333105"/>
            <a:ext cx="2314936"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2013</a:t>
            </a:r>
          </a:p>
        </p:txBody>
      </p:sp>
      <p:sp>
        <p:nvSpPr>
          <p:cNvPr id="7" name="Rectangle 6"/>
          <p:cNvSpPr/>
          <p:nvPr/>
        </p:nvSpPr>
        <p:spPr bwMode="auto">
          <a:xfrm>
            <a:off x="4145202" y="4376521"/>
            <a:ext cx="1543050"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Project Server 2016</a:t>
            </a:r>
          </a:p>
        </p:txBody>
      </p:sp>
      <p:sp>
        <p:nvSpPr>
          <p:cNvPr id="8" name="Rectangle 7"/>
          <p:cNvSpPr/>
          <p:nvPr/>
        </p:nvSpPr>
        <p:spPr bwMode="auto">
          <a:xfrm>
            <a:off x="6257099" y="2342630"/>
            <a:ext cx="2366040" cy="1123950"/>
          </a:xfrm>
          <a:prstGeom prst="rect">
            <a:avLst/>
          </a:prstGeom>
          <a:solidFill>
            <a:schemeClr val="tx1"/>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bg1"/>
                </a:solidFill>
              </a:rPr>
              <a:t>SharePoint/ PWA 2019</a:t>
            </a:r>
          </a:p>
        </p:txBody>
      </p:sp>
      <p:cxnSp>
        <p:nvCxnSpPr>
          <p:cNvPr id="14" name="Straight Arrow Connector 13"/>
          <p:cNvCxnSpPr>
            <a:stCxn id="6" idx="2"/>
            <a:endCxn id="12" idx="0"/>
          </p:cNvCxnSpPr>
          <p:nvPr/>
        </p:nvCxnSpPr>
        <p:spPr>
          <a:xfrm>
            <a:off x="2026072" y="3457055"/>
            <a:ext cx="11324" cy="919466"/>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1" name="Rectangle 10"/>
          <p:cNvSpPr/>
          <p:nvPr/>
        </p:nvSpPr>
        <p:spPr bwMode="auto">
          <a:xfrm>
            <a:off x="6257099" y="4395571"/>
            <a:ext cx="2366040"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2019</a:t>
            </a:r>
          </a:p>
        </p:txBody>
      </p:sp>
      <p:cxnSp>
        <p:nvCxnSpPr>
          <p:cNvPr id="13" name="Straight Arrow Connector 12"/>
          <p:cNvCxnSpPr/>
          <p:nvPr/>
        </p:nvCxnSpPr>
        <p:spPr>
          <a:xfrm>
            <a:off x="5790374" y="4849794"/>
            <a:ext cx="466725" cy="24311"/>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6" name="TextBox 15"/>
          <p:cNvSpPr txBox="1"/>
          <p:nvPr/>
        </p:nvSpPr>
        <p:spPr>
          <a:xfrm>
            <a:off x="534606" y="1705241"/>
            <a:ext cx="230098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PRODUCTION</a:t>
            </a:r>
          </a:p>
        </p:txBody>
      </p:sp>
      <p:sp>
        <p:nvSpPr>
          <p:cNvPr id="17" name="TextBox 16"/>
          <p:cNvSpPr txBox="1"/>
          <p:nvPr/>
        </p:nvSpPr>
        <p:spPr>
          <a:xfrm>
            <a:off x="171791" y="3959013"/>
            <a:ext cx="2157164"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UAT</a:t>
            </a:r>
          </a:p>
        </p:txBody>
      </p:sp>
      <p:sp>
        <p:nvSpPr>
          <p:cNvPr id="12" name="Rectangle 11"/>
          <p:cNvSpPr/>
          <p:nvPr/>
        </p:nvSpPr>
        <p:spPr bwMode="auto">
          <a:xfrm>
            <a:off x="891252" y="4376521"/>
            <a:ext cx="2292288"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Stage PWA 2013</a:t>
            </a:r>
          </a:p>
        </p:txBody>
      </p:sp>
      <p:cxnSp>
        <p:nvCxnSpPr>
          <p:cNvPr id="18" name="Straight Arrow Connector 17"/>
          <p:cNvCxnSpPr>
            <a:endCxn id="7" idx="1"/>
          </p:cNvCxnSpPr>
          <p:nvPr/>
        </p:nvCxnSpPr>
        <p:spPr>
          <a:xfrm>
            <a:off x="3095460" y="4926885"/>
            <a:ext cx="1049742" cy="11611"/>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19" name="Straight Connector 18"/>
          <p:cNvCxnSpPr/>
          <p:nvPr/>
        </p:nvCxnSpPr>
        <p:spPr>
          <a:xfrm flipV="1">
            <a:off x="292100" y="3797300"/>
            <a:ext cx="8470900" cy="12700"/>
          </a:xfrm>
          <a:prstGeom prst="line">
            <a:avLst/>
          </a:prstGeom>
          <a:ln w="5080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4988242" y="3022600"/>
            <a:ext cx="1247458" cy="1279203"/>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20" name="TextBox 19"/>
          <p:cNvSpPr txBox="1"/>
          <p:nvPr/>
        </p:nvSpPr>
        <p:spPr>
          <a:xfrm>
            <a:off x="3708400" y="5499100"/>
            <a:ext cx="221759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t>Temp Staging</a:t>
            </a:r>
          </a:p>
        </p:txBody>
      </p:sp>
      <p:sp>
        <p:nvSpPr>
          <p:cNvPr id="21" name="TextBox 20"/>
          <p:cNvSpPr txBox="1"/>
          <p:nvPr/>
        </p:nvSpPr>
        <p:spPr>
          <a:xfrm>
            <a:off x="774700" y="5499100"/>
            <a:ext cx="221759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t>Temp Staging</a:t>
            </a:r>
          </a:p>
        </p:txBody>
      </p:sp>
    </p:spTree>
    <p:extLst>
      <p:ext uri="{BB962C8B-B14F-4D97-AF65-F5344CB8AC3E}">
        <p14:creationId xmlns:p14="http://schemas.microsoft.com/office/powerpoint/2010/main" val="1724154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Arrow Connector 17"/>
          <p:cNvCxnSpPr>
            <a:stCxn id="23" idx="3"/>
            <a:endCxn id="7" idx="1"/>
          </p:cNvCxnSpPr>
          <p:nvPr/>
        </p:nvCxnSpPr>
        <p:spPr>
          <a:xfrm>
            <a:off x="1418136" y="5069520"/>
            <a:ext cx="4545577" cy="14049"/>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2" name="Title 1"/>
          <p:cNvSpPr>
            <a:spLocks noGrp="1"/>
          </p:cNvSpPr>
          <p:nvPr>
            <p:ph type="title"/>
          </p:nvPr>
        </p:nvSpPr>
        <p:spPr/>
        <p:txBody>
          <a:bodyPr/>
          <a:lstStyle/>
          <a:p>
            <a:pPr algn="ctr"/>
            <a:r>
              <a:rPr lang="en-US" dirty="0">
                <a:solidFill>
                  <a:schemeClr val="tx1"/>
                </a:solidFill>
              </a:rPr>
              <a:t>Upgrade Path #5 for PS20xx to PS2016</a:t>
            </a:r>
          </a:p>
        </p:txBody>
      </p:sp>
      <p:sp>
        <p:nvSpPr>
          <p:cNvPr id="6" name="Rectangle 5"/>
          <p:cNvSpPr/>
          <p:nvPr/>
        </p:nvSpPr>
        <p:spPr bwMode="auto">
          <a:xfrm>
            <a:off x="868604" y="2333105"/>
            <a:ext cx="2025671" cy="112395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SharePoint/ PWA 20xx</a:t>
            </a:r>
          </a:p>
        </p:txBody>
      </p:sp>
      <p:sp>
        <p:nvSpPr>
          <p:cNvPr id="7" name="Rectangle 6"/>
          <p:cNvSpPr/>
          <p:nvPr/>
        </p:nvSpPr>
        <p:spPr bwMode="auto">
          <a:xfrm>
            <a:off x="5963713" y="4536438"/>
            <a:ext cx="1074935" cy="1094262"/>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Stage</a:t>
            </a:r>
          </a:p>
          <a:p>
            <a:pPr algn="ctr" defTabSz="914099"/>
            <a:r>
              <a:rPr lang="en-US" sz="2400" dirty="0">
                <a:solidFill>
                  <a:schemeClr val="tx1"/>
                </a:solidFill>
              </a:rPr>
              <a:t>PWA</a:t>
            </a:r>
          </a:p>
          <a:p>
            <a:pPr algn="ctr" defTabSz="914099"/>
            <a:r>
              <a:rPr lang="en-US" sz="2400" dirty="0">
                <a:solidFill>
                  <a:schemeClr val="tx1"/>
                </a:solidFill>
              </a:rPr>
              <a:t>2016</a:t>
            </a:r>
          </a:p>
        </p:txBody>
      </p:sp>
      <p:sp>
        <p:nvSpPr>
          <p:cNvPr id="8" name="Rectangle 7"/>
          <p:cNvSpPr/>
          <p:nvPr/>
        </p:nvSpPr>
        <p:spPr bwMode="auto">
          <a:xfrm>
            <a:off x="6901731" y="2375195"/>
            <a:ext cx="1993255" cy="1123950"/>
          </a:xfrm>
          <a:prstGeom prst="rect">
            <a:avLst/>
          </a:prstGeom>
          <a:solidFill>
            <a:schemeClr val="tx1"/>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bg1"/>
                </a:solidFill>
              </a:rPr>
              <a:t>SharePoint/ PWA 2019</a:t>
            </a:r>
          </a:p>
        </p:txBody>
      </p:sp>
      <p:sp>
        <p:nvSpPr>
          <p:cNvPr id="11" name="Rectangle 10"/>
          <p:cNvSpPr/>
          <p:nvPr/>
        </p:nvSpPr>
        <p:spPr bwMode="auto">
          <a:xfrm>
            <a:off x="7561694" y="4526507"/>
            <a:ext cx="1410515" cy="1082525"/>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dirty="0">
                <a:solidFill>
                  <a:schemeClr val="tx1"/>
                </a:solidFill>
              </a:rPr>
              <a:t>SharePoint/ PWA 2019</a:t>
            </a:r>
          </a:p>
        </p:txBody>
      </p:sp>
      <p:cxnSp>
        <p:nvCxnSpPr>
          <p:cNvPr id="13" name="Straight Arrow Connector 12"/>
          <p:cNvCxnSpPr>
            <a:cxnSpLocks/>
            <a:endCxn id="11" idx="1"/>
          </p:cNvCxnSpPr>
          <p:nvPr/>
        </p:nvCxnSpPr>
        <p:spPr>
          <a:xfrm>
            <a:off x="7027738" y="5047058"/>
            <a:ext cx="533956" cy="20712"/>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16" name="TextBox 15"/>
          <p:cNvSpPr txBox="1"/>
          <p:nvPr/>
        </p:nvSpPr>
        <p:spPr>
          <a:xfrm>
            <a:off x="534606" y="1705241"/>
            <a:ext cx="230098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PRODUCTION</a:t>
            </a:r>
          </a:p>
        </p:txBody>
      </p:sp>
      <p:sp>
        <p:nvSpPr>
          <p:cNvPr id="17" name="TextBox 16"/>
          <p:cNvSpPr txBox="1"/>
          <p:nvPr/>
        </p:nvSpPr>
        <p:spPr>
          <a:xfrm>
            <a:off x="171791" y="3959013"/>
            <a:ext cx="2157164"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UAT</a:t>
            </a:r>
          </a:p>
        </p:txBody>
      </p:sp>
      <p:sp>
        <p:nvSpPr>
          <p:cNvPr id="12" name="Rectangle 11"/>
          <p:cNvSpPr/>
          <p:nvPr/>
        </p:nvSpPr>
        <p:spPr bwMode="auto">
          <a:xfrm>
            <a:off x="4461631" y="4506750"/>
            <a:ext cx="1073853"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Stage PWA 2013</a:t>
            </a:r>
          </a:p>
        </p:txBody>
      </p:sp>
      <p:cxnSp>
        <p:nvCxnSpPr>
          <p:cNvPr id="19" name="Straight Connector 18"/>
          <p:cNvCxnSpPr/>
          <p:nvPr/>
        </p:nvCxnSpPr>
        <p:spPr>
          <a:xfrm flipV="1">
            <a:off x="292100" y="3797300"/>
            <a:ext cx="8470900" cy="12700"/>
          </a:xfrm>
          <a:prstGeom prst="line">
            <a:avLst/>
          </a:prstGeom>
          <a:ln w="5080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a:stCxn id="7" idx="0"/>
          </p:cNvCxnSpPr>
          <p:nvPr/>
        </p:nvCxnSpPr>
        <p:spPr>
          <a:xfrm flipV="1">
            <a:off x="6501181" y="3080792"/>
            <a:ext cx="410021" cy="1455646"/>
          </a:xfrm>
          <a:prstGeom prst="straightConnector1">
            <a:avLst/>
          </a:prstGeom>
          <a:ln w="50800">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20" name="TextBox 19"/>
          <p:cNvSpPr txBox="1"/>
          <p:nvPr/>
        </p:nvSpPr>
        <p:spPr>
          <a:xfrm>
            <a:off x="1250373" y="5630993"/>
            <a:ext cx="2333830"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Temp Staging</a:t>
            </a:r>
          </a:p>
        </p:txBody>
      </p:sp>
      <p:sp>
        <p:nvSpPr>
          <p:cNvPr id="22" name="Rectangle 21"/>
          <p:cNvSpPr/>
          <p:nvPr/>
        </p:nvSpPr>
        <p:spPr bwMode="auto">
          <a:xfrm>
            <a:off x="1691980" y="4507545"/>
            <a:ext cx="1164063"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Stage PWA 2007</a:t>
            </a:r>
          </a:p>
        </p:txBody>
      </p:sp>
      <p:sp>
        <p:nvSpPr>
          <p:cNvPr id="23" name="Rectangle 22"/>
          <p:cNvSpPr/>
          <p:nvPr/>
        </p:nvSpPr>
        <p:spPr bwMode="auto">
          <a:xfrm>
            <a:off x="319071" y="4507545"/>
            <a:ext cx="1099065"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Stage PWA 2003</a:t>
            </a:r>
          </a:p>
        </p:txBody>
      </p:sp>
      <p:cxnSp>
        <p:nvCxnSpPr>
          <p:cNvPr id="35" name="Straight Arrow Connector 34"/>
          <p:cNvCxnSpPr>
            <a:stCxn id="6" idx="2"/>
          </p:cNvCxnSpPr>
          <p:nvPr/>
        </p:nvCxnSpPr>
        <p:spPr>
          <a:xfrm flipH="1">
            <a:off x="1881439" y="3457055"/>
            <a:ext cx="1" cy="815890"/>
          </a:xfrm>
          <a:prstGeom prst="straightConnector1">
            <a:avLst/>
          </a:prstGeom>
          <a:ln w="50800">
            <a:solidFill>
              <a:schemeClr val="tx1"/>
            </a:solidFill>
            <a:prstDash val="sysDash"/>
            <a:tailEnd type="triangle"/>
          </a:ln>
        </p:spPr>
        <p:style>
          <a:lnRef idx="3">
            <a:schemeClr val="accent4"/>
          </a:lnRef>
          <a:fillRef idx="0">
            <a:schemeClr val="accent4"/>
          </a:fillRef>
          <a:effectRef idx="2">
            <a:schemeClr val="accent4"/>
          </a:effectRef>
          <a:fontRef idx="minor">
            <a:schemeClr val="tx1"/>
          </a:fontRef>
        </p:style>
      </p:cxnSp>
      <p:sp>
        <p:nvSpPr>
          <p:cNvPr id="41" name="TextBox 40"/>
          <p:cNvSpPr txBox="1"/>
          <p:nvPr/>
        </p:nvSpPr>
        <p:spPr>
          <a:xfrm>
            <a:off x="4161100" y="5609033"/>
            <a:ext cx="2333830"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t>Temp Staging</a:t>
            </a:r>
          </a:p>
        </p:txBody>
      </p:sp>
      <p:sp>
        <p:nvSpPr>
          <p:cNvPr id="21" name="Rectangle 20">
            <a:extLst>
              <a:ext uri="{FF2B5EF4-FFF2-40B4-BE49-F238E27FC236}">
                <a16:creationId xmlns:a16="http://schemas.microsoft.com/office/drawing/2014/main" id="{92A23D69-8BC3-4C28-99DB-C1806252E59C}"/>
              </a:ext>
            </a:extLst>
          </p:cNvPr>
          <p:cNvSpPr/>
          <p:nvPr/>
        </p:nvSpPr>
        <p:spPr bwMode="auto">
          <a:xfrm>
            <a:off x="3094336" y="4507545"/>
            <a:ext cx="1164063" cy="1123950"/>
          </a:xfrm>
          <a:prstGeom prst="rect">
            <a:avLst/>
          </a:prstGeom>
          <a:solidFill>
            <a:srgbClr val="FFFF00"/>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36" tIns="45718" rIns="91436" bIns="45718" numCol="1" rtlCol="0" anchor="ctr" anchorCtr="0" compatLnSpc="1">
            <a:prstTxWarp prst="textNoShape">
              <a:avLst/>
            </a:prstTxWarp>
          </a:bodyPr>
          <a:lstStyle/>
          <a:p>
            <a:pPr algn="ctr" defTabSz="914099"/>
            <a:r>
              <a:rPr lang="en-US" sz="2400" dirty="0">
                <a:solidFill>
                  <a:schemeClr val="tx1"/>
                </a:solidFill>
              </a:rPr>
              <a:t>Stage PWA 2010</a:t>
            </a:r>
          </a:p>
        </p:txBody>
      </p:sp>
    </p:spTree>
    <p:extLst>
      <p:ext uri="{BB962C8B-B14F-4D97-AF65-F5344CB8AC3E}">
        <p14:creationId xmlns:p14="http://schemas.microsoft.com/office/powerpoint/2010/main" val="4092280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FF4F4-4620-4430-9A9F-8323AEEF9CEA}"/>
              </a:ext>
            </a:extLst>
          </p:cNvPr>
          <p:cNvSpPr>
            <a:spLocks noGrp="1"/>
          </p:cNvSpPr>
          <p:nvPr>
            <p:ph type="title"/>
          </p:nvPr>
        </p:nvSpPr>
        <p:spPr>
          <a:xfrm>
            <a:off x="381000" y="990600"/>
            <a:ext cx="8363938" cy="664797"/>
          </a:xfrm>
        </p:spPr>
        <p:txBody>
          <a:bodyPr/>
          <a:lstStyle/>
          <a:p>
            <a:pPr algn="ctr"/>
            <a:r>
              <a:rPr lang="en-US" sz="4800" dirty="0"/>
              <a:t>Building</a:t>
            </a:r>
          </a:p>
        </p:txBody>
      </p:sp>
      <p:pic>
        <p:nvPicPr>
          <p:cNvPr id="4" name="Picture 3">
            <a:extLst>
              <a:ext uri="{FF2B5EF4-FFF2-40B4-BE49-F238E27FC236}">
                <a16:creationId xmlns:a16="http://schemas.microsoft.com/office/drawing/2014/main" id="{5540373B-7E7A-4B60-9924-34CE6505A7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36399"/>
            <a:ext cx="9144000" cy="4609994"/>
          </a:xfrm>
          <a:prstGeom prst="rect">
            <a:avLst/>
          </a:prstGeom>
        </p:spPr>
      </p:pic>
    </p:spTree>
    <p:extLst>
      <p:ext uri="{BB962C8B-B14F-4D97-AF65-F5344CB8AC3E}">
        <p14:creationId xmlns:p14="http://schemas.microsoft.com/office/powerpoint/2010/main" val="154363568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553998"/>
          </a:xfrm>
        </p:spPr>
        <p:txBody>
          <a:bodyPr/>
          <a:lstStyle/>
          <a:p>
            <a:r>
              <a:rPr lang="en-CA" sz="4000" dirty="0">
                <a:solidFill>
                  <a:schemeClr val="tx1"/>
                </a:solidFill>
              </a:rPr>
              <a:t>Major Steps to SharePoint Upgrade</a:t>
            </a:r>
          </a:p>
        </p:txBody>
      </p:sp>
      <p:sp>
        <p:nvSpPr>
          <p:cNvPr id="4" name="Text Placeholder 2"/>
          <p:cNvSpPr txBox="1">
            <a:spLocks/>
          </p:cNvSpPr>
          <p:nvPr/>
        </p:nvSpPr>
        <p:spPr>
          <a:xfrm>
            <a:off x="456453" y="1723048"/>
            <a:ext cx="8382000" cy="4056495"/>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400" dirty="0">
                <a:solidFill>
                  <a:schemeClr val="tx1"/>
                </a:solidFill>
              </a:rPr>
              <a:t>Create SharePoint 2019 Farm Servers</a:t>
            </a:r>
          </a:p>
          <a:p>
            <a:r>
              <a:rPr lang="en-CA" sz="2400" dirty="0">
                <a:solidFill>
                  <a:schemeClr val="tx1"/>
                </a:solidFill>
              </a:rPr>
              <a:t>Create SQL Server Scripts</a:t>
            </a:r>
          </a:p>
          <a:p>
            <a:pPr lvl="1"/>
            <a:r>
              <a:rPr lang="en-CA" sz="2000" dirty="0">
                <a:solidFill>
                  <a:schemeClr val="tx1"/>
                </a:solidFill>
              </a:rPr>
              <a:t>Backups SQL Server 2016 databases</a:t>
            </a:r>
          </a:p>
          <a:p>
            <a:pPr lvl="1"/>
            <a:r>
              <a:rPr lang="en-CA" sz="2000" dirty="0">
                <a:solidFill>
                  <a:schemeClr val="tx1"/>
                </a:solidFill>
              </a:rPr>
              <a:t>Restore on 2019 BAK file SQL Sever</a:t>
            </a:r>
          </a:p>
          <a:p>
            <a:pPr lvl="1"/>
            <a:r>
              <a:rPr lang="en-CA" sz="2000" dirty="0">
                <a:solidFill>
                  <a:schemeClr val="tx1"/>
                </a:solidFill>
              </a:rPr>
              <a:t>Security Setup</a:t>
            </a:r>
          </a:p>
          <a:p>
            <a:r>
              <a:rPr lang="en-CA" sz="2400" dirty="0">
                <a:solidFill>
                  <a:schemeClr val="tx1"/>
                </a:solidFill>
              </a:rPr>
              <a:t>Create PowerShell Scripts</a:t>
            </a:r>
          </a:p>
          <a:p>
            <a:pPr lvl="1"/>
            <a:r>
              <a:rPr lang="en-CA" sz="2000" dirty="0">
                <a:solidFill>
                  <a:schemeClr val="tx1"/>
                </a:solidFill>
              </a:rPr>
              <a:t>Time each PowerShell command (measure-command)</a:t>
            </a:r>
          </a:p>
          <a:p>
            <a:pPr lvl="1"/>
            <a:r>
              <a:rPr lang="en-CA" sz="2000" dirty="0">
                <a:solidFill>
                  <a:schemeClr val="tx1"/>
                </a:solidFill>
              </a:rPr>
              <a:t>Log all output </a:t>
            </a:r>
          </a:p>
          <a:p>
            <a:pPr lvl="1"/>
            <a:r>
              <a:rPr lang="en-CA" sz="2000" dirty="0">
                <a:solidFill>
                  <a:schemeClr val="tx1"/>
                </a:solidFill>
              </a:rPr>
              <a:t>Make Notes</a:t>
            </a:r>
          </a:p>
          <a:p>
            <a:r>
              <a:rPr lang="en-CA" sz="2800" dirty="0">
                <a:solidFill>
                  <a:schemeClr val="tx1"/>
                </a:solidFill>
              </a:rPr>
              <a:t>Create Notes for Un-Scriptable</a:t>
            </a:r>
          </a:p>
          <a:p>
            <a:pPr lvl="1"/>
            <a:r>
              <a:rPr lang="en-CA" sz="2400" dirty="0">
                <a:solidFill>
                  <a:schemeClr val="tx1"/>
                </a:solidFill>
              </a:rPr>
              <a:t>Detail Check List  for Manual updates</a:t>
            </a:r>
          </a:p>
        </p:txBody>
      </p:sp>
      <p:pic>
        <p:nvPicPr>
          <p:cNvPr id="5" name="Picture 4">
            <a:extLst>
              <a:ext uri="{FF2B5EF4-FFF2-40B4-BE49-F238E27FC236}">
                <a16:creationId xmlns:a16="http://schemas.microsoft.com/office/drawing/2014/main" id="{462F2536-5237-4131-9B23-FBF9AEA7AE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9311" y="1910980"/>
            <a:ext cx="1678236" cy="1678236"/>
          </a:xfrm>
          <a:prstGeom prst="rect">
            <a:avLst/>
          </a:prstGeom>
        </p:spPr>
      </p:pic>
    </p:spTree>
    <p:extLst>
      <p:ext uri="{BB962C8B-B14F-4D97-AF65-F5344CB8AC3E}">
        <p14:creationId xmlns:p14="http://schemas.microsoft.com/office/powerpoint/2010/main" val="2475892381"/>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553998"/>
          </a:xfrm>
        </p:spPr>
        <p:txBody>
          <a:bodyPr/>
          <a:lstStyle/>
          <a:p>
            <a:r>
              <a:rPr lang="en-CA" sz="4000" dirty="0">
                <a:solidFill>
                  <a:schemeClr val="tx1"/>
                </a:solidFill>
              </a:rPr>
              <a:t>Architect and Setup SharePoint Farm</a:t>
            </a:r>
          </a:p>
        </p:txBody>
      </p:sp>
      <p:sp>
        <p:nvSpPr>
          <p:cNvPr id="4" name="Text Placeholder 2"/>
          <p:cNvSpPr txBox="1">
            <a:spLocks/>
          </p:cNvSpPr>
          <p:nvPr/>
        </p:nvSpPr>
        <p:spPr>
          <a:xfrm>
            <a:off x="399062" y="1869141"/>
            <a:ext cx="8382000" cy="4530471"/>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400" dirty="0">
                <a:solidFill>
                  <a:schemeClr val="tx1"/>
                </a:solidFill>
              </a:rPr>
              <a:t>Setup Servers</a:t>
            </a:r>
          </a:p>
          <a:p>
            <a:pPr lvl="1"/>
            <a:r>
              <a:rPr lang="en-CA" sz="2000" dirty="0">
                <a:solidFill>
                  <a:schemeClr val="tx1"/>
                </a:solidFill>
              </a:rPr>
              <a:t>Azure VM or Premise</a:t>
            </a:r>
          </a:p>
          <a:p>
            <a:pPr lvl="1"/>
            <a:r>
              <a:rPr lang="en-CA" sz="2000" dirty="0">
                <a:solidFill>
                  <a:schemeClr val="tx1"/>
                </a:solidFill>
              </a:rPr>
              <a:t>Build Physical Server Environments</a:t>
            </a:r>
          </a:p>
          <a:p>
            <a:pPr lvl="1"/>
            <a:r>
              <a:rPr lang="en-CA" sz="2000" dirty="0">
                <a:solidFill>
                  <a:schemeClr val="tx1"/>
                </a:solidFill>
              </a:rPr>
              <a:t>UAT and PRODUCTION</a:t>
            </a:r>
          </a:p>
          <a:p>
            <a:r>
              <a:rPr lang="en-CA" sz="2400" dirty="0">
                <a:solidFill>
                  <a:schemeClr val="tx1"/>
                </a:solidFill>
              </a:rPr>
              <a:t>Install SharePoint Software each environment</a:t>
            </a:r>
          </a:p>
          <a:p>
            <a:pPr lvl="1"/>
            <a:r>
              <a:rPr lang="en-CA" sz="2000" dirty="0" err="1">
                <a:solidFill>
                  <a:schemeClr val="tx1"/>
                </a:solidFill>
              </a:rPr>
              <a:t>AutoSPInstaller</a:t>
            </a:r>
            <a:r>
              <a:rPr lang="en-CA" sz="2000" dirty="0">
                <a:solidFill>
                  <a:schemeClr val="tx1"/>
                </a:solidFill>
              </a:rPr>
              <a:t> </a:t>
            </a:r>
          </a:p>
          <a:p>
            <a:r>
              <a:rPr lang="en-CA" sz="2400" dirty="0">
                <a:solidFill>
                  <a:schemeClr val="tx1"/>
                </a:solidFill>
              </a:rPr>
              <a:t>Configure SharePoint Farm Service</a:t>
            </a:r>
          </a:p>
          <a:p>
            <a:pPr lvl="1"/>
            <a:r>
              <a:rPr lang="en-CA" sz="2000" dirty="0">
                <a:solidFill>
                  <a:schemeClr val="tx1"/>
                </a:solidFill>
              </a:rPr>
              <a:t>Minimum servers (FE/Cache/APP/Search/SQL) </a:t>
            </a:r>
          </a:p>
          <a:p>
            <a:pPr lvl="1"/>
            <a:r>
              <a:rPr lang="en-CA" sz="2000" dirty="0">
                <a:solidFill>
                  <a:schemeClr val="tx1"/>
                </a:solidFill>
              </a:rPr>
              <a:t>Minimum services </a:t>
            </a:r>
          </a:p>
          <a:p>
            <a:r>
              <a:rPr lang="en-CA" sz="2400" dirty="0">
                <a:solidFill>
                  <a:schemeClr val="tx1"/>
                </a:solidFill>
              </a:rPr>
              <a:t>Install Office Online Server *</a:t>
            </a:r>
          </a:p>
          <a:p>
            <a:r>
              <a:rPr lang="en-CA" sz="2400" dirty="0">
                <a:solidFill>
                  <a:schemeClr val="tx1"/>
                </a:solidFill>
              </a:rPr>
              <a:t>Install Workflow Manager Server * </a:t>
            </a:r>
          </a:p>
          <a:p>
            <a:r>
              <a:rPr lang="en-CA" sz="2400" dirty="0">
                <a:solidFill>
                  <a:schemeClr val="tx1"/>
                </a:solidFill>
              </a:rPr>
              <a:t>Install SQL Server Reporting Service (</a:t>
            </a:r>
            <a:r>
              <a:rPr lang="en-CA" sz="2000" dirty="0">
                <a:solidFill>
                  <a:schemeClr val="tx1"/>
                </a:solidFill>
              </a:rPr>
              <a:t>Native Mode)</a:t>
            </a:r>
          </a:p>
        </p:txBody>
      </p:sp>
    </p:spTree>
    <p:extLst>
      <p:ext uri="{BB962C8B-B14F-4D97-AF65-F5344CB8AC3E}">
        <p14:creationId xmlns:p14="http://schemas.microsoft.com/office/powerpoint/2010/main" val="3430537677"/>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553998"/>
          </a:xfrm>
        </p:spPr>
        <p:txBody>
          <a:bodyPr/>
          <a:lstStyle/>
          <a:p>
            <a:r>
              <a:rPr lang="en-CA" sz="4000" dirty="0">
                <a:solidFill>
                  <a:schemeClr val="tx1"/>
                </a:solidFill>
              </a:rPr>
              <a:t>Upgrade SharePoint Farm Services</a:t>
            </a:r>
          </a:p>
        </p:txBody>
      </p:sp>
      <p:sp>
        <p:nvSpPr>
          <p:cNvPr id="4" name="Text Placeholder 2"/>
          <p:cNvSpPr txBox="1">
            <a:spLocks/>
          </p:cNvSpPr>
          <p:nvPr/>
        </p:nvSpPr>
        <p:spPr>
          <a:xfrm>
            <a:off x="399062" y="1869141"/>
            <a:ext cx="8382000" cy="4665893"/>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400" dirty="0">
                <a:solidFill>
                  <a:schemeClr val="tx1"/>
                </a:solidFill>
              </a:rPr>
              <a:t>Configure SharePoint Farm Service</a:t>
            </a:r>
          </a:p>
          <a:p>
            <a:pPr lvl="1"/>
            <a:r>
              <a:rPr lang="en-CA" sz="2000" dirty="0">
                <a:solidFill>
                  <a:schemeClr val="tx1"/>
                </a:solidFill>
              </a:rPr>
              <a:t>Minimum servers (FE/Cache/APP/Search/SQL) </a:t>
            </a:r>
          </a:p>
          <a:p>
            <a:pPr lvl="1"/>
            <a:r>
              <a:rPr lang="en-CA" sz="2000" dirty="0">
                <a:solidFill>
                  <a:schemeClr val="tx1"/>
                </a:solidFill>
              </a:rPr>
              <a:t>Minimum services </a:t>
            </a:r>
          </a:p>
          <a:p>
            <a:r>
              <a:rPr lang="en-US" sz="2400" dirty="0">
                <a:solidFill>
                  <a:schemeClr val="tx1"/>
                </a:solidFill>
              </a:rPr>
              <a:t>Upgrade Service order</a:t>
            </a:r>
          </a:p>
          <a:p>
            <a:pPr lvl="1"/>
            <a:r>
              <a:rPr lang="en-US" sz="2000" dirty="0">
                <a:solidFill>
                  <a:schemeClr val="tx1"/>
                </a:solidFill>
              </a:rPr>
              <a:t>Managed Metadata Service</a:t>
            </a:r>
          </a:p>
          <a:p>
            <a:pPr lvl="1"/>
            <a:r>
              <a:rPr lang="en-US" sz="2000" dirty="0">
                <a:solidFill>
                  <a:schemeClr val="tx1"/>
                </a:solidFill>
              </a:rPr>
              <a:t>User Profile Service </a:t>
            </a:r>
          </a:p>
          <a:p>
            <a:pPr lvl="1"/>
            <a:r>
              <a:rPr lang="en-US" sz="2000" dirty="0">
                <a:solidFill>
                  <a:schemeClr val="tx1"/>
                </a:solidFill>
              </a:rPr>
              <a:t>Secure Store Service</a:t>
            </a:r>
          </a:p>
          <a:p>
            <a:pPr lvl="1"/>
            <a:r>
              <a:rPr lang="en-US" sz="2000" dirty="0">
                <a:solidFill>
                  <a:schemeClr val="tx1"/>
                </a:solidFill>
              </a:rPr>
              <a:t>Business Connectivity Service</a:t>
            </a:r>
          </a:p>
          <a:p>
            <a:pPr lvl="1"/>
            <a:r>
              <a:rPr lang="en-US" sz="2000" dirty="0">
                <a:solidFill>
                  <a:schemeClr val="tx1"/>
                </a:solidFill>
              </a:rPr>
              <a:t>Search Service</a:t>
            </a:r>
          </a:p>
          <a:p>
            <a:pPr lvl="1"/>
            <a:r>
              <a:rPr lang="en-US" sz="2000" dirty="0">
                <a:solidFill>
                  <a:schemeClr val="tx1"/>
                </a:solidFill>
              </a:rPr>
              <a:t>Content Databases</a:t>
            </a:r>
            <a:endParaRPr lang="en-CA" sz="2000" dirty="0">
              <a:solidFill>
                <a:schemeClr val="tx1"/>
              </a:solidFill>
            </a:endParaRPr>
          </a:p>
          <a:p>
            <a:r>
              <a:rPr lang="en-CA" sz="2400" dirty="0">
                <a:solidFill>
                  <a:schemeClr val="tx1"/>
                </a:solidFill>
              </a:rPr>
              <a:t>Install Office Online Service *</a:t>
            </a:r>
          </a:p>
          <a:p>
            <a:r>
              <a:rPr lang="en-CA" sz="2400" dirty="0">
                <a:solidFill>
                  <a:schemeClr val="tx1"/>
                </a:solidFill>
              </a:rPr>
              <a:t>Install Workflow Manager Service * </a:t>
            </a:r>
          </a:p>
          <a:p>
            <a:r>
              <a:rPr lang="en-CA" sz="2400" dirty="0">
                <a:solidFill>
                  <a:schemeClr val="tx1"/>
                </a:solidFill>
              </a:rPr>
              <a:t>Install SQL Server Reporting Service (</a:t>
            </a:r>
            <a:r>
              <a:rPr lang="en-CA" sz="2000" dirty="0">
                <a:solidFill>
                  <a:schemeClr val="tx1"/>
                </a:solidFill>
              </a:rPr>
              <a:t>Native Mode)</a:t>
            </a:r>
          </a:p>
        </p:txBody>
      </p:sp>
    </p:spTree>
    <p:extLst>
      <p:ext uri="{BB962C8B-B14F-4D97-AF65-F5344CB8AC3E}">
        <p14:creationId xmlns:p14="http://schemas.microsoft.com/office/powerpoint/2010/main" val="3814989619"/>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553998"/>
          </a:xfrm>
        </p:spPr>
        <p:txBody>
          <a:bodyPr/>
          <a:lstStyle/>
          <a:p>
            <a:r>
              <a:rPr lang="en-CA" sz="4000" dirty="0">
                <a:solidFill>
                  <a:schemeClr val="tx1"/>
                </a:solidFill>
              </a:rPr>
              <a:t>Create SQL or PowerShell Scripts</a:t>
            </a:r>
          </a:p>
        </p:txBody>
      </p:sp>
      <p:sp>
        <p:nvSpPr>
          <p:cNvPr id="4" name="Text Placeholder 2"/>
          <p:cNvSpPr txBox="1">
            <a:spLocks/>
          </p:cNvSpPr>
          <p:nvPr/>
        </p:nvSpPr>
        <p:spPr>
          <a:xfrm>
            <a:off x="456453" y="1723048"/>
            <a:ext cx="8382000" cy="2092881"/>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400" dirty="0">
                <a:solidFill>
                  <a:schemeClr val="tx1"/>
                </a:solidFill>
              </a:rPr>
              <a:t>Pre Upgrade Steps</a:t>
            </a:r>
          </a:p>
          <a:p>
            <a:pPr lvl="1"/>
            <a:r>
              <a:rPr lang="en-CA" sz="2000" dirty="0">
                <a:solidFill>
                  <a:schemeClr val="tx1"/>
                </a:solidFill>
              </a:rPr>
              <a:t>Install SQL Server</a:t>
            </a:r>
          </a:p>
          <a:p>
            <a:pPr lvl="1"/>
            <a:r>
              <a:rPr lang="en-CA" sz="2000" dirty="0">
                <a:solidFill>
                  <a:schemeClr val="tx1"/>
                </a:solidFill>
              </a:rPr>
              <a:t>Setup Farm Admin Accounts</a:t>
            </a:r>
          </a:p>
          <a:p>
            <a:r>
              <a:rPr lang="en-CA" sz="2400" dirty="0">
                <a:solidFill>
                  <a:schemeClr val="tx1"/>
                </a:solidFill>
              </a:rPr>
              <a:t>SQL Server Scripting</a:t>
            </a:r>
          </a:p>
          <a:p>
            <a:pPr lvl="1"/>
            <a:r>
              <a:rPr lang="en-CA" sz="2000" dirty="0">
                <a:solidFill>
                  <a:schemeClr val="tx1"/>
                </a:solidFill>
              </a:rPr>
              <a:t>Backups / Restores</a:t>
            </a:r>
          </a:p>
          <a:p>
            <a:pPr lvl="1"/>
            <a:r>
              <a:rPr lang="en-CA" sz="2000" dirty="0">
                <a:solidFill>
                  <a:schemeClr val="tx1"/>
                </a:solidFill>
              </a:rPr>
              <a:t>Security Setup</a:t>
            </a:r>
          </a:p>
        </p:txBody>
      </p:sp>
    </p:spTree>
    <p:extLst>
      <p:ext uri="{BB962C8B-B14F-4D97-AF65-F5344CB8AC3E}">
        <p14:creationId xmlns:p14="http://schemas.microsoft.com/office/powerpoint/2010/main" val="2405806294"/>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611" y="1040054"/>
            <a:ext cx="8382000" cy="553998"/>
          </a:xfrm>
        </p:spPr>
        <p:txBody>
          <a:bodyPr/>
          <a:lstStyle/>
          <a:p>
            <a:r>
              <a:rPr lang="en-CA" sz="4000" dirty="0">
                <a:solidFill>
                  <a:schemeClr val="tx1"/>
                </a:solidFill>
              </a:rPr>
              <a:t>Build PowerShell Scripts for each step</a:t>
            </a:r>
          </a:p>
        </p:txBody>
      </p:sp>
      <p:sp>
        <p:nvSpPr>
          <p:cNvPr id="3" name="Text Placeholder 2">
            <a:extLst>
              <a:ext uri="{FF2B5EF4-FFF2-40B4-BE49-F238E27FC236}">
                <a16:creationId xmlns:a16="http://schemas.microsoft.com/office/drawing/2014/main" id="{E8056689-62A6-4C70-8C5E-79139A616D5B}"/>
              </a:ext>
            </a:extLst>
          </p:cNvPr>
          <p:cNvSpPr>
            <a:spLocks noGrp="1"/>
          </p:cNvSpPr>
          <p:nvPr>
            <p:ph type="body" sz="quarter" idx="10"/>
          </p:nvPr>
        </p:nvSpPr>
        <p:spPr>
          <a:xfrm>
            <a:off x="338611" y="1823247"/>
            <a:ext cx="8382000" cy="2617640"/>
          </a:xfrm>
        </p:spPr>
        <p:txBody>
          <a:bodyPr/>
          <a:lstStyle/>
          <a:p>
            <a:r>
              <a:rPr lang="en-CA" dirty="0">
                <a:solidFill>
                  <a:schemeClr val="tx1"/>
                </a:solidFill>
              </a:rPr>
              <a:t>Stand up SharePoint Central</a:t>
            </a:r>
          </a:p>
          <a:p>
            <a:pPr lvl="1"/>
            <a:r>
              <a:rPr lang="en-CA" dirty="0">
                <a:solidFill>
                  <a:schemeClr val="tx1"/>
                </a:solidFill>
              </a:rPr>
              <a:t>SharePoint Configuration Wizard</a:t>
            </a:r>
          </a:p>
          <a:p>
            <a:pPr lvl="1"/>
            <a:r>
              <a:rPr lang="en-CA" dirty="0">
                <a:solidFill>
                  <a:schemeClr val="tx1"/>
                </a:solidFill>
              </a:rPr>
              <a:t>PowerShell Script  (</a:t>
            </a:r>
            <a:r>
              <a:rPr lang="en-CA" dirty="0" err="1">
                <a:solidFill>
                  <a:schemeClr val="tx1"/>
                </a:solidFill>
              </a:rPr>
              <a:t>db</a:t>
            </a:r>
            <a:r>
              <a:rPr lang="en-CA" dirty="0">
                <a:solidFill>
                  <a:schemeClr val="tx1"/>
                </a:solidFill>
              </a:rPr>
              <a:t> naming convention)</a:t>
            </a:r>
          </a:p>
          <a:p>
            <a:r>
              <a:rPr lang="en-CA" dirty="0">
                <a:solidFill>
                  <a:schemeClr val="tx1"/>
                </a:solidFill>
              </a:rPr>
              <a:t>Build and Upgrade Services</a:t>
            </a:r>
          </a:p>
          <a:p>
            <a:pPr lvl="1"/>
            <a:r>
              <a:rPr lang="en-CA" dirty="0">
                <a:solidFill>
                  <a:schemeClr val="tx1"/>
                </a:solidFill>
              </a:rPr>
              <a:t>As specified in previous slide</a:t>
            </a:r>
          </a:p>
          <a:p>
            <a:r>
              <a:rPr lang="en-CA" dirty="0">
                <a:solidFill>
                  <a:schemeClr val="tx1"/>
                </a:solidFill>
              </a:rPr>
              <a:t>Upgrade SharePoint Content</a:t>
            </a:r>
          </a:p>
          <a:p>
            <a:r>
              <a:rPr lang="en-CA" dirty="0">
                <a:solidFill>
                  <a:schemeClr val="tx1"/>
                </a:solidFill>
              </a:rPr>
              <a:t>Migration Scripts to 2019</a:t>
            </a:r>
          </a:p>
        </p:txBody>
      </p:sp>
    </p:spTree>
    <p:extLst>
      <p:ext uri="{BB962C8B-B14F-4D97-AF65-F5344CB8AC3E}">
        <p14:creationId xmlns:p14="http://schemas.microsoft.com/office/powerpoint/2010/main" val="737111063"/>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E48CD-AFC1-4F01-B09E-B3DFD2375AB3}"/>
              </a:ext>
            </a:extLst>
          </p:cNvPr>
          <p:cNvSpPr>
            <a:spLocks noGrp="1"/>
          </p:cNvSpPr>
          <p:nvPr>
            <p:ph type="title"/>
          </p:nvPr>
        </p:nvSpPr>
        <p:spPr/>
        <p:txBody>
          <a:bodyPr/>
          <a:lstStyle/>
          <a:p>
            <a:r>
              <a:rPr lang="en-US" dirty="0"/>
              <a:t>PowerShell Script SharePoint Wizard</a:t>
            </a:r>
          </a:p>
        </p:txBody>
      </p:sp>
      <p:pic>
        <p:nvPicPr>
          <p:cNvPr id="4" name="Picture 3">
            <a:extLst>
              <a:ext uri="{FF2B5EF4-FFF2-40B4-BE49-F238E27FC236}">
                <a16:creationId xmlns:a16="http://schemas.microsoft.com/office/drawing/2014/main" id="{8D145CB7-8345-451E-8096-2148FA801443}"/>
              </a:ext>
            </a:extLst>
          </p:cNvPr>
          <p:cNvPicPr>
            <a:picLocks noChangeAspect="1"/>
          </p:cNvPicPr>
          <p:nvPr/>
        </p:nvPicPr>
        <p:blipFill>
          <a:blip r:embed="rId2"/>
          <a:stretch>
            <a:fillRect/>
          </a:stretch>
        </p:blipFill>
        <p:spPr>
          <a:xfrm>
            <a:off x="592558" y="1498328"/>
            <a:ext cx="7444538" cy="5339891"/>
          </a:xfrm>
          <a:prstGeom prst="rect">
            <a:avLst/>
          </a:prstGeom>
        </p:spPr>
      </p:pic>
    </p:spTree>
    <p:extLst>
      <p:ext uri="{BB962C8B-B14F-4D97-AF65-F5344CB8AC3E}">
        <p14:creationId xmlns:p14="http://schemas.microsoft.com/office/powerpoint/2010/main" val="66152709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z="4000" dirty="0">
                <a:solidFill>
                  <a:schemeClr val="tx1"/>
                </a:solidFill>
              </a:rPr>
              <a:t>1</a:t>
            </a:r>
            <a:r>
              <a:rPr lang="en-CA" sz="4000" baseline="30000" dirty="0">
                <a:solidFill>
                  <a:schemeClr val="tx1"/>
                </a:solidFill>
              </a:rPr>
              <a:t>st</a:t>
            </a:r>
            <a:r>
              <a:rPr lang="en-CA" sz="4000" dirty="0">
                <a:solidFill>
                  <a:schemeClr val="tx1"/>
                </a:solidFill>
              </a:rPr>
              <a:t> upgrade is about Discovery</a:t>
            </a:r>
          </a:p>
        </p:txBody>
      </p:sp>
      <p:sp>
        <p:nvSpPr>
          <p:cNvPr id="4" name="Text Placeholder 2"/>
          <p:cNvSpPr txBox="1">
            <a:spLocks/>
          </p:cNvSpPr>
          <p:nvPr/>
        </p:nvSpPr>
        <p:spPr>
          <a:xfrm>
            <a:off x="488576" y="2066363"/>
            <a:ext cx="8382000" cy="4111895"/>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CA" sz="2800" dirty="0">
                <a:solidFill>
                  <a:schemeClr val="tx1"/>
                </a:solidFill>
              </a:rPr>
              <a:t>I hear this all the time!</a:t>
            </a:r>
          </a:p>
          <a:p>
            <a:pPr marL="0" indent="0">
              <a:buNone/>
            </a:pPr>
            <a:endParaRPr lang="en-CA" sz="2800" dirty="0">
              <a:solidFill>
                <a:schemeClr val="tx1"/>
              </a:solidFill>
            </a:endParaRPr>
          </a:p>
          <a:p>
            <a:r>
              <a:rPr lang="en-CA" sz="2800" dirty="0">
                <a:solidFill>
                  <a:schemeClr val="tx1"/>
                </a:solidFill>
              </a:rPr>
              <a:t>Our SharePoint Farm is Out-of-box</a:t>
            </a:r>
          </a:p>
          <a:p>
            <a:pPr lvl="1"/>
            <a:r>
              <a:rPr lang="en-CA" sz="2400" dirty="0">
                <a:solidFill>
                  <a:schemeClr val="tx1"/>
                </a:solidFill>
              </a:rPr>
              <a:t>Yea… Right!</a:t>
            </a:r>
          </a:p>
          <a:p>
            <a:r>
              <a:rPr lang="en-CA" sz="2800" dirty="0">
                <a:solidFill>
                  <a:schemeClr val="tx1"/>
                </a:solidFill>
              </a:rPr>
              <a:t>Our Project Server is Out-of-Box</a:t>
            </a:r>
          </a:p>
          <a:p>
            <a:pPr lvl="1"/>
            <a:r>
              <a:rPr lang="en-CA" dirty="0">
                <a:solidFill>
                  <a:schemeClr val="tx1"/>
                </a:solidFill>
              </a:rPr>
              <a:t>Yea.. Right Again!!!</a:t>
            </a:r>
          </a:p>
          <a:p>
            <a:pPr marL="460375" lvl="1" indent="0">
              <a:buNone/>
            </a:pPr>
            <a:r>
              <a:rPr lang="en-CA" dirty="0">
                <a:solidFill>
                  <a:schemeClr val="tx1"/>
                </a:solidFill>
              </a:rPr>
              <a:t>Every upgrade has run into different issues!</a:t>
            </a:r>
          </a:p>
          <a:p>
            <a:pPr marL="460375" lvl="1" indent="0">
              <a:buNone/>
            </a:pPr>
            <a:endParaRPr lang="en-CA" dirty="0">
              <a:solidFill>
                <a:schemeClr val="tx1"/>
              </a:solidFill>
            </a:endParaRPr>
          </a:p>
          <a:p>
            <a:pPr marL="460375" lvl="1" indent="0">
              <a:buNone/>
            </a:pPr>
            <a:r>
              <a:rPr lang="en-CA" dirty="0">
                <a:solidFill>
                  <a:schemeClr val="tx1"/>
                </a:solidFill>
              </a:rPr>
              <a:t>Don’t be afraid to call Microsoft for support.</a:t>
            </a:r>
          </a:p>
        </p:txBody>
      </p:sp>
    </p:spTree>
    <p:extLst>
      <p:ext uri="{BB962C8B-B14F-4D97-AF65-F5344CB8AC3E}">
        <p14:creationId xmlns:p14="http://schemas.microsoft.com/office/powerpoint/2010/main" val="1646037767"/>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031" y="826970"/>
            <a:ext cx="8363938" cy="553998"/>
          </a:xfrm>
        </p:spPr>
        <p:txBody>
          <a:bodyPr/>
          <a:lstStyle/>
          <a:p>
            <a:r>
              <a:rPr lang="en-CA" sz="4000" dirty="0">
                <a:solidFill>
                  <a:schemeClr val="tx1"/>
                </a:solidFill>
              </a:rPr>
              <a:t>TEST-</a:t>
            </a:r>
            <a:r>
              <a:rPr lang="en-CA" sz="4000" dirty="0" err="1">
                <a:solidFill>
                  <a:schemeClr val="tx1"/>
                </a:solidFill>
              </a:rPr>
              <a:t>SPContentDatabase</a:t>
            </a:r>
            <a:r>
              <a:rPr lang="en-CA" sz="4000" dirty="0">
                <a:solidFill>
                  <a:schemeClr val="tx1"/>
                </a:solidFill>
              </a:rPr>
              <a:t> Results</a:t>
            </a:r>
          </a:p>
        </p:txBody>
      </p:sp>
      <p:pic>
        <p:nvPicPr>
          <p:cNvPr id="3" name="Picture 2">
            <a:extLst>
              <a:ext uri="{FF2B5EF4-FFF2-40B4-BE49-F238E27FC236}">
                <a16:creationId xmlns:a16="http://schemas.microsoft.com/office/drawing/2014/main" id="{333B3610-2211-4BB0-ADA3-F4C9CFB4AF98}"/>
              </a:ext>
            </a:extLst>
          </p:cNvPr>
          <p:cNvPicPr>
            <a:picLocks noChangeAspect="1"/>
          </p:cNvPicPr>
          <p:nvPr/>
        </p:nvPicPr>
        <p:blipFill>
          <a:blip r:embed="rId3"/>
          <a:stretch>
            <a:fillRect/>
          </a:stretch>
        </p:blipFill>
        <p:spPr>
          <a:xfrm>
            <a:off x="399062" y="1380968"/>
            <a:ext cx="8179760" cy="5456907"/>
          </a:xfrm>
          <a:prstGeom prst="rect">
            <a:avLst/>
          </a:prstGeom>
        </p:spPr>
      </p:pic>
    </p:spTree>
    <p:extLst>
      <p:ext uri="{BB962C8B-B14F-4D97-AF65-F5344CB8AC3E}">
        <p14:creationId xmlns:p14="http://schemas.microsoft.com/office/powerpoint/2010/main" val="3256901737"/>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What you might find after upgrade</a:t>
            </a:r>
          </a:p>
        </p:txBody>
      </p:sp>
      <p:sp>
        <p:nvSpPr>
          <p:cNvPr id="5" name="Text Placeholder 2"/>
          <p:cNvSpPr txBox="1">
            <a:spLocks/>
          </p:cNvSpPr>
          <p:nvPr/>
        </p:nvSpPr>
        <p:spPr>
          <a:xfrm>
            <a:off x="595345" y="1637501"/>
            <a:ext cx="8382000" cy="4847436"/>
          </a:xfrm>
          <a:prstGeom prst="rect">
            <a:avLst/>
          </a:prstGeom>
        </p:spPr>
        <p:txBody>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FontTx/>
              <a:buBlip>
                <a:blip r:embed="rId3"/>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FontTx/>
              <a:buBlip>
                <a:blip r:embed="rId3"/>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FontTx/>
              <a:buBlip>
                <a:blip r:embed="rId3"/>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solidFill>
                  <a:schemeClr val="tx1"/>
                </a:solidFill>
              </a:rPr>
              <a:t>3</a:t>
            </a:r>
            <a:r>
              <a:rPr lang="en-US" sz="2800" baseline="30000" dirty="0">
                <a:solidFill>
                  <a:schemeClr val="tx1"/>
                </a:solidFill>
              </a:rPr>
              <a:t>rd</a:t>
            </a:r>
            <a:r>
              <a:rPr lang="en-US" sz="2800" dirty="0">
                <a:solidFill>
                  <a:schemeClr val="tx1"/>
                </a:solidFill>
              </a:rPr>
              <a:t> Party Web Parts don’t migrate</a:t>
            </a:r>
          </a:p>
          <a:p>
            <a:r>
              <a:rPr lang="en-US" sz="2800" dirty="0">
                <a:solidFill>
                  <a:schemeClr val="tx1"/>
                </a:solidFill>
              </a:rPr>
              <a:t>Project Site Templates</a:t>
            </a:r>
          </a:p>
          <a:p>
            <a:r>
              <a:rPr lang="en-US" sz="2800" dirty="0">
                <a:solidFill>
                  <a:schemeClr val="tx1"/>
                </a:solidFill>
              </a:rPr>
              <a:t>Customized Navigation</a:t>
            </a:r>
          </a:p>
          <a:p>
            <a:r>
              <a:rPr lang="en-US" sz="2800" dirty="0">
                <a:solidFill>
                  <a:schemeClr val="tx1"/>
                </a:solidFill>
              </a:rPr>
              <a:t>PWA workflow missing </a:t>
            </a:r>
          </a:p>
          <a:p>
            <a:r>
              <a:rPr lang="en-US" sz="2800" dirty="0">
                <a:solidFill>
                  <a:schemeClr val="tx1"/>
                </a:solidFill>
              </a:rPr>
              <a:t>Changing Domains</a:t>
            </a:r>
          </a:p>
          <a:p>
            <a:r>
              <a:rPr lang="en-US" sz="2800" dirty="0">
                <a:solidFill>
                  <a:schemeClr val="tx1"/>
                </a:solidFill>
              </a:rPr>
              <a:t>Old resources and projects schedules</a:t>
            </a:r>
          </a:p>
          <a:p>
            <a:r>
              <a:rPr lang="en-US" sz="2800" dirty="0">
                <a:solidFill>
                  <a:schemeClr val="tx1"/>
                </a:solidFill>
              </a:rPr>
              <a:t>SharePoint Permissions</a:t>
            </a:r>
          </a:p>
          <a:p>
            <a:r>
              <a:rPr lang="en-US" sz="2800" dirty="0">
                <a:solidFill>
                  <a:schemeClr val="tx1"/>
                </a:solidFill>
              </a:rPr>
              <a:t>Project Permissions</a:t>
            </a:r>
          </a:p>
          <a:p>
            <a:r>
              <a:rPr lang="en-US" sz="2800" dirty="0">
                <a:solidFill>
                  <a:schemeClr val="tx1"/>
                </a:solidFill>
              </a:rPr>
              <a:t>PWA Configuration Changes</a:t>
            </a:r>
          </a:p>
          <a:p>
            <a:r>
              <a:rPr lang="en-US" sz="2800" dirty="0">
                <a:solidFill>
                  <a:schemeClr val="tx1"/>
                </a:solidFill>
              </a:rPr>
              <a:t>Broken Project Sites / Issues and Risks</a:t>
            </a:r>
          </a:p>
          <a:p>
            <a:pPr marL="0" indent="0">
              <a:buNone/>
            </a:pPr>
            <a:endParaRPr lang="en-US" sz="2400" dirty="0">
              <a:solidFill>
                <a:schemeClr val="tx1"/>
              </a:solidFill>
            </a:endParaRPr>
          </a:p>
        </p:txBody>
      </p:sp>
    </p:spTree>
    <p:extLst>
      <p:ext uri="{BB962C8B-B14F-4D97-AF65-F5344CB8AC3E}">
        <p14:creationId xmlns:p14="http://schemas.microsoft.com/office/powerpoint/2010/main" val="3035370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553998"/>
          </a:xfrm>
        </p:spPr>
        <p:txBody>
          <a:bodyPr/>
          <a:lstStyle/>
          <a:p>
            <a:r>
              <a:rPr lang="en-CA" sz="4000" dirty="0">
                <a:solidFill>
                  <a:schemeClr val="tx1"/>
                </a:solidFill>
              </a:rPr>
              <a:t>SharePoint/Project Server 2010 to 2013</a:t>
            </a:r>
          </a:p>
        </p:txBody>
      </p:sp>
      <p:sp>
        <p:nvSpPr>
          <p:cNvPr id="4" name="Text Placeholder 2"/>
          <p:cNvSpPr txBox="1">
            <a:spLocks/>
          </p:cNvSpPr>
          <p:nvPr/>
        </p:nvSpPr>
        <p:spPr>
          <a:xfrm>
            <a:off x="870324" y="1672459"/>
            <a:ext cx="7099300" cy="4475071"/>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000" dirty="0">
                <a:solidFill>
                  <a:schemeClr val="tx1"/>
                </a:solidFill>
              </a:rPr>
              <a:t>Pre upgrade</a:t>
            </a:r>
          </a:p>
          <a:p>
            <a:r>
              <a:rPr lang="en-CA" sz="2000" dirty="0">
                <a:solidFill>
                  <a:schemeClr val="tx1"/>
                </a:solidFill>
              </a:rPr>
              <a:t>Upgrade</a:t>
            </a:r>
          </a:p>
          <a:p>
            <a:pPr lvl="1"/>
            <a:r>
              <a:rPr lang="en-CA" sz="1800" dirty="0">
                <a:solidFill>
                  <a:schemeClr val="tx1"/>
                </a:solidFill>
              </a:rPr>
              <a:t>SharePoint Upgrade</a:t>
            </a:r>
          </a:p>
          <a:p>
            <a:pPr lvl="2"/>
            <a:r>
              <a:rPr lang="en-CA" sz="1400" dirty="0">
                <a:solidFill>
                  <a:schemeClr val="tx1"/>
                </a:solidFill>
              </a:rPr>
              <a:t>Test-</a:t>
            </a:r>
            <a:r>
              <a:rPr lang="en-CA" sz="1400" dirty="0" err="1">
                <a:solidFill>
                  <a:schemeClr val="tx1"/>
                </a:solidFill>
              </a:rPr>
              <a:t>SPContentDatabase</a:t>
            </a:r>
            <a:endParaRPr lang="en-CA" sz="1400" dirty="0">
              <a:solidFill>
                <a:schemeClr val="tx1"/>
              </a:solidFill>
            </a:endParaRPr>
          </a:p>
          <a:p>
            <a:pPr lvl="2"/>
            <a:r>
              <a:rPr lang="en-CA" sz="1400" dirty="0">
                <a:solidFill>
                  <a:schemeClr val="tx1"/>
                </a:solidFill>
              </a:rPr>
              <a:t>Mount-</a:t>
            </a:r>
            <a:r>
              <a:rPr lang="en-CA" sz="1400" dirty="0" err="1">
                <a:solidFill>
                  <a:schemeClr val="tx1"/>
                </a:solidFill>
              </a:rPr>
              <a:t>SPContentDatabase</a:t>
            </a:r>
            <a:endParaRPr lang="en-CA" sz="1400" dirty="0">
              <a:solidFill>
                <a:schemeClr val="tx1"/>
              </a:solidFill>
            </a:endParaRPr>
          </a:p>
          <a:p>
            <a:pPr lvl="2"/>
            <a:r>
              <a:rPr lang="en-CA" sz="1400" dirty="0">
                <a:solidFill>
                  <a:schemeClr val="tx1"/>
                </a:solidFill>
              </a:rPr>
              <a:t>Test-</a:t>
            </a:r>
            <a:r>
              <a:rPr lang="en-CA" sz="1400" dirty="0" err="1">
                <a:solidFill>
                  <a:schemeClr val="tx1"/>
                </a:solidFill>
              </a:rPr>
              <a:t>SPSIte</a:t>
            </a:r>
            <a:endParaRPr lang="en-CA" sz="1400" dirty="0">
              <a:solidFill>
                <a:schemeClr val="tx1"/>
              </a:solidFill>
            </a:endParaRPr>
          </a:p>
          <a:p>
            <a:pPr lvl="2"/>
            <a:r>
              <a:rPr lang="en-CA" sz="1400" dirty="0">
                <a:solidFill>
                  <a:schemeClr val="tx1"/>
                </a:solidFill>
              </a:rPr>
              <a:t>Upgrade-</a:t>
            </a:r>
            <a:r>
              <a:rPr lang="en-CA" sz="1400" dirty="0" err="1">
                <a:solidFill>
                  <a:schemeClr val="tx1"/>
                </a:solidFill>
              </a:rPr>
              <a:t>SPSite</a:t>
            </a:r>
            <a:endParaRPr lang="en-CA" sz="1400" dirty="0">
              <a:solidFill>
                <a:schemeClr val="tx1"/>
              </a:solidFill>
            </a:endParaRPr>
          </a:p>
          <a:p>
            <a:pPr lvl="1"/>
            <a:r>
              <a:rPr lang="en-CA" sz="1800" dirty="0">
                <a:solidFill>
                  <a:schemeClr val="tx1"/>
                </a:solidFill>
              </a:rPr>
              <a:t>Project Server Upgrade</a:t>
            </a:r>
          </a:p>
          <a:p>
            <a:pPr lvl="2"/>
            <a:r>
              <a:rPr lang="en-CA" sz="1400" dirty="0" err="1">
                <a:solidFill>
                  <a:schemeClr val="tx1"/>
                </a:solidFill>
              </a:rPr>
              <a:t>ConvertTo-SPProjectDatabase</a:t>
            </a:r>
            <a:endParaRPr lang="en-CA" sz="1400" dirty="0">
              <a:solidFill>
                <a:schemeClr val="tx1"/>
              </a:solidFill>
            </a:endParaRPr>
          </a:p>
          <a:p>
            <a:pPr lvl="2"/>
            <a:r>
              <a:rPr lang="en-CA" sz="1400" dirty="0">
                <a:solidFill>
                  <a:schemeClr val="tx1"/>
                </a:solidFill>
              </a:rPr>
              <a:t>Mount-</a:t>
            </a:r>
            <a:r>
              <a:rPr lang="en-CA" sz="1400" dirty="0" err="1">
                <a:solidFill>
                  <a:schemeClr val="tx1"/>
                </a:solidFill>
              </a:rPr>
              <a:t>SPProjectDatabase</a:t>
            </a:r>
            <a:endParaRPr lang="en-CA" sz="1400" dirty="0">
              <a:solidFill>
                <a:schemeClr val="tx1"/>
              </a:solidFill>
            </a:endParaRPr>
          </a:p>
          <a:p>
            <a:pPr lvl="2"/>
            <a:r>
              <a:rPr lang="en-CA" sz="1400" dirty="0">
                <a:solidFill>
                  <a:schemeClr val="tx1"/>
                </a:solidFill>
              </a:rPr>
              <a:t>Test-</a:t>
            </a:r>
            <a:r>
              <a:rPr lang="en-CA" sz="1400" dirty="0" err="1">
                <a:solidFill>
                  <a:schemeClr val="tx1"/>
                </a:solidFill>
              </a:rPr>
              <a:t>SPProjectDatabase</a:t>
            </a:r>
            <a:endParaRPr lang="en-CA" sz="1400" dirty="0">
              <a:solidFill>
                <a:schemeClr val="tx1"/>
              </a:solidFill>
            </a:endParaRPr>
          </a:p>
          <a:p>
            <a:pPr lvl="2"/>
            <a:r>
              <a:rPr lang="en-CA" sz="1400" dirty="0">
                <a:solidFill>
                  <a:schemeClr val="tx1"/>
                </a:solidFill>
              </a:rPr>
              <a:t>Upgrade-</a:t>
            </a:r>
            <a:r>
              <a:rPr lang="en-CA" sz="1400" dirty="0" err="1">
                <a:solidFill>
                  <a:schemeClr val="tx1"/>
                </a:solidFill>
              </a:rPr>
              <a:t>SPProjectDatabase</a:t>
            </a:r>
            <a:endParaRPr lang="en-CA" sz="1400" dirty="0">
              <a:solidFill>
                <a:schemeClr val="tx1"/>
              </a:solidFill>
            </a:endParaRPr>
          </a:p>
          <a:p>
            <a:pPr lvl="2"/>
            <a:r>
              <a:rPr lang="en-CA" sz="1400" dirty="0">
                <a:solidFill>
                  <a:schemeClr val="tx1"/>
                </a:solidFill>
              </a:rPr>
              <a:t>Mount-</a:t>
            </a:r>
            <a:r>
              <a:rPr lang="en-CA" sz="1400" dirty="0" err="1">
                <a:solidFill>
                  <a:schemeClr val="tx1"/>
                </a:solidFill>
              </a:rPr>
              <a:t>SPProjectWebInstance</a:t>
            </a:r>
            <a:endParaRPr lang="en-CA" sz="1400" dirty="0">
              <a:solidFill>
                <a:schemeClr val="tx1"/>
              </a:solidFill>
            </a:endParaRPr>
          </a:p>
          <a:p>
            <a:pPr lvl="2"/>
            <a:r>
              <a:rPr lang="en-CA" sz="1400" dirty="0">
                <a:solidFill>
                  <a:schemeClr val="tx1"/>
                </a:solidFill>
              </a:rPr>
              <a:t>Test-</a:t>
            </a:r>
            <a:r>
              <a:rPr lang="en-CA" sz="1400" dirty="0" err="1">
                <a:solidFill>
                  <a:schemeClr val="tx1"/>
                </a:solidFill>
              </a:rPr>
              <a:t>SPProjectWebInstance</a:t>
            </a:r>
            <a:endParaRPr lang="en-CA" sz="1400" dirty="0">
              <a:solidFill>
                <a:schemeClr val="tx1"/>
              </a:solidFill>
            </a:endParaRPr>
          </a:p>
          <a:p>
            <a:pPr lvl="2"/>
            <a:r>
              <a:rPr lang="en-CA" sz="1400" dirty="0">
                <a:solidFill>
                  <a:schemeClr val="tx1"/>
                </a:solidFill>
              </a:rPr>
              <a:t>Upgrade-</a:t>
            </a:r>
            <a:r>
              <a:rPr lang="en-CA" sz="1400" dirty="0" err="1">
                <a:solidFill>
                  <a:schemeClr val="tx1"/>
                </a:solidFill>
              </a:rPr>
              <a:t>SPProjectWebInstance</a:t>
            </a:r>
            <a:endParaRPr lang="en-CA" sz="1400" dirty="0">
              <a:solidFill>
                <a:schemeClr val="tx1"/>
              </a:solidFill>
            </a:endParaRPr>
          </a:p>
          <a:p>
            <a:pPr lvl="2"/>
            <a:r>
              <a:rPr lang="en-CA" sz="1400" dirty="0">
                <a:solidFill>
                  <a:schemeClr val="tx1"/>
                </a:solidFill>
              </a:rPr>
              <a:t>Enable-</a:t>
            </a:r>
            <a:r>
              <a:rPr lang="en-CA" sz="1400" dirty="0" err="1">
                <a:solidFill>
                  <a:schemeClr val="tx1"/>
                </a:solidFill>
              </a:rPr>
              <a:t>SPFeature</a:t>
            </a:r>
            <a:endParaRPr lang="en-CA" sz="1400" dirty="0">
              <a:solidFill>
                <a:schemeClr val="tx1"/>
              </a:solidFill>
            </a:endParaRPr>
          </a:p>
          <a:p>
            <a:r>
              <a:rPr lang="en-CA" sz="2000" dirty="0">
                <a:solidFill>
                  <a:schemeClr val="tx1"/>
                </a:solidFill>
              </a:rPr>
              <a:t>Post Upgrade</a:t>
            </a:r>
          </a:p>
        </p:txBody>
      </p:sp>
    </p:spTree>
    <p:extLst>
      <p:ext uri="{BB962C8B-B14F-4D97-AF65-F5344CB8AC3E}">
        <p14:creationId xmlns:p14="http://schemas.microsoft.com/office/powerpoint/2010/main" val="2958904680"/>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553998"/>
          </a:xfrm>
        </p:spPr>
        <p:txBody>
          <a:bodyPr/>
          <a:lstStyle/>
          <a:p>
            <a:r>
              <a:rPr lang="en-CA" sz="4000" dirty="0">
                <a:solidFill>
                  <a:schemeClr val="tx1"/>
                </a:solidFill>
              </a:rPr>
              <a:t>SharePoint/Project Server 2013 to 2016</a:t>
            </a:r>
          </a:p>
        </p:txBody>
      </p:sp>
      <p:sp>
        <p:nvSpPr>
          <p:cNvPr id="4" name="Text Placeholder 2"/>
          <p:cNvSpPr txBox="1">
            <a:spLocks/>
          </p:cNvSpPr>
          <p:nvPr/>
        </p:nvSpPr>
        <p:spPr>
          <a:xfrm>
            <a:off x="879289" y="1782479"/>
            <a:ext cx="7099300" cy="4302716"/>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dirty="0">
                <a:solidFill>
                  <a:schemeClr val="tx1"/>
                </a:solidFill>
              </a:rPr>
              <a:t>Pre-Upgrade</a:t>
            </a:r>
          </a:p>
          <a:p>
            <a:r>
              <a:rPr lang="en-CA" dirty="0">
                <a:solidFill>
                  <a:schemeClr val="tx1"/>
                </a:solidFill>
              </a:rPr>
              <a:t>The Upgrade</a:t>
            </a:r>
          </a:p>
          <a:p>
            <a:pPr lvl="1"/>
            <a:r>
              <a:rPr lang="en-CA" dirty="0">
                <a:solidFill>
                  <a:schemeClr val="tx1"/>
                </a:solidFill>
              </a:rPr>
              <a:t>Create Web Application</a:t>
            </a:r>
          </a:p>
          <a:p>
            <a:pPr lvl="1"/>
            <a:r>
              <a:rPr lang="en-CA" dirty="0">
                <a:solidFill>
                  <a:schemeClr val="tx1"/>
                </a:solidFill>
              </a:rPr>
              <a:t>SharePoint Upgrade</a:t>
            </a:r>
          </a:p>
          <a:p>
            <a:pPr lvl="2"/>
            <a:r>
              <a:rPr lang="en-CA" sz="2000" dirty="0">
                <a:solidFill>
                  <a:schemeClr val="tx1"/>
                </a:solidFill>
              </a:rPr>
              <a:t>Test-</a:t>
            </a:r>
            <a:r>
              <a:rPr lang="en-CA" sz="2000" dirty="0" err="1">
                <a:solidFill>
                  <a:schemeClr val="tx1"/>
                </a:solidFill>
              </a:rPr>
              <a:t>SPContentDatabase</a:t>
            </a:r>
            <a:endParaRPr lang="en-CA" sz="2000" dirty="0">
              <a:solidFill>
                <a:schemeClr val="tx1"/>
              </a:solidFill>
            </a:endParaRPr>
          </a:p>
          <a:p>
            <a:pPr lvl="2"/>
            <a:r>
              <a:rPr lang="en-CA" sz="2000" dirty="0">
                <a:solidFill>
                  <a:schemeClr val="tx1"/>
                </a:solidFill>
              </a:rPr>
              <a:t>Mount-</a:t>
            </a:r>
            <a:r>
              <a:rPr lang="en-CA" sz="2000" dirty="0" err="1">
                <a:solidFill>
                  <a:schemeClr val="tx1"/>
                </a:solidFill>
              </a:rPr>
              <a:t>SPContentDatabase</a:t>
            </a:r>
            <a:endParaRPr lang="en-CA" sz="2000" dirty="0">
              <a:solidFill>
                <a:schemeClr val="tx1"/>
              </a:solidFill>
            </a:endParaRPr>
          </a:p>
          <a:p>
            <a:pPr lvl="1"/>
            <a:r>
              <a:rPr lang="en-CA" dirty="0">
                <a:solidFill>
                  <a:schemeClr val="tx1"/>
                </a:solidFill>
              </a:rPr>
              <a:t>Project Server Upgrade</a:t>
            </a:r>
          </a:p>
          <a:p>
            <a:pPr lvl="2"/>
            <a:r>
              <a:rPr lang="en-CA" sz="2000" dirty="0">
                <a:solidFill>
                  <a:schemeClr val="tx1"/>
                </a:solidFill>
              </a:rPr>
              <a:t>Migrate-</a:t>
            </a:r>
            <a:r>
              <a:rPr lang="en-CA" sz="2000" dirty="0" err="1">
                <a:solidFill>
                  <a:schemeClr val="tx1"/>
                </a:solidFill>
              </a:rPr>
              <a:t>SPProjectDatabase</a:t>
            </a:r>
            <a:r>
              <a:rPr lang="en-CA" sz="2000" dirty="0">
                <a:solidFill>
                  <a:schemeClr val="tx1"/>
                </a:solidFill>
              </a:rPr>
              <a:t> </a:t>
            </a:r>
          </a:p>
          <a:p>
            <a:pPr lvl="2"/>
            <a:r>
              <a:rPr lang="en-CA" sz="2000" dirty="0">
                <a:solidFill>
                  <a:schemeClr val="tx1"/>
                </a:solidFill>
              </a:rPr>
              <a:t>Migrate-</a:t>
            </a:r>
            <a:r>
              <a:rPr lang="en-CA" sz="2000" dirty="0" err="1">
                <a:solidFill>
                  <a:schemeClr val="tx1"/>
                </a:solidFill>
              </a:rPr>
              <a:t>SPProjectResourcePlans</a:t>
            </a:r>
            <a:endParaRPr lang="en-CA" sz="2000" dirty="0">
              <a:solidFill>
                <a:schemeClr val="tx1"/>
              </a:solidFill>
            </a:endParaRPr>
          </a:p>
          <a:p>
            <a:r>
              <a:rPr lang="en-CA" dirty="0">
                <a:solidFill>
                  <a:schemeClr val="tx1"/>
                </a:solidFill>
              </a:rPr>
              <a:t>Post-Upgrade</a:t>
            </a:r>
          </a:p>
        </p:txBody>
      </p:sp>
    </p:spTree>
    <p:extLst>
      <p:ext uri="{BB962C8B-B14F-4D97-AF65-F5344CB8AC3E}">
        <p14:creationId xmlns:p14="http://schemas.microsoft.com/office/powerpoint/2010/main" val="4020206728"/>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63938" cy="553998"/>
          </a:xfrm>
        </p:spPr>
        <p:txBody>
          <a:bodyPr/>
          <a:lstStyle/>
          <a:p>
            <a:r>
              <a:rPr lang="en-CA" sz="4000" dirty="0">
                <a:solidFill>
                  <a:schemeClr val="tx1"/>
                </a:solidFill>
              </a:rPr>
              <a:t>SharePoint/Project Server 2016 to 2019</a:t>
            </a:r>
          </a:p>
        </p:txBody>
      </p:sp>
      <p:sp>
        <p:nvSpPr>
          <p:cNvPr id="4" name="Text Placeholder 2"/>
          <p:cNvSpPr txBox="1">
            <a:spLocks/>
          </p:cNvSpPr>
          <p:nvPr/>
        </p:nvSpPr>
        <p:spPr>
          <a:xfrm>
            <a:off x="754598" y="1851752"/>
            <a:ext cx="7099300" cy="3662541"/>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000" dirty="0">
                <a:solidFill>
                  <a:schemeClr val="tx1"/>
                </a:solidFill>
              </a:rPr>
              <a:t>Pre-Upgrade</a:t>
            </a:r>
          </a:p>
          <a:p>
            <a:r>
              <a:rPr lang="en-CA" sz="2000" dirty="0">
                <a:solidFill>
                  <a:schemeClr val="tx1"/>
                </a:solidFill>
              </a:rPr>
              <a:t>The Upgrade</a:t>
            </a:r>
          </a:p>
          <a:p>
            <a:pPr lvl="1"/>
            <a:r>
              <a:rPr lang="en-CA" sz="2000" dirty="0">
                <a:solidFill>
                  <a:schemeClr val="tx1"/>
                </a:solidFill>
              </a:rPr>
              <a:t>Create Web Application</a:t>
            </a:r>
          </a:p>
          <a:p>
            <a:pPr lvl="1"/>
            <a:r>
              <a:rPr lang="en-CA" sz="2000" dirty="0">
                <a:solidFill>
                  <a:schemeClr val="tx1"/>
                </a:solidFill>
              </a:rPr>
              <a:t>SharePoint Upgrade</a:t>
            </a:r>
          </a:p>
          <a:p>
            <a:pPr lvl="2"/>
            <a:r>
              <a:rPr lang="en-CA" sz="2000" dirty="0">
                <a:solidFill>
                  <a:schemeClr val="tx1"/>
                </a:solidFill>
              </a:rPr>
              <a:t>Test-</a:t>
            </a:r>
            <a:r>
              <a:rPr lang="en-CA" sz="2000" dirty="0" err="1">
                <a:solidFill>
                  <a:schemeClr val="tx1"/>
                </a:solidFill>
              </a:rPr>
              <a:t>SPContentDatabase</a:t>
            </a:r>
            <a:endParaRPr lang="en-CA" sz="2000" dirty="0">
              <a:solidFill>
                <a:schemeClr val="tx1"/>
              </a:solidFill>
            </a:endParaRPr>
          </a:p>
          <a:p>
            <a:pPr lvl="2"/>
            <a:r>
              <a:rPr lang="en-CA" sz="2000" dirty="0">
                <a:solidFill>
                  <a:schemeClr val="tx1"/>
                </a:solidFill>
              </a:rPr>
              <a:t>Mount-</a:t>
            </a:r>
            <a:r>
              <a:rPr lang="en-CA" sz="2000" dirty="0" err="1">
                <a:solidFill>
                  <a:schemeClr val="tx1"/>
                </a:solidFill>
              </a:rPr>
              <a:t>SPContentDatabase</a:t>
            </a:r>
            <a:endParaRPr lang="en-CA" sz="2000" dirty="0">
              <a:solidFill>
                <a:schemeClr val="tx1"/>
              </a:solidFill>
            </a:endParaRPr>
          </a:p>
          <a:p>
            <a:pPr lvl="1"/>
            <a:r>
              <a:rPr lang="en-CA" sz="2000" dirty="0">
                <a:solidFill>
                  <a:schemeClr val="tx1"/>
                </a:solidFill>
              </a:rPr>
              <a:t>Project Server Upgrade</a:t>
            </a:r>
          </a:p>
          <a:p>
            <a:pPr lvl="2"/>
            <a:r>
              <a:rPr lang="en-CA" sz="2000" dirty="0">
                <a:solidFill>
                  <a:schemeClr val="tx1"/>
                </a:solidFill>
              </a:rPr>
              <a:t>Migrate-</a:t>
            </a:r>
            <a:r>
              <a:rPr lang="en-CA" sz="2000" dirty="0" err="1">
                <a:solidFill>
                  <a:schemeClr val="tx1"/>
                </a:solidFill>
              </a:rPr>
              <a:t>SPProjectDatabase</a:t>
            </a:r>
            <a:r>
              <a:rPr lang="en-CA" sz="2000" dirty="0">
                <a:solidFill>
                  <a:schemeClr val="tx1"/>
                </a:solidFill>
              </a:rPr>
              <a:t> </a:t>
            </a:r>
          </a:p>
          <a:p>
            <a:pPr lvl="2"/>
            <a:r>
              <a:rPr lang="en-CA" sz="2000" dirty="0">
                <a:solidFill>
                  <a:schemeClr val="tx1"/>
                </a:solidFill>
              </a:rPr>
              <a:t>Migrate-</a:t>
            </a:r>
            <a:r>
              <a:rPr lang="en-CA" sz="2000" dirty="0" err="1">
                <a:solidFill>
                  <a:schemeClr val="tx1"/>
                </a:solidFill>
              </a:rPr>
              <a:t>SPProjectResourcePlans</a:t>
            </a:r>
            <a:endParaRPr lang="en-CA" sz="2000" dirty="0">
              <a:solidFill>
                <a:schemeClr val="tx1"/>
              </a:solidFill>
            </a:endParaRPr>
          </a:p>
          <a:p>
            <a:r>
              <a:rPr lang="en-CA" sz="2000" dirty="0">
                <a:solidFill>
                  <a:schemeClr val="tx1"/>
                </a:solidFill>
              </a:rPr>
              <a:t>Post-Upgrade</a:t>
            </a:r>
          </a:p>
          <a:p>
            <a:pPr lvl="1"/>
            <a:r>
              <a:rPr lang="en-CA" sz="2000" dirty="0">
                <a:solidFill>
                  <a:schemeClr val="tx1"/>
                </a:solidFill>
              </a:rPr>
              <a:t>Dismount -</a:t>
            </a:r>
            <a:r>
              <a:rPr lang="en-CA" sz="2000" dirty="0" err="1">
                <a:solidFill>
                  <a:schemeClr val="tx1"/>
                </a:solidFill>
              </a:rPr>
              <a:t>SPContentDatabase</a:t>
            </a:r>
            <a:endParaRPr lang="en-CA" sz="2000" dirty="0">
              <a:solidFill>
                <a:schemeClr val="tx1"/>
              </a:solidFill>
            </a:endParaRPr>
          </a:p>
        </p:txBody>
      </p:sp>
    </p:spTree>
    <p:extLst>
      <p:ext uri="{BB962C8B-B14F-4D97-AF65-F5344CB8AC3E}">
        <p14:creationId xmlns:p14="http://schemas.microsoft.com/office/powerpoint/2010/main" val="88521092"/>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FF4F4-4620-4430-9A9F-8323AEEF9CEA}"/>
              </a:ext>
            </a:extLst>
          </p:cNvPr>
          <p:cNvSpPr>
            <a:spLocks noGrp="1"/>
          </p:cNvSpPr>
          <p:nvPr>
            <p:ph type="title"/>
          </p:nvPr>
        </p:nvSpPr>
        <p:spPr>
          <a:xfrm>
            <a:off x="390031" y="854798"/>
            <a:ext cx="8363938" cy="664797"/>
          </a:xfrm>
        </p:spPr>
        <p:txBody>
          <a:bodyPr/>
          <a:lstStyle/>
          <a:p>
            <a:pPr algn="ctr"/>
            <a:r>
              <a:rPr lang="en-US" sz="4800" b="1" dirty="0"/>
              <a:t>Stabilizing</a:t>
            </a:r>
          </a:p>
        </p:txBody>
      </p:sp>
      <p:pic>
        <p:nvPicPr>
          <p:cNvPr id="4" name="Picture 3">
            <a:extLst>
              <a:ext uri="{FF2B5EF4-FFF2-40B4-BE49-F238E27FC236}">
                <a16:creationId xmlns:a16="http://schemas.microsoft.com/office/drawing/2014/main" id="{D41F4280-3A33-4B5F-8885-AB05F6E677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19595"/>
            <a:ext cx="9144000" cy="5338405"/>
          </a:xfrm>
          <a:prstGeom prst="rect">
            <a:avLst/>
          </a:prstGeom>
        </p:spPr>
      </p:pic>
    </p:spTree>
    <p:extLst>
      <p:ext uri="{BB962C8B-B14F-4D97-AF65-F5344CB8AC3E}">
        <p14:creationId xmlns:p14="http://schemas.microsoft.com/office/powerpoint/2010/main" val="218771947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z="4000" dirty="0">
                <a:solidFill>
                  <a:schemeClr val="tx1"/>
                </a:solidFill>
              </a:rPr>
              <a:t>Stabilizing Period</a:t>
            </a:r>
          </a:p>
        </p:txBody>
      </p:sp>
      <p:sp>
        <p:nvSpPr>
          <p:cNvPr id="4" name="Text Placeholder 2"/>
          <p:cNvSpPr txBox="1">
            <a:spLocks/>
          </p:cNvSpPr>
          <p:nvPr/>
        </p:nvSpPr>
        <p:spPr>
          <a:xfrm>
            <a:off x="381000" y="2084293"/>
            <a:ext cx="8382000" cy="3299365"/>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800" dirty="0">
                <a:solidFill>
                  <a:schemeClr val="tx1"/>
                </a:solidFill>
              </a:rPr>
              <a:t>Upgrade is completed</a:t>
            </a:r>
          </a:p>
          <a:p>
            <a:r>
              <a:rPr lang="en-CA" sz="2800" dirty="0">
                <a:solidFill>
                  <a:schemeClr val="tx1"/>
                </a:solidFill>
              </a:rPr>
              <a:t>Build Post Upgrade Checklist</a:t>
            </a:r>
          </a:p>
          <a:p>
            <a:pPr lvl="1"/>
            <a:r>
              <a:rPr lang="en-CA" sz="2400" dirty="0">
                <a:solidFill>
                  <a:schemeClr val="tx1"/>
                </a:solidFill>
              </a:rPr>
              <a:t>SharePoint Farm Adjustments</a:t>
            </a:r>
          </a:p>
          <a:p>
            <a:pPr lvl="1"/>
            <a:r>
              <a:rPr lang="en-CA" sz="2400" dirty="0">
                <a:solidFill>
                  <a:schemeClr val="tx1"/>
                </a:solidFill>
              </a:rPr>
              <a:t>Rebuild Reports </a:t>
            </a:r>
          </a:p>
          <a:p>
            <a:pPr lvl="1"/>
            <a:r>
              <a:rPr lang="en-CA" sz="2400" dirty="0">
                <a:solidFill>
                  <a:schemeClr val="tx1"/>
                </a:solidFill>
              </a:rPr>
              <a:t>Testers </a:t>
            </a:r>
          </a:p>
          <a:p>
            <a:r>
              <a:rPr lang="en-CA" sz="2400" dirty="0">
                <a:solidFill>
                  <a:schemeClr val="tx1"/>
                </a:solidFill>
              </a:rPr>
              <a:t>Deploy Project Pro client for select users</a:t>
            </a:r>
          </a:p>
          <a:p>
            <a:r>
              <a:rPr lang="en-CA" sz="2400" dirty="0">
                <a:solidFill>
                  <a:schemeClr val="tx1"/>
                </a:solidFill>
              </a:rPr>
              <a:t>TEST, TEST, TEST</a:t>
            </a:r>
          </a:p>
          <a:p>
            <a:r>
              <a:rPr lang="en-CA" sz="2400" dirty="0">
                <a:solidFill>
                  <a:schemeClr val="tx1"/>
                </a:solidFill>
              </a:rPr>
              <a:t>UPDATE SCRIPTS AND NOTES</a:t>
            </a:r>
          </a:p>
        </p:txBody>
      </p:sp>
    </p:spTree>
    <p:extLst>
      <p:ext uri="{BB962C8B-B14F-4D97-AF65-F5344CB8AC3E}">
        <p14:creationId xmlns:p14="http://schemas.microsoft.com/office/powerpoint/2010/main" val="4293911546"/>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z="4000" dirty="0">
                <a:solidFill>
                  <a:schemeClr val="tx1"/>
                </a:solidFill>
              </a:rPr>
              <a:t>Stabilizing Period</a:t>
            </a:r>
          </a:p>
        </p:txBody>
      </p:sp>
      <p:sp>
        <p:nvSpPr>
          <p:cNvPr id="4" name="Text Placeholder 2"/>
          <p:cNvSpPr txBox="1">
            <a:spLocks/>
          </p:cNvSpPr>
          <p:nvPr/>
        </p:nvSpPr>
        <p:spPr>
          <a:xfrm>
            <a:off x="484896" y="2239336"/>
            <a:ext cx="8382000" cy="3490186"/>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5400" dirty="0">
                <a:solidFill>
                  <a:schemeClr val="tx1"/>
                </a:solidFill>
              </a:rPr>
              <a:t>TEST</a:t>
            </a:r>
          </a:p>
          <a:p>
            <a:r>
              <a:rPr lang="en-CA" sz="5400" dirty="0">
                <a:solidFill>
                  <a:schemeClr val="tx1"/>
                </a:solidFill>
              </a:rPr>
              <a:t>TEST</a:t>
            </a:r>
          </a:p>
          <a:p>
            <a:r>
              <a:rPr lang="en-CA" sz="5400" dirty="0">
                <a:solidFill>
                  <a:schemeClr val="tx1"/>
                </a:solidFill>
              </a:rPr>
              <a:t>TEST</a:t>
            </a:r>
          </a:p>
          <a:p>
            <a:r>
              <a:rPr lang="en-CA" sz="5400" dirty="0">
                <a:solidFill>
                  <a:schemeClr val="tx1"/>
                </a:solidFill>
              </a:rPr>
              <a:t>UPDATE SCRIPTS /NOTES</a:t>
            </a:r>
          </a:p>
        </p:txBody>
      </p:sp>
    </p:spTree>
    <p:extLst>
      <p:ext uri="{BB962C8B-B14F-4D97-AF65-F5344CB8AC3E}">
        <p14:creationId xmlns:p14="http://schemas.microsoft.com/office/powerpoint/2010/main" val="3084930044"/>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FF4F4-4620-4430-9A9F-8323AEEF9CEA}"/>
              </a:ext>
            </a:extLst>
          </p:cNvPr>
          <p:cNvSpPr>
            <a:spLocks noGrp="1"/>
          </p:cNvSpPr>
          <p:nvPr>
            <p:ph type="title"/>
          </p:nvPr>
        </p:nvSpPr>
        <p:spPr>
          <a:xfrm>
            <a:off x="246776" y="847987"/>
            <a:ext cx="8363938" cy="664797"/>
          </a:xfrm>
        </p:spPr>
        <p:txBody>
          <a:bodyPr/>
          <a:lstStyle/>
          <a:p>
            <a:pPr algn="ctr"/>
            <a:r>
              <a:rPr lang="en-US" sz="4800" dirty="0"/>
              <a:t>Deployment</a:t>
            </a:r>
          </a:p>
        </p:txBody>
      </p:sp>
      <p:pic>
        <p:nvPicPr>
          <p:cNvPr id="4" name="Picture 3">
            <a:extLst>
              <a:ext uri="{FF2B5EF4-FFF2-40B4-BE49-F238E27FC236}">
                <a16:creationId xmlns:a16="http://schemas.microsoft.com/office/drawing/2014/main" id="{9535D1F5-84DE-4446-AC90-D9DBECAEF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 y="1655397"/>
            <a:ext cx="9144000" cy="5143500"/>
          </a:xfrm>
          <a:prstGeom prst="rect">
            <a:avLst/>
          </a:prstGeom>
        </p:spPr>
      </p:pic>
    </p:spTree>
    <p:extLst>
      <p:ext uri="{BB962C8B-B14F-4D97-AF65-F5344CB8AC3E}">
        <p14:creationId xmlns:p14="http://schemas.microsoft.com/office/powerpoint/2010/main" val="92842207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z="4000" dirty="0">
                <a:solidFill>
                  <a:schemeClr val="tx1"/>
                </a:solidFill>
              </a:rPr>
              <a:t>Deployment Period</a:t>
            </a:r>
          </a:p>
        </p:txBody>
      </p:sp>
      <p:sp>
        <p:nvSpPr>
          <p:cNvPr id="4" name="Text Placeholder 2"/>
          <p:cNvSpPr txBox="1">
            <a:spLocks/>
          </p:cNvSpPr>
          <p:nvPr/>
        </p:nvSpPr>
        <p:spPr>
          <a:xfrm>
            <a:off x="451583" y="1692229"/>
            <a:ext cx="8382000" cy="4598182"/>
          </a:xfrm>
          <a:prstGeom prst="rect">
            <a:avLst/>
          </a:prstGeom>
        </p:spPr>
        <p:txBody>
          <a:bodyPr vert="horz" wrap="square" lIns="0" tIns="0" rIns="0" bIns="0" rtlCol="0">
            <a:spAutoFit/>
          </a:bodyPr>
          <a:lstStyle>
            <a:lvl1pPr marL="460375" indent="-460375" algn="l" defTabSz="914363" rtl="0" eaLnBrk="1" latinLnBrk="0" hangingPunct="1">
              <a:lnSpc>
                <a:spcPct val="90000"/>
              </a:lnSpc>
              <a:spcBef>
                <a:spcPct val="20000"/>
              </a:spcBef>
              <a:buFontTx/>
              <a:buBlip>
                <a:blip r:embed="rId3"/>
              </a:buBlip>
              <a:defRPr sz="3200" kern="1200">
                <a:gradFill>
                  <a:gsLst>
                    <a:gs pos="0">
                      <a:schemeClr val="tx1"/>
                    </a:gs>
                    <a:gs pos="86000">
                      <a:schemeClr val="tx1"/>
                    </a:gs>
                  </a:gsLst>
                  <a:lin ang="5400000" scaled="0"/>
                </a:gradFill>
                <a:latin typeface="+mn-lt"/>
                <a:ea typeface="+mn-ea"/>
                <a:cs typeface="+mn-cs"/>
              </a:defRPr>
            </a:lvl1pPr>
            <a:lvl2pPr marL="974725" indent="-514350" algn="l" defTabSz="914363" rtl="0" eaLnBrk="1" latinLnBrk="0" hangingPunct="1">
              <a:lnSpc>
                <a:spcPct val="90000"/>
              </a:lnSpc>
              <a:spcBef>
                <a:spcPct val="20000"/>
              </a:spcBef>
              <a:buFont typeface="+mj-lt"/>
              <a:buAutoNum type="arabicPeriod"/>
              <a:defRPr sz="2800" kern="1200">
                <a:gradFill>
                  <a:gsLst>
                    <a:gs pos="0">
                      <a:schemeClr val="tx1"/>
                    </a:gs>
                    <a:gs pos="86000">
                      <a:schemeClr val="tx1"/>
                    </a:gs>
                  </a:gsLst>
                  <a:lin ang="5400000" scaled="0"/>
                </a:gradFill>
                <a:latin typeface="+mn-lt"/>
                <a:ea typeface="+mn-ea"/>
                <a:cs typeface="+mn-cs"/>
              </a:defRPr>
            </a:lvl2pPr>
            <a:lvl3pPr marL="1312863" indent="-457200" algn="l" defTabSz="914363" rtl="0" eaLnBrk="1" latinLnBrk="0" hangingPunct="1">
              <a:lnSpc>
                <a:spcPct val="90000"/>
              </a:lnSpc>
              <a:spcBef>
                <a:spcPct val="20000"/>
              </a:spcBef>
              <a:buFont typeface="+mj-lt"/>
              <a:buAutoNum type="alphaUcPeriod"/>
              <a:defRPr sz="2400" kern="1200">
                <a:gradFill>
                  <a:gsLst>
                    <a:gs pos="0">
                      <a:schemeClr val="tx1"/>
                    </a:gs>
                    <a:gs pos="86000">
                      <a:schemeClr val="tx1"/>
                    </a:gs>
                  </a:gsLst>
                  <a:lin ang="5400000" scaled="0"/>
                </a:gradFill>
                <a:latin typeface="+mn-lt"/>
                <a:ea typeface="+mn-ea"/>
                <a:cs typeface="+mn-cs"/>
              </a:defRPr>
            </a:lvl3pPr>
            <a:lvl4pPr marL="1716088" indent="-457200" algn="l" defTabSz="914363" rtl="0" eaLnBrk="1" latinLnBrk="0" hangingPunct="1">
              <a:lnSpc>
                <a:spcPct val="90000"/>
              </a:lnSpc>
              <a:spcBef>
                <a:spcPct val="20000"/>
              </a:spcBef>
              <a:buFont typeface="+mj-lt"/>
              <a:buAutoNum type="arabicParenR"/>
              <a:defRPr sz="2000" kern="1200">
                <a:gradFill>
                  <a:gsLst>
                    <a:gs pos="0">
                      <a:schemeClr val="tx1"/>
                    </a:gs>
                    <a:gs pos="86000">
                      <a:schemeClr val="tx1"/>
                    </a:gs>
                  </a:gsLst>
                  <a:lin ang="5400000" scaled="0"/>
                </a:gradFill>
                <a:latin typeface="+mn-lt"/>
                <a:ea typeface="+mn-ea"/>
                <a:cs typeface="+mn-cs"/>
              </a:defRPr>
            </a:lvl4pPr>
            <a:lvl5pPr marL="2119313" indent="-514350" algn="l" defTabSz="914363" rtl="0" eaLnBrk="1" latinLnBrk="0" hangingPunct="1">
              <a:lnSpc>
                <a:spcPct val="90000"/>
              </a:lnSpc>
              <a:spcBef>
                <a:spcPct val="20000"/>
              </a:spcBef>
              <a:buFont typeface="+mj-lt"/>
              <a:buAutoNum type="romanLcPeriod"/>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sz="2400" dirty="0"/>
              <a:t>Execute Pre-Upgrade Check List</a:t>
            </a:r>
          </a:p>
          <a:p>
            <a:pPr lvl="1"/>
            <a:r>
              <a:rPr lang="en-CA" sz="2000" dirty="0"/>
              <a:t>Coordinate Deploy Project Pro client </a:t>
            </a:r>
          </a:p>
          <a:p>
            <a:pPr lvl="1"/>
            <a:r>
              <a:rPr lang="en-CA" sz="2000" dirty="0"/>
              <a:t>Check in objects (Projects/Resources, </a:t>
            </a:r>
            <a:r>
              <a:rPr lang="en-CA" sz="2000" dirty="0" err="1"/>
              <a:t>etc</a:t>
            </a:r>
            <a:r>
              <a:rPr lang="en-CA" sz="2000" dirty="0"/>
              <a:t>)</a:t>
            </a:r>
          </a:p>
          <a:p>
            <a:pPr lvl="1"/>
            <a:r>
              <a:rPr lang="en-CA" sz="2000" dirty="0"/>
              <a:t>Lock Sites / Project Database Read Only</a:t>
            </a:r>
          </a:p>
          <a:p>
            <a:r>
              <a:rPr lang="en-CA" sz="2400" dirty="0"/>
              <a:t>Execute Upgrade Scripts</a:t>
            </a:r>
          </a:p>
          <a:p>
            <a:pPr lvl="1"/>
            <a:r>
              <a:rPr lang="en-CA" sz="1800" dirty="0"/>
              <a:t>Backup and Restore SQL Databases</a:t>
            </a:r>
          </a:p>
          <a:p>
            <a:pPr lvl="1"/>
            <a:r>
              <a:rPr lang="en-CA" sz="1800" dirty="0"/>
              <a:t>PowerShell Upgrade Scripts</a:t>
            </a:r>
          </a:p>
          <a:p>
            <a:r>
              <a:rPr lang="en-CA" sz="2400" dirty="0"/>
              <a:t>Execute Post-Upgrade Check List</a:t>
            </a:r>
          </a:p>
          <a:p>
            <a:r>
              <a:rPr lang="en-CA" sz="2400" dirty="0"/>
              <a:t>Stabilize Again</a:t>
            </a:r>
          </a:p>
          <a:p>
            <a:pPr lvl="1"/>
            <a:r>
              <a:rPr lang="en-CA" sz="2000" dirty="0"/>
              <a:t>SharePoint Farm A</a:t>
            </a:r>
            <a:r>
              <a:rPr lang="en-CA" sz="2000" i="1" dirty="0"/>
              <a:t>d</a:t>
            </a:r>
            <a:r>
              <a:rPr lang="en-CA" sz="2000" dirty="0"/>
              <a:t>justments</a:t>
            </a:r>
          </a:p>
          <a:p>
            <a:pPr lvl="1"/>
            <a:r>
              <a:rPr lang="en-CA" sz="2000" dirty="0"/>
              <a:t>Rebuild Reports </a:t>
            </a:r>
          </a:p>
          <a:p>
            <a:pPr lvl="1"/>
            <a:r>
              <a:rPr lang="en-CA" sz="2000" dirty="0"/>
              <a:t>PMO Tester</a:t>
            </a:r>
          </a:p>
          <a:p>
            <a:r>
              <a:rPr lang="en-CA" sz="2400" dirty="0"/>
              <a:t>Upgrade Accepted and Approved</a:t>
            </a:r>
          </a:p>
        </p:txBody>
      </p:sp>
    </p:spTree>
    <p:extLst>
      <p:ext uri="{BB962C8B-B14F-4D97-AF65-F5344CB8AC3E}">
        <p14:creationId xmlns:p14="http://schemas.microsoft.com/office/powerpoint/2010/main" val="3656681352"/>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187FB4-8101-4BE8-9F85-DB203C92297E}"/>
              </a:ext>
            </a:extLst>
          </p:cNvPr>
          <p:cNvSpPr>
            <a:spLocks noGrp="1"/>
          </p:cNvSpPr>
          <p:nvPr>
            <p:ph type="title"/>
          </p:nvPr>
        </p:nvSpPr>
        <p:spPr>
          <a:xfrm>
            <a:off x="389437" y="858388"/>
            <a:ext cx="8363938" cy="457048"/>
          </a:xfrm>
        </p:spPr>
        <p:txBody>
          <a:bodyPr/>
          <a:lstStyle/>
          <a:p>
            <a:r>
              <a:rPr lang="en-US" dirty="0"/>
              <a:t>Links</a:t>
            </a:r>
          </a:p>
        </p:txBody>
      </p:sp>
      <p:sp>
        <p:nvSpPr>
          <p:cNvPr id="5" name="Text Placeholder 4">
            <a:extLst>
              <a:ext uri="{FF2B5EF4-FFF2-40B4-BE49-F238E27FC236}">
                <a16:creationId xmlns:a16="http://schemas.microsoft.com/office/drawing/2014/main" id="{AF70CF62-4B47-4626-8C78-95BE30CD57AE}"/>
              </a:ext>
            </a:extLst>
          </p:cNvPr>
          <p:cNvSpPr>
            <a:spLocks noGrp="1"/>
          </p:cNvSpPr>
          <p:nvPr>
            <p:ph type="body" sz="quarter" idx="10"/>
          </p:nvPr>
        </p:nvSpPr>
        <p:spPr>
          <a:xfrm>
            <a:off x="390031" y="1856362"/>
            <a:ext cx="8363938" cy="3721019"/>
          </a:xfrm>
        </p:spPr>
        <p:txBody>
          <a:bodyPr/>
          <a:lstStyle/>
          <a:p>
            <a:r>
              <a:rPr lang="en-US" b="1" dirty="0" err="1"/>
              <a:t>MyProjectExpert</a:t>
            </a:r>
            <a:endParaRPr lang="en-US" b="1" dirty="0"/>
          </a:p>
          <a:p>
            <a:pPr lvl="1"/>
            <a:r>
              <a:rPr lang="en-US" b="1" dirty="0"/>
              <a:t>http://MyProjectExpert.com</a:t>
            </a:r>
          </a:p>
          <a:p>
            <a:r>
              <a:rPr lang="en-US" b="1" dirty="0"/>
              <a:t>GitHub </a:t>
            </a:r>
          </a:p>
          <a:p>
            <a:pPr lvl="1"/>
            <a:r>
              <a:rPr lang="en-US" b="1" dirty="0">
                <a:hlinkClick r:id="rId2"/>
              </a:rPr>
              <a:t>https://github.com/MyProjectExpert/ProjectServerTools</a:t>
            </a:r>
            <a:endParaRPr lang="en-US" b="1" dirty="0"/>
          </a:p>
          <a:p>
            <a:r>
              <a:rPr lang="en-US" b="1" dirty="0" err="1"/>
              <a:t>AutoSPInstallerOnine</a:t>
            </a:r>
            <a:endParaRPr lang="en-US" b="1" dirty="0"/>
          </a:p>
          <a:p>
            <a:pPr lvl="1"/>
            <a:r>
              <a:rPr lang="en-US" b="1" dirty="0"/>
              <a:t>https://autospinstaller.com/</a:t>
            </a:r>
          </a:p>
          <a:p>
            <a:r>
              <a:rPr lang="en-US" b="1" dirty="0"/>
              <a:t>Microsoft Documentation</a:t>
            </a:r>
          </a:p>
          <a:p>
            <a:pPr lvl="1"/>
            <a:r>
              <a:rPr lang="en-US" b="1" dirty="0"/>
              <a:t>https://docs.microsoft.com/en-us/project/install-and-configure-project-server-2016</a:t>
            </a:r>
          </a:p>
          <a:p>
            <a:endParaRPr lang="en-US" b="1" dirty="0"/>
          </a:p>
        </p:txBody>
      </p:sp>
    </p:spTree>
    <p:extLst>
      <p:ext uri="{BB962C8B-B14F-4D97-AF65-F5344CB8AC3E}">
        <p14:creationId xmlns:p14="http://schemas.microsoft.com/office/powerpoint/2010/main" val="3162968331"/>
      </p:ext>
    </p:extLst>
  </p:cSld>
  <p:clrMapOvr>
    <a:masterClrMapping/>
  </p:clrMapOvr>
  <p:transition spd="slow">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A0C5342-BE1C-4665-A4A8-A56C6A2DD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293" y="732070"/>
            <a:ext cx="6543413" cy="6125930"/>
          </a:xfrm>
          <a:prstGeom prst="rect">
            <a:avLst/>
          </a:prstGeom>
        </p:spPr>
      </p:pic>
    </p:spTree>
    <p:extLst>
      <p:ext uri="{BB962C8B-B14F-4D97-AF65-F5344CB8AC3E}">
        <p14:creationId xmlns:p14="http://schemas.microsoft.com/office/powerpoint/2010/main" val="73172867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bwMode="auto">
          <a:xfrm>
            <a:off x="0" y="1245732"/>
            <a:ext cx="9143999" cy="663873"/>
          </a:xfrm>
          <a:prstGeom prst="rect">
            <a:avLst/>
          </a:prstGeom>
          <a:solidFill>
            <a:srgbClr val="7FA0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t" anchorCtr="0" forceAA="0" compatLnSpc="1">
            <a:prstTxWarp prst="textNoShape">
              <a:avLst/>
            </a:prstTxWarp>
            <a:noAutofit/>
          </a:bodyPr>
          <a:lstStyle/>
          <a:p>
            <a:pPr algn="l" defTabSz="685450" fontAlgn="base">
              <a:lnSpc>
                <a:spcPct val="80000"/>
              </a:lnSpc>
              <a:spcBef>
                <a:spcPct val="0"/>
              </a:spcBef>
              <a:spcAft>
                <a:spcPct val="0"/>
              </a:spcAft>
            </a:pPr>
            <a:r>
              <a:rPr lang="en-US" sz="2400" spc="-75" dirty="0">
                <a:solidFill>
                  <a:srgbClr val="000000"/>
                </a:solidFill>
                <a:ea typeface="Segoe UI" pitchFamily="34" charset="0"/>
                <a:cs typeface="Segoe UI" pitchFamily="34" charset="0"/>
              </a:rPr>
              <a:t>30+ EPM </a:t>
            </a:r>
            <a:r>
              <a:rPr lang="en-US" sz="1471" spc="-75" dirty="0">
                <a:solidFill>
                  <a:srgbClr val="000000"/>
                </a:solidFill>
                <a:ea typeface="Segoe UI" pitchFamily="34" charset="0"/>
                <a:cs typeface="Segoe UI" pitchFamily="34" charset="0"/>
              </a:rPr>
              <a:t>Deployments       </a:t>
            </a:r>
            <a:r>
              <a:rPr lang="en-US" sz="2400" spc="-75" dirty="0">
                <a:solidFill>
                  <a:srgbClr val="000000"/>
                </a:solidFill>
                <a:ea typeface="Segoe UI" pitchFamily="34" charset="0"/>
                <a:cs typeface="Segoe UI" pitchFamily="34" charset="0"/>
              </a:rPr>
              <a:t>20+ SharePoint </a:t>
            </a:r>
            <a:r>
              <a:rPr lang="en-US" sz="1471" spc="-75" dirty="0">
                <a:solidFill>
                  <a:srgbClr val="000000"/>
                </a:solidFill>
                <a:ea typeface="Segoe UI" pitchFamily="34" charset="0"/>
                <a:cs typeface="Segoe UI" pitchFamily="34" charset="0"/>
              </a:rPr>
              <a:t>Migrations            </a:t>
            </a:r>
            <a:r>
              <a:rPr lang="en-US" sz="1765" spc="-75" dirty="0">
                <a:solidFill>
                  <a:srgbClr val="000000"/>
                </a:solidFill>
                <a:ea typeface="Segoe UI" pitchFamily="34" charset="0"/>
                <a:cs typeface="Segoe UI" pitchFamily="34" charset="0"/>
              </a:rPr>
              <a:t>1000+ Trained </a:t>
            </a:r>
            <a:r>
              <a:rPr lang="en-US" sz="1324" spc="-75" dirty="0">
                <a:solidFill>
                  <a:srgbClr val="000000"/>
                </a:solidFill>
                <a:ea typeface="Segoe UI" pitchFamily="34" charset="0"/>
                <a:cs typeface="Segoe UI" pitchFamily="34" charset="0"/>
              </a:rPr>
              <a:t>Project Manager</a:t>
            </a:r>
          </a:p>
          <a:p>
            <a:pPr defTabSz="685450" fontAlgn="base">
              <a:lnSpc>
                <a:spcPct val="80000"/>
              </a:lnSpc>
              <a:spcBef>
                <a:spcPct val="0"/>
              </a:spcBef>
              <a:spcAft>
                <a:spcPct val="0"/>
              </a:spcAft>
            </a:pPr>
            <a:endParaRPr lang="en-US" sz="1029" spc="-75" dirty="0">
              <a:solidFill>
                <a:srgbClr val="000000"/>
              </a:solidFill>
              <a:ea typeface="Segoe UI" pitchFamily="34" charset="0"/>
              <a:cs typeface="Segoe UI" pitchFamily="34" charset="0"/>
            </a:endParaRPr>
          </a:p>
        </p:txBody>
      </p:sp>
      <p:pic>
        <p:nvPicPr>
          <p:cNvPr id="2" name="Picture 1"/>
          <p:cNvPicPr>
            <a:picLocks noChangeAspect="1"/>
          </p:cNvPicPr>
          <p:nvPr/>
        </p:nvPicPr>
        <p:blipFill>
          <a:blip r:embed="rId3"/>
          <a:stretch>
            <a:fillRect/>
          </a:stretch>
        </p:blipFill>
        <p:spPr>
          <a:xfrm rot="20989717">
            <a:off x="155394" y="4479382"/>
            <a:ext cx="3000832" cy="2174255"/>
          </a:xfrm>
          <a:prstGeom prst="rect">
            <a:avLst/>
          </a:prstGeom>
        </p:spPr>
      </p:pic>
      <p:sp>
        <p:nvSpPr>
          <p:cNvPr id="41" name="Rectangle 40"/>
          <p:cNvSpPr/>
          <p:nvPr/>
        </p:nvSpPr>
        <p:spPr bwMode="auto">
          <a:xfrm rot="5400000">
            <a:off x="1906469" y="4805808"/>
            <a:ext cx="392478" cy="3812735"/>
          </a:xfrm>
          <a:prstGeom prst="rect">
            <a:avLst/>
          </a:prstGeom>
          <a:solidFill>
            <a:srgbClr val="59701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endParaRPr lang="en-US" sz="1500" spc="-75" dirty="0">
              <a:solidFill>
                <a:schemeClr val="tx1"/>
              </a:solidFill>
              <a:ea typeface="Segoe UI" pitchFamily="34" charset="0"/>
              <a:cs typeface="Segoe UI" pitchFamily="34" charset="0"/>
            </a:endParaRPr>
          </a:p>
        </p:txBody>
      </p:sp>
      <p:sp>
        <p:nvSpPr>
          <p:cNvPr id="12" name="Rectangle 11"/>
          <p:cNvSpPr/>
          <p:nvPr/>
        </p:nvSpPr>
        <p:spPr bwMode="auto">
          <a:xfrm>
            <a:off x="6038764" y="4577201"/>
            <a:ext cx="1662330" cy="1372766"/>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Comic Books</a:t>
            </a:r>
          </a:p>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Hardware</a:t>
            </a:r>
          </a:p>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Hacking</a:t>
            </a:r>
          </a:p>
          <a:p>
            <a:pPr algn="ctr"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Robots</a:t>
            </a:r>
            <a:br>
              <a:rPr lang="en-US" sz="1765" spc="-75" dirty="0">
                <a:solidFill>
                  <a:schemeClr val="bg1"/>
                </a:solidFill>
                <a:ea typeface="Segoe UI" pitchFamily="34" charset="0"/>
                <a:cs typeface="Segoe UI" pitchFamily="34" charset="0"/>
              </a:rPr>
            </a:br>
            <a:r>
              <a:rPr lang="en-US" sz="1765" spc="-75" dirty="0">
                <a:solidFill>
                  <a:schemeClr val="bg1"/>
                </a:solidFill>
                <a:ea typeface="Segoe UI" pitchFamily="34" charset="0"/>
                <a:cs typeface="Segoe UI" pitchFamily="34" charset="0"/>
              </a:rPr>
              <a:t>Walking</a:t>
            </a:r>
          </a:p>
        </p:txBody>
      </p:sp>
      <p:sp>
        <p:nvSpPr>
          <p:cNvPr id="13" name="Rectangle 12"/>
          <p:cNvSpPr/>
          <p:nvPr/>
        </p:nvSpPr>
        <p:spPr bwMode="auto">
          <a:xfrm>
            <a:off x="7609902" y="4414600"/>
            <a:ext cx="1534097" cy="151640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ctr" anchorCtr="0" forceAA="0" compatLnSpc="1">
            <a:prstTxWarp prst="textNoShape">
              <a:avLst/>
            </a:prstTxWarp>
            <a:noAutofit/>
          </a:bodyPr>
          <a:lstStyle/>
          <a:p>
            <a:pPr algn="l" defTabSz="685450" fontAlgn="base">
              <a:lnSpc>
                <a:spcPct val="80000"/>
              </a:lnSpc>
              <a:spcBef>
                <a:spcPct val="0"/>
              </a:spcBef>
              <a:spcAft>
                <a:spcPct val="0"/>
              </a:spcAft>
            </a:pPr>
            <a:r>
              <a:rPr lang="en-US" sz="1765" spc="-75" dirty="0">
                <a:solidFill>
                  <a:schemeClr val="bg1"/>
                </a:solidFill>
                <a:ea typeface="Segoe UI" pitchFamily="34" charset="0"/>
                <a:cs typeface="Segoe UI" pitchFamily="34" charset="0"/>
              </a:rPr>
              <a:t>Wharton Computer Consulting  since 1997</a:t>
            </a:r>
          </a:p>
        </p:txBody>
      </p:sp>
      <p:sp>
        <p:nvSpPr>
          <p:cNvPr id="14" name="Rectangle 13"/>
          <p:cNvSpPr/>
          <p:nvPr/>
        </p:nvSpPr>
        <p:spPr bwMode="auto">
          <a:xfrm>
            <a:off x="5350899" y="2975671"/>
            <a:ext cx="3817689" cy="1620550"/>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560" tIns="68560" rIns="68560" bIns="68560" numCol="1" spcCol="0" rtlCol="0" fromWordArt="0" anchor="ctr" anchorCtr="0" forceAA="0" compatLnSpc="1">
            <a:prstTxWarp prst="textNoShape">
              <a:avLst/>
            </a:prstTxWarp>
            <a:noAutofit/>
          </a:bodyPr>
          <a:lstStyle/>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Technical Reviewer</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Missing Manual: Project 2010 and Project 2013</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Project Management using MS Project 2013</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Forecast Scheduling 2013</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Forecast Scheduling 2018</a:t>
            </a:r>
          </a:p>
          <a:p>
            <a:pPr algn="r" defTabSz="685450" fontAlgn="base">
              <a:lnSpc>
                <a:spcPct val="80000"/>
              </a:lnSpc>
              <a:spcBef>
                <a:spcPct val="0"/>
              </a:spcBef>
              <a:spcAft>
                <a:spcPct val="0"/>
              </a:spcAft>
            </a:pPr>
            <a:r>
              <a:rPr lang="en-US" sz="1400" spc="-75" dirty="0">
                <a:solidFill>
                  <a:schemeClr val="bg1"/>
                </a:solidFill>
                <a:ea typeface="Segoe UI" pitchFamily="34" charset="0"/>
                <a:cs typeface="Segoe UI" pitchFamily="34" charset="0"/>
              </a:rPr>
              <a:t>Forecast Program</a:t>
            </a:r>
          </a:p>
          <a:p>
            <a:pPr algn="r" defTabSz="685450" fontAlgn="base">
              <a:lnSpc>
                <a:spcPct val="80000"/>
              </a:lnSpc>
              <a:spcBef>
                <a:spcPct val="0"/>
              </a:spcBef>
              <a:spcAft>
                <a:spcPct val="0"/>
              </a:spcAft>
            </a:pPr>
            <a:endParaRPr lang="en-US" sz="1400" spc="-75" dirty="0">
              <a:solidFill>
                <a:schemeClr val="bg1"/>
              </a:solidFill>
              <a:ea typeface="Segoe UI" pitchFamily="34" charset="0"/>
              <a:cs typeface="Segoe UI" pitchFamily="34" charset="0"/>
            </a:endParaRPr>
          </a:p>
        </p:txBody>
      </p:sp>
      <p:sp>
        <p:nvSpPr>
          <p:cNvPr id="26" name="Rectangle 25"/>
          <p:cNvSpPr/>
          <p:nvPr/>
        </p:nvSpPr>
        <p:spPr bwMode="auto">
          <a:xfrm>
            <a:off x="3575244" y="1864253"/>
            <a:ext cx="1775655" cy="2731968"/>
          </a:xfrm>
          <a:prstGeom prst="rect">
            <a:avLst/>
          </a:prstGeom>
          <a:solidFill>
            <a:srgbClr val="59701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r>
              <a:rPr lang="en-US" sz="1500" spc="-75" dirty="0">
                <a:solidFill>
                  <a:schemeClr val="bg1"/>
                </a:solidFill>
                <a:ea typeface="Segoe UI" pitchFamily="34" charset="0"/>
                <a:cs typeface="Segoe UI" pitchFamily="34" charset="0"/>
              </a:rPr>
              <a:t>PMO Automations and Monitoring</a:t>
            </a: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r>
              <a:rPr lang="en-US" sz="1500" spc="-75" dirty="0">
                <a:solidFill>
                  <a:schemeClr val="bg1"/>
                </a:solidFill>
                <a:ea typeface="Segoe UI" pitchFamily="34" charset="0"/>
                <a:cs typeface="Segoe UI" pitchFamily="34" charset="0"/>
              </a:rPr>
              <a:t>Fundamentals of Scheduling</a:t>
            </a: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a:p>
            <a:pPr defTabSz="685450" fontAlgn="base">
              <a:lnSpc>
                <a:spcPct val="80000"/>
              </a:lnSpc>
              <a:spcBef>
                <a:spcPct val="0"/>
              </a:spcBef>
              <a:spcAft>
                <a:spcPct val="0"/>
              </a:spcAft>
            </a:pPr>
            <a:endParaRPr lang="en-US" sz="1500" spc="-75" dirty="0">
              <a:solidFill>
                <a:schemeClr val="bg1"/>
              </a:solidFill>
              <a:ea typeface="Segoe UI" pitchFamily="34" charset="0"/>
              <a:cs typeface="Segoe UI" pitchFamily="34" charset="0"/>
            </a:endParaRPr>
          </a:p>
        </p:txBody>
      </p:sp>
      <p:grpSp>
        <p:nvGrpSpPr>
          <p:cNvPr id="33" name="Group 32"/>
          <p:cNvGrpSpPr/>
          <p:nvPr/>
        </p:nvGrpSpPr>
        <p:grpSpPr bwMode="black">
          <a:xfrm>
            <a:off x="4154579" y="3507030"/>
            <a:ext cx="588202" cy="1070171"/>
            <a:chOff x="3360738" y="989012"/>
            <a:chExt cx="746125" cy="1439864"/>
          </a:xfrm>
        </p:grpSpPr>
        <p:sp>
          <p:nvSpPr>
            <p:cNvPr id="34" name="Freeform 36"/>
            <p:cNvSpPr>
              <a:spLocks/>
            </p:cNvSpPr>
            <p:nvPr/>
          </p:nvSpPr>
          <p:spPr bwMode="black">
            <a:xfrm>
              <a:off x="3360738" y="1255713"/>
              <a:ext cx="525463" cy="1173163"/>
            </a:xfrm>
            <a:custGeom>
              <a:avLst/>
              <a:gdLst>
                <a:gd name="T0" fmla="*/ 252 w 562"/>
                <a:gd name="T1" fmla="*/ 272 h 1256"/>
                <a:gd name="T2" fmla="*/ 234 w 562"/>
                <a:gd name="T3" fmla="*/ 192 h 1256"/>
                <a:gd name="T4" fmla="*/ 407 w 562"/>
                <a:gd name="T5" fmla="*/ 20 h 1256"/>
                <a:gd name="T6" fmla="*/ 534 w 562"/>
                <a:gd name="T7" fmla="*/ 76 h 1256"/>
                <a:gd name="T8" fmla="*/ 562 w 562"/>
                <a:gd name="T9" fmla="*/ 51 h 1256"/>
                <a:gd name="T10" fmla="*/ 443 w 562"/>
                <a:gd name="T11" fmla="*/ 0 h 1256"/>
                <a:gd name="T12" fmla="*/ 164 w 562"/>
                <a:gd name="T13" fmla="*/ 0 h 1256"/>
                <a:gd name="T14" fmla="*/ 0 w 562"/>
                <a:gd name="T15" fmla="*/ 163 h 1256"/>
                <a:gd name="T16" fmla="*/ 0 w 562"/>
                <a:gd name="T17" fmla="*/ 556 h 1256"/>
                <a:gd name="T18" fmla="*/ 55 w 562"/>
                <a:gd name="T19" fmla="*/ 612 h 1256"/>
                <a:gd name="T20" fmla="*/ 110 w 562"/>
                <a:gd name="T21" fmla="*/ 556 h 1256"/>
                <a:gd name="T22" fmla="*/ 110 w 562"/>
                <a:gd name="T23" fmla="*/ 201 h 1256"/>
                <a:gd name="T24" fmla="*/ 139 w 562"/>
                <a:gd name="T25" fmla="*/ 201 h 1256"/>
                <a:gd name="T26" fmla="*/ 139 w 562"/>
                <a:gd name="T27" fmla="*/ 1182 h 1256"/>
                <a:gd name="T28" fmla="*/ 214 w 562"/>
                <a:gd name="T29" fmla="*/ 1256 h 1256"/>
                <a:gd name="T30" fmla="*/ 288 w 562"/>
                <a:gd name="T31" fmla="*/ 1182 h 1256"/>
                <a:gd name="T32" fmla="*/ 288 w 562"/>
                <a:gd name="T33" fmla="*/ 615 h 1256"/>
                <a:gd name="T34" fmla="*/ 317 w 562"/>
                <a:gd name="T35" fmla="*/ 615 h 1256"/>
                <a:gd name="T36" fmla="*/ 317 w 562"/>
                <a:gd name="T37" fmla="*/ 1182 h 1256"/>
                <a:gd name="T38" fmla="*/ 392 w 562"/>
                <a:gd name="T39" fmla="*/ 1256 h 1256"/>
                <a:gd name="T40" fmla="*/ 467 w 562"/>
                <a:gd name="T41" fmla="*/ 1182 h 1256"/>
                <a:gd name="T42" fmla="*/ 467 w 562"/>
                <a:gd name="T43" fmla="*/ 516 h 1256"/>
                <a:gd name="T44" fmla="*/ 252 w 562"/>
                <a:gd name="T45" fmla="*/ 272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2" h="1256">
                  <a:moveTo>
                    <a:pt x="252" y="272"/>
                  </a:moveTo>
                  <a:cubicBezTo>
                    <a:pt x="248" y="262"/>
                    <a:pt x="234" y="225"/>
                    <a:pt x="234" y="192"/>
                  </a:cubicBezTo>
                  <a:cubicBezTo>
                    <a:pt x="234" y="97"/>
                    <a:pt x="312" y="20"/>
                    <a:pt x="407" y="20"/>
                  </a:cubicBezTo>
                  <a:cubicBezTo>
                    <a:pt x="456" y="20"/>
                    <a:pt x="501" y="41"/>
                    <a:pt x="534" y="76"/>
                  </a:cubicBezTo>
                  <a:cubicBezTo>
                    <a:pt x="542" y="66"/>
                    <a:pt x="551" y="58"/>
                    <a:pt x="562" y="51"/>
                  </a:cubicBezTo>
                  <a:cubicBezTo>
                    <a:pt x="532" y="20"/>
                    <a:pt x="490" y="0"/>
                    <a:pt x="443" y="0"/>
                  </a:cubicBezTo>
                  <a:cubicBezTo>
                    <a:pt x="164" y="0"/>
                    <a:pt x="164" y="0"/>
                    <a:pt x="164" y="0"/>
                  </a:cubicBezTo>
                  <a:cubicBezTo>
                    <a:pt x="73" y="0"/>
                    <a:pt x="0" y="73"/>
                    <a:pt x="0" y="163"/>
                  </a:cubicBezTo>
                  <a:cubicBezTo>
                    <a:pt x="0" y="556"/>
                    <a:pt x="0" y="556"/>
                    <a:pt x="0" y="556"/>
                  </a:cubicBezTo>
                  <a:cubicBezTo>
                    <a:pt x="0" y="587"/>
                    <a:pt x="25" y="612"/>
                    <a:pt x="55" y="612"/>
                  </a:cubicBezTo>
                  <a:cubicBezTo>
                    <a:pt x="86" y="612"/>
                    <a:pt x="110" y="587"/>
                    <a:pt x="110" y="556"/>
                  </a:cubicBezTo>
                  <a:cubicBezTo>
                    <a:pt x="110" y="201"/>
                    <a:pt x="110" y="201"/>
                    <a:pt x="110" y="201"/>
                  </a:cubicBezTo>
                  <a:cubicBezTo>
                    <a:pt x="139" y="201"/>
                    <a:pt x="139" y="201"/>
                    <a:pt x="139" y="201"/>
                  </a:cubicBezTo>
                  <a:cubicBezTo>
                    <a:pt x="139" y="1182"/>
                    <a:pt x="139" y="1182"/>
                    <a:pt x="139" y="1182"/>
                  </a:cubicBezTo>
                  <a:cubicBezTo>
                    <a:pt x="139" y="1223"/>
                    <a:pt x="173" y="1256"/>
                    <a:pt x="214" y="1256"/>
                  </a:cubicBezTo>
                  <a:cubicBezTo>
                    <a:pt x="255" y="1256"/>
                    <a:pt x="288" y="1223"/>
                    <a:pt x="288" y="1182"/>
                  </a:cubicBezTo>
                  <a:cubicBezTo>
                    <a:pt x="288" y="615"/>
                    <a:pt x="288" y="615"/>
                    <a:pt x="288" y="615"/>
                  </a:cubicBezTo>
                  <a:cubicBezTo>
                    <a:pt x="317" y="615"/>
                    <a:pt x="317" y="615"/>
                    <a:pt x="317" y="615"/>
                  </a:cubicBezTo>
                  <a:cubicBezTo>
                    <a:pt x="317" y="1182"/>
                    <a:pt x="317" y="1182"/>
                    <a:pt x="317" y="1182"/>
                  </a:cubicBezTo>
                  <a:cubicBezTo>
                    <a:pt x="317" y="1223"/>
                    <a:pt x="351" y="1256"/>
                    <a:pt x="392" y="1256"/>
                  </a:cubicBezTo>
                  <a:cubicBezTo>
                    <a:pt x="433" y="1256"/>
                    <a:pt x="467" y="1223"/>
                    <a:pt x="467" y="1182"/>
                  </a:cubicBezTo>
                  <a:cubicBezTo>
                    <a:pt x="467" y="516"/>
                    <a:pt x="467" y="516"/>
                    <a:pt x="467" y="516"/>
                  </a:cubicBezTo>
                  <a:cubicBezTo>
                    <a:pt x="398" y="459"/>
                    <a:pt x="284" y="354"/>
                    <a:pt x="252" y="2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sp>
          <p:nvSpPr>
            <p:cNvPr id="35" name="Freeform 37"/>
            <p:cNvSpPr>
              <a:spLocks/>
            </p:cNvSpPr>
            <p:nvPr/>
          </p:nvSpPr>
          <p:spPr bwMode="black">
            <a:xfrm>
              <a:off x="3824288" y="1733550"/>
              <a:ext cx="103188" cy="93663"/>
            </a:xfrm>
            <a:custGeom>
              <a:avLst/>
              <a:gdLst>
                <a:gd name="T0" fmla="*/ 58 w 110"/>
                <a:gd name="T1" fmla="*/ 43 h 101"/>
                <a:gd name="T2" fmla="*/ 38 w 110"/>
                <a:gd name="T3" fmla="*/ 59 h 101"/>
                <a:gd name="T4" fmla="*/ 17 w 110"/>
                <a:gd name="T5" fmla="*/ 43 h 101"/>
                <a:gd name="T6" fmla="*/ 0 w 110"/>
                <a:gd name="T7" fmla="*/ 29 h 101"/>
                <a:gd name="T8" fmla="*/ 0 w 110"/>
                <a:gd name="T9" fmla="*/ 45 h 101"/>
                <a:gd name="T10" fmla="*/ 56 w 110"/>
                <a:gd name="T11" fmla="*/ 101 h 101"/>
                <a:gd name="T12" fmla="*/ 110 w 110"/>
                <a:gd name="T13" fmla="*/ 45 h 101"/>
                <a:gd name="T14" fmla="*/ 110 w 110"/>
                <a:gd name="T15" fmla="*/ 0 h 101"/>
                <a:gd name="T16" fmla="*/ 58 w 110"/>
                <a:gd name="T17" fmla="*/ 4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01">
                  <a:moveTo>
                    <a:pt x="58" y="43"/>
                  </a:moveTo>
                  <a:cubicBezTo>
                    <a:pt x="38" y="59"/>
                    <a:pt x="38" y="59"/>
                    <a:pt x="38" y="59"/>
                  </a:cubicBezTo>
                  <a:cubicBezTo>
                    <a:pt x="17" y="43"/>
                    <a:pt x="17" y="43"/>
                    <a:pt x="17" y="43"/>
                  </a:cubicBezTo>
                  <a:cubicBezTo>
                    <a:pt x="13" y="40"/>
                    <a:pt x="7" y="35"/>
                    <a:pt x="0" y="29"/>
                  </a:cubicBezTo>
                  <a:cubicBezTo>
                    <a:pt x="0" y="45"/>
                    <a:pt x="0" y="45"/>
                    <a:pt x="0" y="45"/>
                  </a:cubicBezTo>
                  <a:cubicBezTo>
                    <a:pt x="0" y="76"/>
                    <a:pt x="25" y="101"/>
                    <a:pt x="56" y="101"/>
                  </a:cubicBezTo>
                  <a:cubicBezTo>
                    <a:pt x="85" y="101"/>
                    <a:pt x="110" y="76"/>
                    <a:pt x="110" y="45"/>
                  </a:cubicBezTo>
                  <a:cubicBezTo>
                    <a:pt x="110" y="0"/>
                    <a:pt x="110" y="0"/>
                    <a:pt x="110" y="0"/>
                  </a:cubicBezTo>
                  <a:cubicBezTo>
                    <a:pt x="86" y="20"/>
                    <a:pt x="67" y="35"/>
                    <a:pt x="58" y="4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sp>
          <p:nvSpPr>
            <p:cNvPr id="36" name="Oval 38"/>
            <p:cNvSpPr>
              <a:spLocks noChangeArrowheads="1"/>
            </p:cNvSpPr>
            <p:nvPr/>
          </p:nvSpPr>
          <p:spPr bwMode="black">
            <a:xfrm>
              <a:off x="3525838" y="989012"/>
              <a:ext cx="234950" cy="2381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sp>
          <p:nvSpPr>
            <p:cNvPr id="37" name="Freeform 39"/>
            <p:cNvSpPr>
              <a:spLocks/>
            </p:cNvSpPr>
            <p:nvPr/>
          </p:nvSpPr>
          <p:spPr bwMode="black">
            <a:xfrm>
              <a:off x="3606800" y="1304925"/>
              <a:ext cx="500063" cy="444500"/>
            </a:xfrm>
            <a:custGeom>
              <a:avLst/>
              <a:gdLst>
                <a:gd name="T0" fmla="*/ 267 w 535"/>
                <a:gd name="T1" fmla="*/ 476 h 477"/>
                <a:gd name="T2" fmla="*/ 15 w 535"/>
                <a:gd name="T3" fmla="*/ 208 h 477"/>
                <a:gd name="T4" fmla="*/ 0 w 535"/>
                <a:gd name="T5" fmla="*/ 140 h 477"/>
                <a:gd name="T6" fmla="*/ 141 w 535"/>
                <a:gd name="T7" fmla="*/ 0 h 477"/>
                <a:gd name="T8" fmla="*/ 268 w 535"/>
                <a:gd name="T9" fmla="*/ 80 h 477"/>
                <a:gd name="T10" fmla="*/ 394 w 535"/>
                <a:gd name="T11" fmla="*/ 0 h 477"/>
                <a:gd name="T12" fmla="*/ 535 w 535"/>
                <a:gd name="T13" fmla="*/ 140 h 477"/>
                <a:gd name="T14" fmla="*/ 520 w 535"/>
                <a:gd name="T15" fmla="*/ 208 h 477"/>
                <a:gd name="T16" fmla="*/ 269 w 535"/>
                <a:gd name="T17" fmla="*/ 476 h 477"/>
                <a:gd name="T18" fmla="*/ 268 w 535"/>
                <a:gd name="T19" fmla="*/ 477 h 477"/>
                <a:gd name="T20" fmla="*/ 267 w 535"/>
                <a:gd name="T21" fmla="*/ 476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5" h="477">
                  <a:moveTo>
                    <a:pt x="267" y="476"/>
                  </a:moveTo>
                  <a:cubicBezTo>
                    <a:pt x="247" y="461"/>
                    <a:pt x="55" y="310"/>
                    <a:pt x="15" y="208"/>
                  </a:cubicBezTo>
                  <a:cubicBezTo>
                    <a:pt x="8" y="189"/>
                    <a:pt x="0" y="162"/>
                    <a:pt x="0" y="140"/>
                  </a:cubicBezTo>
                  <a:cubicBezTo>
                    <a:pt x="0" y="63"/>
                    <a:pt x="63" y="0"/>
                    <a:pt x="141" y="0"/>
                  </a:cubicBezTo>
                  <a:cubicBezTo>
                    <a:pt x="197" y="0"/>
                    <a:pt x="245" y="33"/>
                    <a:pt x="268" y="80"/>
                  </a:cubicBezTo>
                  <a:cubicBezTo>
                    <a:pt x="290" y="33"/>
                    <a:pt x="339" y="0"/>
                    <a:pt x="394" y="0"/>
                  </a:cubicBezTo>
                  <a:cubicBezTo>
                    <a:pt x="472" y="0"/>
                    <a:pt x="535" y="63"/>
                    <a:pt x="535" y="140"/>
                  </a:cubicBezTo>
                  <a:cubicBezTo>
                    <a:pt x="535" y="162"/>
                    <a:pt x="527" y="189"/>
                    <a:pt x="520" y="208"/>
                  </a:cubicBezTo>
                  <a:cubicBezTo>
                    <a:pt x="480" y="310"/>
                    <a:pt x="288" y="461"/>
                    <a:pt x="269" y="476"/>
                  </a:cubicBezTo>
                  <a:cubicBezTo>
                    <a:pt x="268" y="477"/>
                    <a:pt x="268" y="477"/>
                    <a:pt x="268" y="477"/>
                  </a:cubicBezTo>
                  <a:lnTo>
                    <a:pt x="267" y="47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endParaRPr lang="en-US" sz="1200"/>
            </a:p>
          </p:txBody>
        </p:sp>
      </p:grpSp>
      <p:sp>
        <p:nvSpPr>
          <p:cNvPr id="10" name="Rectangle 9"/>
          <p:cNvSpPr/>
          <p:nvPr/>
        </p:nvSpPr>
        <p:spPr>
          <a:xfrm>
            <a:off x="223503" y="6488948"/>
            <a:ext cx="3425060" cy="415498"/>
          </a:xfrm>
          <a:prstGeom prst="rect">
            <a:avLst/>
          </a:prstGeom>
        </p:spPr>
        <p:txBody>
          <a:bodyPr wrap="square">
            <a:spAutoFit/>
          </a:bodyPr>
          <a:lstStyle/>
          <a:p>
            <a:r>
              <a:rPr lang="en-US" sz="2100" spc="-75" dirty="0">
                <a:solidFill>
                  <a:schemeClr val="bg1"/>
                </a:solidFill>
                <a:ea typeface="Segoe UI" pitchFamily="34" charset="0"/>
                <a:cs typeface="Segoe UI" pitchFamily="34" charset="0"/>
              </a:rPr>
              <a:t>MyProjectExpert.com</a:t>
            </a:r>
            <a:endParaRPr lang="da-DK" sz="2100" dirty="0">
              <a:solidFill>
                <a:schemeClr val="bg1"/>
              </a:solidFill>
            </a:endParaRPr>
          </a:p>
        </p:txBody>
      </p:sp>
      <p:sp>
        <p:nvSpPr>
          <p:cNvPr id="24" name="Rectangle 23"/>
          <p:cNvSpPr/>
          <p:nvPr/>
        </p:nvSpPr>
        <p:spPr bwMode="auto">
          <a:xfrm>
            <a:off x="-13005" y="702993"/>
            <a:ext cx="9157005" cy="541064"/>
          </a:xfrm>
          <a:prstGeom prst="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r>
              <a:rPr lang="en-US" sz="3000" spc="-75" dirty="0">
                <a:solidFill>
                  <a:schemeClr val="bg1"/>
                </a:solidFill>
                <a:ea typeface="Segoe UI" pitchFamily="34" charset="0"/>
                <a:cs typeface="Segoe UI" pitchFamily="34" charset="0"/>
              </a:rPr>
              <a:t>About: Michael Wharton (SharePoint/PMO Consultant)</a:t>
            </a:r>
          </a:p>
        </p:txBody>
      </p:sp>
      <p:sp>
        <p:nvSpPr>
          <p:cNvPr id="40" name="Rectangle 39"/>
          <p:cNvSpPr/>
          <p:nvPr/>
        </p:nvSpPr>
        <p:spPr bwMode="auto">
          <a:xfrm>
            <a:off x="3612348" y="4449365"/>
            <a:ext cx="387675" cy="2375536"/>
          </a:xfrm>
          <a:prstGeom prst="rect">
            <a:avLst/>
          </a:prstGeom>
          <a:solidFill>
            <a:srgbClr val="59701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41" tIns="34280" rIns="34280" bIns="68560" numCol="1" spcCol="0" rtlCol="0" fromWordArt="0" anchor="b" anchorCtr="0" forceAA="0" compatLnSpc="1">
            <a:prstTxWarp prst="textNoShape">
              <a:avLst/>
            </a:prstTxWarp>
            <a:noAutofit/>
          </a:bodyPr>
          <a:lstStyle/>
          <a:p>
            <a:pPr defTabSz="685450" fontAlgn="base">
              <a:lnSpc>
                <a:spcPct val="80000"/>
              </a:lnSpc>
              <a:spcBef>
                <a:spcPct val="0"/>
              </a:spcBef>
              <a:spcAft>
                <a:spcPct val="0"/>
              </a:spcAft>
            </a:pPr>
            <a:endParaRPr lang="en-US" sz="1500" spc="-75" dirty="0">
              <a:solidFill>
                <a:schemeClr val="tx1"/>
              </a:solidFill>
              <a:ea typeface="Segoe UI" pitchFamily="34" charset="0"/>
              <a:cs typeface="Segoe UI" pitchFamily="34" charset="0"/>
            </a:endParaRPr>
          </a:p>
        </p:txBody>
      </p:sp>
      <p:sp>
        <p:nvSpPr>
          <p:cNvPr id="17" name="Rectangle 16"/>
          <p:cNvSpPr/>
          <p:nvPr/>
        </p:nvSpPr>
        <p:spPr bwMode="auto">
          <a:xfrm>
            <a:off x="5350901" y="1909603"/>
            <a:ext cx="3817690" cy="1066067"/>
          </a:xfrm>
          <a:prstGeom prst="rect">
            <a:avLst/>
          </a:prstGeom>
          <a:solidFill>
            <a:srgbClr val="CC9B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560" tIns="68560" rIns="68560" bIns="68560" numCol="1" spcCol="0" rtlCol="0" fromWordArt="0" anchor="ctr" anchorCtr="0" forceAA="0" compatLnSpc="1">
            <a:prstTxWarp prst="textNoShape">
              <a:avLst/>
            </a:prstTxWarp>
            <a:noAutofit/>
          </a:bodyPr>
          <a:lstStyle/>
          <a:p>
            <a:pPr algn="r" defTabSz="685450" fontAlgn="base">
              <a:lnSpc>
                <a:spcPct val="80000"/>
              </a:lnSpc>
              <a:spcBef>
                <a:spcPct val="0"/>
              </a:spcBef>
              <a:spcAft>
                <a:spcPct val="0"/>
              </a:spcAft>
            </a:pPr>
            <a:r>
              <a:rPr lang="en-US" sz="2647" spc="-75" dirty="0">
                <a:solidFill>
                  <a:srgbClr val="000000"/>
                </a:solidFill>
                <a:ea typeface="Segoe UI" pitchFamily="34" charset="0"/>
                <a:cs typeface="Segoe UI" pitchFamily="34" charset="0"/>
              </a:rPr>
              <a:t>Microsoft</a:t>
            </a:r>
          </a:p>
          <a:p>
            <a:pPr algn="r" defTabSz="685450" fontAlgn="base">
              <a:lnSpc>
                <a:spcPct val="80000"/>
              </a:lnSpc>
              <a:spcBef>
                <a:spcPct val="0"/>
              </a:spcBef>
              <a:spcAft>
                <a:spcPct val="0"/>
              </a:spcAft>
            </a:pPr>
            <a:r>
              <a:rPr lang="en-US" sz="1765" spc="-75" dirty="0">
                <a:solidFill>
                  <a:srgbClr val="000000"/>
                </a:solidFill>
                <a:ea typeface="Segoe UI" pitchFamily="34" charset="0"/>
                <a:cs typeface="Segoe UI" pitchFamily="34" charset="0"/>
              </a:rPr>
              <a:t>MVP | MCT | MCTS  | MCP+44</a:t>
            </a:r>
          </a:p>
        </p:txBody>
      </p:sp>
      <p:pic>
        <p:nvPicPr>
          <p:cNvPr id="19" name="Picture 6" descr="Description: Description: Description: C:\Users\Rolly.Perreaux.PMOLOGISTICS\Documents\MVP\MVP_Logo_Kit\MVP Logo Kit\MVP_Horizontal_FullColo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5723" y="4580607"/>
            <a:ext cx="2154717" cy="87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CB410BB3-DEF4-417C-B346-92CAAB7633E2}"/>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1587" y="1909604"/>
            <a:ext cx="2268037" cy="2452091"/>
          </a:xfrm>
          <a:prstGeom prst="rect">
            <a:avLst/>
          </a:prstGeom>
        </p:spPr>
      </p:pic>
      <p:pic>
        <p:nvPicPr>
          <p:cNvPr id="27" name="Picture 26">
            <a:extLst>
              <a:ext uri="{FF2B5EF4-FFF2-40B4-BE49-F238E27FC236}">
                <a16:creationId xmlns:a16="http://schemas.microsoft.com/office/drawing/2014/main" id="{ED983C24-BE98-4657-9E29-FD50B5214F86}"/>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2279626" y="1902454"/>
            <a:ext cx="1295618" cy="2303321"/>
          </a:xfrm>
          <a:prstGeom prst="rect">
            <a:avLst/>
          </a:prstGeom>
        </p:spPr>
      </p:pic>
      <p:pic>
        <p:nvPicPr>
          <p:cNvPr id="28" name="Picture 27">
            <a:extLst>
              <a:ext uri="{FF2B5EF4-FFF2-40B4-BE49-F238E27FC236}">
                <a16:creationId xmlns:a16="http://schemas.microsoft.com/office/drawing/2014/main" id="{2A1D703D-5AB0-4219-BA73-9D658F9AEE1D}"/>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7584400" y="5749381"/>
            <a:ext cx="1593953" cy="1195465"/>
          </a:xfrm>
          <a:prstGeom prst="rect">
            <a:avLst/>
          </a:prstGeom>
        </p:spPr>
      </p:pic>
      <p:pic>
        <p:nvPicPr>
          <p:cNvPr id="29" name="Picture 1">
            <a:extLst>
              <a:ext uri="{FF2B5EF4-FFF2-40B4-BE49-F238E27FC236}">
                <a16:creationId xmlns:a16="http://schemas.microsoft.com/office/drawing/2014/main" id="{565E76CB-B306-467D-ABD0-30F24802756D}"/>
              </a:ext>
            </a:extLst>
          </p:cNvPr>
          <p:cNvPicPr>
            <a:picLocks noChangeAspect="1"/>
          </p:cNvPicPr>
          <p:nvPr/>
        </p:nvPicPr>
        <p:blipFill>
          <a:blip r:embed="rId8" cstate="screen">
            <a:extLst>
              <a:ext uri="{28A0092B-C50C-407E-A947-70E740481C1C}">
                <a14:useLocalDpi xmlns:a14="http://schemas.microsoft.com/office/drawing/2010/main" val="0"/>
              </a:ext>
            </a:extLst>
          </a:blip>
          <a:srcRect/>
          <a:stretch>
            <a:fillRect/>
          </a:stretch>
        </p:blipFill>
        <p:spPr bwMode="auto">
          <a:xfrm>
            <a:off x="6745626" y="6055424"/>
            <a:ext cx="589068" cy="724833"/>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3130193-6360-48A4-918C-44085A7AB355}"/>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4942559" y="6063661"/>
            <a:ext cx="630420" cy="826622"/>
          </a:xfrm>
          <a:prstGeom prst="rect">
            <a:avLst/>
          </a:prstGeom>
        </p:spPr>
      </p:pic>
      <p:pic>
        <p:nvPicPr>
          <p:cNvPr id="23" name="Picture 22">
            <a:extLst>
              <a:ext uri="{FF2B5EF4-FFF2-40B4-BE49-F238E27FC236}">
                <a16:creationId xmlns:a16="http://schemas.microsoft.com/office/drawing/2014/main" id="{7E29C33B-A408-4D6C-BC62-0CD002D846A3}"/>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5880026" y="6131457"/>
            <a:ext cx="615894" cy="800349"/>
          </a:xfrm>
          <a:prstGeom prst="rect">
            <a:avLst/>
          </a:prstGeom>
        </p:spPr>
      </p:pic>
      <p:pic>
        <p:nvPicPr>
          <p:cNvPr id="30" name="Picture 29"/>
          <p:cNvPicPr>
            <a:picLocks noChangeAspect="1"/>
          </p:cNvPicPr>
          <p:nvPr/>
        </p:nvPicPr>
        <p:blipFill>
          <a:blip r:embed="rId11" cstate="screen">
            <a:extLst>
              <a:ext uri="{28A0092B-C50C-407E-A947-70E740481C1C}">
                <a14:useLocalDpi xmlns:a14="http://schemas.microsoft.com/office/drawing/2010/main" val="0"/>
              </a:ext>
            </a:extLst>
          </a:blip>
          <a:stretch>
            <a:fillRect/>
          </a:stretch>
        </p:blipFill>
        <p:spPr>
          <a:xfrm>
            <a:off x="4097715" y="6092740"/>
            <a:ext cx="616236" cy="765260"/>
          </a:xfrm>
          <a:prstGeom prst="rect">
            <a:avLst/>
          </a:prstGeom>
        </p:spPr>
      </p:pic>
      <p:sp>
        <p:nvSpPr>
          <p:cNvPr id="31" name="Rectangle 30"/>
          <p:cNvSpPr/>
          <p:nvPr/>
        </p:nvSpPr>
        <p:spPr bwMode="auto">
          <a:xfrm>
            <a:off x="3905723" y="5385732"/>
            <a:ext cx="2154717" cy="62808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560" tIns="68560" rIns="68560" bIns="68560" numCol="1" spcCol="0" rtlCol="0" fromWordArt="0" anchor="ctr" anchorCtr="0" forceAA="0" compatLnSpc="1">
            <a:prstTxWarp prst="textNoShape">
              <a:avLst/>
            </a:prstTxWarp>
            <a:noAutofit/>
          </a:bodyPr>
          <a:lstStyle/>
          <a:p>
            <a:pPr algn="ctr" defTabSz="685450" fontAlgn="base">
              <a:lnSpc>
                <a:spcPct val="80000"/>
              </a:lnSpc>
              <a:spcBef>
                <a:spcPct val="0"/>
              </a:spcBef>
              <a:spcAft>
                <a:spcPct val="0"/>
              </a:spcAft>
            </a:pPr>
            <a:r>
              <a:rPr lang="en-US" sz="1600" spc="-75" dirty="0">
                <a:solidFill>
                  <a:schemeClr val="bg1"/>
                </a:solidFill>
                <a:ea typeface="Segoe UI" pitchFamily="34" charset="0"/>
                <a:cs typeface="Segoe UI" pitchFamily="34" charset="0"/>
              </a:rPr>
              <a:t>PowerShell </a:t>
            </a:r>
          </a:p>
          <a:p>
            <a:pPr algn="ctr" defTabSz="685450" fontAlgn="base">
              <a:lnSpc>
                <a:spcPct val="80000"/>
              </a:lnSpc>
              <a:spcBef>
                <a:spcPct val="0"/>
              </a:spcBef>
              <a:spcAft>
                <a:spcPct val="0"/>
              </a:spcAft>
            </a:pPr>
            <a:r>
              <a:rPr lang="en-US" sz="1600" spc="-75" dirty="0">
                <a:solidFill>
                  <a:schemeClr val="bg1"/>
                </a:solidFill>
                <a:ea typeface="Segoe UI" pitchFamily="34" charset="0"/>
                <a:cs typeface="Segoe UI" pitchFamily="34" charset="0"/>
              </a:rPr>
              <a:t>Field Notes</a:t>
            </a:r>
            <a:endParaRPr lang="en-US" sz="1100" spc="-75" dirty="0">
              <a:solidFill>
                <a:schemeClr val="bg1"/>
              </a:solidFill>
              <a:ea typeface="Segoe UI" pitchFamily="34" charset="0"/>
              <a:cs typeface="Segoe UI" pitchFamily="34" charset="0"/>
            </a:endParaRPr>
          </a:p>
        </p:txBody>
      </p:sp>
      <p:sp>
        <p:nvSpPr>
          <p:cNvPr id="5" name="Rectangle 4">
            <a:extLst>
              <a:ext uri="{FF2B5EF4-FFF2-40B4-BE49-F238E27FC236}">
                <a16:creationId xmlns:a16="http://schemas.microsoft.com/office/drawing/2014/main" id="{763C5ADC-FA2B-400D-83F7-ABC0CE9C5EE8}"/>
              </a:ext>
            </a:extLst>
          </p:cNvPr>
          <p:cNvSpPr/>
          <p:nvPr/>
        </p:nvSpPr>
        <p:spPr>
          <a:xfrm>
            <a:off x="3156045" y="4442465"/>
            <a:ext cx="965329" cy="923330"/>
          </a:xfrm>
          <a:prstGeom prst="rect">
            <a:avLst/>
          </a:prstGeom>
          <a:noFill/>
        </p:spPr>
        <p:txBody>
          <a:bodyPr wrap="non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rPr>
              <a:t>7x</a:t>
            </a:r>
          </a:p>
        </p:txBody>
      </p:sp>
    </p:spTree>
    <p:extLst>
      <p:ext uri="{BB962C8B-B14F-4D97-AF65-F5344CB8AC3E}">
        <p14:creationId xmlns:p14="http://schemas.microsoft.com/office/powerpoint/2010/main" val="860237627"/>
      </p:ext>
    </p:extLst>
  </p:cSld>
  <p:clrMapOvr>
    <a:masterClrMapping/>
  </p:clrMapOvr>
  <mc:AlternateContent xmlns:mc="http://schemas.openxmlformats.org/markup-compatibility/2006" xmlns:p14="http://schemas.microsoft.com/office/powerpoint/2010/main">
    <mc:Choice Requires="p14">
      <p:transition spd="slow" p14:dur="2000" advClick="0">
        <p:push/>
      </p:transition>
    </mc:Choice>
    <mc:Fallback xmlns="">
      <p:transition spd="slow" advClick="0">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anim calcmode="lin" valueType="num">
                                      <p:cBhvr>
                                        <p:cTn id="14" dur="1000" fill="hold"/>
                                        <p:tgtEl>
                                          <p:spTgt spid="26"/>
                                        </p:tgtEl>
                                        <p:attrNameLst>
                                          <p:attrName>ppt_x</p:attrName>
                                        </p:attrNameLst>
                                      </p:cBhvr>
                                      <p:tavLst>
                                        <p:tav tm="0">
                                          <p:val>
                                            <p:strVal val="#ppt_x"/>
                                          </p:val>
                                        </p:tav>
                                        <p:tav tm="100000">
                                          <p:val>
                                            <p:strVal val="#ppt_x"/>
                                          </p:val>
                                        </p:tav>
                                      </p:tavLst>
                                    </p:anim>
                                    <p:anim calcmode="lin" valueType="num">
                                      <p:cBhvr>
                                        <p:cTn id="15" dur="1000" fill="hold"/>
                                        <p:tgtEl>
                                          <p:spTgt spid="26"/>
                                        </p:tgtEl>
                                        <p:attrNameLst>
                                          <p:attrName>ppt_y</p:attrName>
                                        </p:attrNameLst>
                                      </p:cBhvr>
                                      <p:tavLst>
                                        <p:tav tm="0">
                                          <p:val>
                                            <p:strVal val="#ppt_y-.1"/>
                                          </p:val>
                                        </p:tav>
                                        <p:tav tm="100000">
                                          <p:val>
                                            <p:strVal val="#ppt_y"/>
                                          </p:val>
                                        </p:tav>
                                      </p:tavLst>
                                    </p:anim>
                                  </p:childTnLst>
                                </p:cTn>
                              </p:par>
                              <p:par>
                                <p:cTn id="16" presetID="47"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1000"/>
                                        <p:tgtEl>
                                          <p:spTgt spid="33"/>
                                        </p:tgtEl>
                                      </p:cBhvr>
                                    </p:animEffect>
                                    <p:anim calcmode="lin" valueType="num">
                                      <p:cBhvr>
                                        <p:cTn id="19" dur="1000" fill="hold"/>
                                        <p:tgtEl>
                                          <p:spTgt spid="33"/>
                                        </p:tgtEl>
                                        <p:attrNameLst>
                                          <p:attrName>ppt_x</p:attrName>
                                        </p:attrNameLst>
                                      </p:cBhvr>
                                      <p:tavLst>
                                        <p:tav tm="0">
                                          <p:val>
                                            <p:strVal val="#ppt_x"/>
                                          </p:val>
                                        </p:tav>
                                        <p:tav tm="100000">
                                          <p:val>
                                            <p:strVal val="#ppt_x"/>
                                          </p:val>
                                        </p:tav>
                                      </p:tavLst>
                                    </p:anim>
                                    <p:anim calcmode="lin" valueType="num">
                                      <p:cBhvr>
                                        <p:cTn id="20" dur="1000" fill="hold"/>
                                        <p:tgtEl>
                                          <p:spTgt spid="33"/>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 presetClass="entr" presetSubtype="2" fill="hold" grpId="0" nodeType="after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1+#ppt_w/2"/>
                                          </p:val>
                                        </p:tav>
                                        <p:tav tm="100000">
                                          <p:val>
                                            <p:strVal val="#ppt_x"/>
                                          </p:val>
                                        </p:tav>
                                      </p:tavLst>
                                    </p:anim>
                                    <p:anim calcmode="lin" valueType="num">
                                      <p:cBhvr additive="base">
                                        <p:cTn id="25" dur="500" fill="hold"/>
                                        <p:tgtEl>
                                          <p:spTgt spid="17"/>
                                        </p:tgtEl>
                                        <p:attrNameLst>
                                          <p:attrName>ppt_y</p:attrName>
                                        </p:attrNameLst>
                                      </p:cBhvr>
                                      <p:tavLst>
                                        <p:tav tm="0">
                                          <p:val>
                                            <p:strVal val="#ppt_y"/>
                                          </p:val>
                                        </p:tav>
                                        <p:tav tm="100000">
                                          <p:val>
                                            <p:strVal val="#ppt_y"/>
                                          </p:val>
                                        </p:tav>
                                      </p:tavLst>
                                    </p:anim>
                                  </p:childTnLst>
                                </p:cTn>
                              </p:par>
                            </p:childTnLst>
                          </p:cTn>
                        </p:par>
                        <p:par>
                          <p:cTn id="26" fill="hold">
                            <p:stCondLst>
                              <p:cond delay="2500"/>
                            </p:stCondLst>
                            <p:childTnLst>
                              <p:par>
                                <p:cTn id="27" presetID="2" presetClass="entr" presetSubtype="2"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1+#ppt_w/2"/>
                                          </p:val>
                                        </p:tav>
                                        <p:tav tm="100000">
                                          <p:val>
                                            <p:strVal val="#ppt_x"/>
                                          </p:val>
                                        </p:tav>
                                      </p:tavLst>
                                    </p:anim>
                                    <p:anim calcmode="lin" valueType="num">
                                      <p:cBhvr additive="base">
                                        <p:cTn id="30" dur="500" fill="hold"/>
                                        <p:tgtEl>
                                          <p:spTgt spid="14"/>
                                        </p:tgtEl>
                                        <p:attrNameLst>
                                          <p:attrName>ppt_y</p:attrName>
                                        </p:attrNameLst>
                                      </p:cBhvr>
                                      <p:tavLst>
                                        <p:tav tm="0">
                                          <p:val>
                                            <p:strVal val="#ppt_y"/>
                                          </p:val>
                                        </p:tav>
                                        <p:tav tm="100000">
                                          <p:val>
                                            <p:strVal val="#ppt_y"/>
                                          </p:val>
                                        </p:tav>
                                      </p:tavLst>
                                    </p:anim>
                                  </p:childTnLst>
                                </p:cTn>
                              </p:par>
                            </p:childTnLst>
                          </p:cTn>
                        </p:par>
                        <p:par>
                          <p:cTn id="31" fill="hold">
                            <p:stCondLst>
                              <p:cond delay="3000"/>
                            </p:stCondLst>
                            <p:childTnLst>
                              <p:par>
                                <p:cTn id="32" presetID="2" presetClass="entr" presetSubtype="4"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1+#ppt_h/2"/>
                                          </p:val>
                                        </p:tav>
                                        <p:tav tm="100000">
                                          <p:val>
                                            <p:strVal val="#ppt_y"/>
                                          </p:val>
                                        </p:tav>
                                      </p:tavLst>
                                    </p:anim>
                                  </p:childTnLst>
                                </p:cTn>
                              </p:par>
                            </p:childTnLst>
                          </p:cTn>
                        </p:par>
                        <p:par>
                          <p:cTn id="36" fill="hold">
                            <p:stCondLst>
                              <p:cond delay="3500"/>
                            </p:stCondLst>
                            <p:childTnLst>
                              <p:par>
                                <p:cTn id="37" presetID="2" presetClass="entr" presetSubtype="4"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childTnLst>
                          </p:cTn>
                        </p:par>
                        <p:par>
                          <p:cTn id="41" fill="hold">
                            <p:stCondLst>
                              <p:cond delay="4000"/>
                            </p:stCondLst>
                            <p:childTnLst>
                              <p:par>
                                <p:cTn id="42" presetID="47"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1000"/>
                                        <p:tgtEl>
                                          <p:spTgt spid="40"/>
                                        </p:tgtEl>
                                      </p:cBhvr>
                                    </p:animEffect>
                                    <p:anim calcmode="lin" valueType="num">
                                      <p:cBhvr>
                                        <p:cTn id="45" dur="1000" fill="hold"/>
                                        <p:tgtEl>
                                          <p:spTgt spid="40"/>
                                        </p:tgtEl>
                                        <p:attrNameLst>
                                          <p:attrName>ppt_x</p:attrName>
                                        </p:attrNameLst>
                                      </p:cBhvr>
                                      <p:tavLst>
                                        <p:tav tm="0">
                                          <p:val>
                                            <p:strVal val="#ppt_x"/>
                                          </p:val>
                                        </p:tav>
                                        <p:tav tm="100000">
                                          <p:val>
                                            <p:strVal val="#ppt_x"/>
                                          </p:val>
                                        </p:tav>
                                      </p:tavLst>
                                    </p:anim>
                                    <p:anim calcmode="lin" valueType="num">
                                      <p:cBhvr>
                                        <p:cTn id="46" dur="1000" fill="hold"/>
                                        <p:tgtEl>
                                          <p:spTgt spid="40"/>
                                        </p:tgtEl>
                                        <p:attrNameLst>
                                          <p:attrName>ppt_y</p:attrName>
                                        </p:attrNameLst>
                                      </p:cBhvr>
                                      <p:tavLst>
                                        <p:tav tm="0">
                                          <p:val>
                                            <p:strVal val="#ppt_y-.1"/>
                                          </p:val>
                                        </p:tav>
                                        <p:tav tm="100000">
                                          <p:val>
                                            <p:strVal val="#ppt_y"/>
                                          </p:val>
                                        </p:tav>
                                      </p:tavLst>
                                    </p:anim>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500"/>
                                        <p:tgtEl>
                                          <p:spTgt spid="4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childTnLst>
                          </p:cTn>
                        </p:par>
                        <p:par>
                          <p:cTn id="54" fill="hold">
                            <p:stCondLst>
                              <p:cond delay="5500"/>
                            </p:stCondLst>
                            <p:childTnLst>
                              <p:par>
                                <p:cTn id="55" presetID="2" presetClass="entr" presetSubtype="2" fill="hold" grpId="0" nodeType="after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1+#ppt_w/2"/>
                                          </p:val>
                                        </p:tav>
                                        <p:tav tm="100000">
                                          <p:val>
                                            <p:strVal val="#ppt_x"/>
                                          </p:val>
                                        </p:tav>
                                      </p:tavLst>
                                    </p:anim>
                                    <p:anim calcmode="lin" valueType="num">
                                      <p:cBhvr additive="base">
                                        <p:cTn id="58"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1" grpId="0" animBg="1"/>
      <p:bldP spid="12" grpId="0" animBg="1"/>
      <p:bldP spid="13" grpId="0" animBg="1"/>
      <p:bldP spid="14" grpId="0" animBg="1"/>
      <p:bldP spid="26" grpId="0" animBg="1"/>
      <p:bldP spid="10" grpId="0"/>
      <p:bldP spid="40" grpId="0" animBg="1"/>
      <p:bldP spid="17" grpId="0" animBg="1"/>
      <p:bldP spid="31" grpId="0" animBg="1"/>
    </p:bldLst>
  </p:timing>
</p:sld>
</file>

<file path=ppt/theme/theme1.xml><?xml version="1.0" encoding="utf-8"?>
<a:theme xmlns:a="http://schemas.openxmlformats.org/drawingml/2006/main" name="SharePoint Saturday Atlanta">
  <a:themeElements>
    <a:clrScheme name="01 Essential - Light Version">
      <a:dk1>
        <a:srgbClr val="737572"/>
      </a:dk1>
      <a:lt1>
        <a:sysClr val="window" lastClr="FFFFFF"/>
      </a:lt1>
      <a:dk2>
        <a:srgbClr val="445469"/>
      </a:dk2>
      <a:lt2>
        <a:srgbClr val="FFFFFF"/>
      </a:lt2>
      <a:accent1>
        <a:srgbClr val="0E80C9"/>
      </a:accent1>
      <a:accent2>
        <a:srgbClr val="119CF4"/>
      </a:accent2>
      <a:accent3>
        <a:srgbClr val="445469"/>
      </a:accent3>
      <a:accent4>
        <a:srgbClr val="8AC153"/>
      </a:accent4>
      <a:accent5>
        <a:srgbClr val="BAEF69"/>
      </a:accent5>
      <a:accent6>
        <a:srgbClr val="A9A8AB"/>
      </a:accent6>
      <a:hlink>
        <a:srgbClr val="0E80C9"/>
      </a:hlink>
      <a:folHlink>
        <a:srgbClr val="0EA3FF"/>
      </a:folHlink>
    </a:clrScheme>
    <a:fontScheme name="Segoe">
      <a:majorFont>
        <a:latin typeface="Segoe"/>
        <a:ea typeface=""/>
        <a:cs typeface=""/>
      </a:majorFont>
      <a:minorFont>
        <a:latin typeface="Segoe"/>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spc="-150" dirty="0" smtClean="0">
            <a:gradFill>
              <a:gsLst>
                <a:gs pos="0">
                  <a:srgbClr val="FFFFFF"/>
                </a:gs>
                <a:gs pos="100000">
                  <a:srgbClr val="FFFFFF"/>
                </a:gs>
              </a:gsLst>
              <a:lin ang="5400000" scaled="0"/>
            </a:gradFill>
            <a:latin typeface="Segoe Light" pitchFamily="34" charset="0"/>
          </a:defRPr>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lIns="0" tIns="0" rIns="0" bIns="0" rtlCol="0">
        <a:spAutoFit/>
      </a:bodyPr>
      <a:lstStyle>
        <a:defPPr>
          <a:defRPr sz="2200" spc="-150" dirty="0" smtClean="0">
            <a:gradFill>
              <a:gsLst>
                <a:gs pos="0">
                  <a:schemeClr val="tx1"/>
                </a:gs>
                <a:gs pos="86000">
                  <a:schemeClr val="tx1"/>
                </a:gs>
              </a:gsLst>
              <a:lin ang="5400000" scaled="0"/>
            </a:gradFill>
            <a:latin typeface="Segoe Light" pitchFamily="34" charset="0"/>
          </a:defRPr>
        </a:defPPr>
      </a:lstStyle>
    </a:txDef>
  </a:objectDefaults>
  <a:extraClrSchemeLst/>
  <a:extLst>
    <a:ext uri="{05A4C25C-085E-4340-85A3-A5531E510DB2}">
      <thm15:themeFamily xmlns:thm15="http://schemas.microsoft.com/office/thememl/2012/main" name="SharePoint Saturday Atlanta 2014 - PowerPoint Template.potx" id="{51C3150A-759E-4781-A43F-EC7FA51906B0}" vid="{64650707-8B1F-4AA7-95F6-52AC7CD034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94CBFC3CC06A409A4FC43AA6A62A07" ma:contentTypeVersion="12" ma:contentTypeDescription="Create a new document." ma:contentTypeScope="" ma:versionID="7911e951895a3e9af99654a1e6f17cb5">
  <xsd:schema xmlns:xsd="http://www.w3.org/2001/XMLSchema" xmlns:xs="http://www.w3.org/2001/XMLSchema" xmlns:p="http://schemas.microsoft.com/office/2006/metadata/properties" xmlns:ns1="http://schemas.microsoft.com/sharepoint/v3" xmlns:ns2="90fde470-fde4-438b-b8b7-4b199bb71cd2" xmlns:ns3="e8c2e461-e062-4b84-94d8-5acc7ce51993" targetNamespace="http://schemas.microsoft.com/office/2006/metadata/properties" ma:root="true" ma:fieldsID="8208e138b792568c2899c7abfe065e24" ns1:_="" ns2:_="" ns3:_="">
    <xsd:import namespace="http://schemas.microsoft.com/sharepoint/v3"/>
    <xsd:import namespace="90fde470-fde4-438b-b8b7-4b199bb71cd2"/>
    <xsd:import namespace="e8c2e461-e062-4b84-94d8-5acc7ce51993"/>
    <xsd:element name="properties">
      <xsd:complexType>
        <xsd:sequence>
          <xsd:element name="documentManagement">
            <xsd:complexType>
              <xsd:all>
                <xsd:element ref="ns2:CompanyName" minOccurs="0"/>
                <xsd:element ref="ns2:Book_x0020_Topic" minOccurs="0"/>
                <xsd:element ref="ns2:Notes0" minOccurs="0"/>
                <xsd:element ref="ns3:_dlc_DocId" minOccurs="0"/>
                <xsd:element ref="ns3:_dlc_DocIdUrl" minOccurs="0"/>
                <xsd:element ref="ns3:_dlc_DocIdPersistId" minOccurs="0"/>
                <xsd:element ref="ns1:PublishingStartDate" minOccurs="0"/>
                <xsd:element ref="ns1:PublishingExpirationDate" minOccurs="0"/>
                <xsd:element ref="ns2:c5a1d1e2900d43e58c1556ecb711ae2a" minOccurs="0"/>
                <xsd:element ref="ns3:TaxCatchAll" minOccurs="0"/>
                <xsd:element ref="ns2:i3de0475f9634a27ae2a20e055b1fd1e" minOccurs="0"/>
                <xsd:element ref="ns2:SiteCollection" minOccurs="0"/>
                <xsd:element ref="ns2:WebApplication" minOccurs="0"/>
                <xsd:element ref="ns2:DateGenerat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4" nillable="true" ma:displayName="Scheduling Start Date" ma:internalName="PublishingStartDate">
      <xsd:simpleType>
        <xsd:restriction base="dms:Unknown"/>
      </xsd:simpleType>
    </xsd:element>
    <xsd:element name="PublishingExpirationDate" ma:index="15" nillable="true" ma:displayName="Scheduling End Da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0fde470-fde4-438b-b8b7-4b199bb71cd2" elementFormDefault="qualified">
    <xsd:import namespace="http://schemas.microsoft.com/office/2006/documentManagement/types"/>
    <xsd:import namespace="http://schemas.microsoft.com/office/infopath/2007/PartnerControls"/>
    <xsd:element name="CompanyName" ma:index="8" nillable="true" ma:displayName="Company" ma:default="WCC" ma:description="Company" ma:format="Dropdown" ma:internalName="CompanyName">
      <xsd:simpleType>
        <xsd:restriction base="dms:Choice">
          <xsd:enumeration value="WCC"/>
          <xsd:enumeration value="GSO"/>
          <xsd:enumeration value="HP"/>
          <xsd:enumeration value="PA"/>
          <xsd:enumeration value="IIL"/>
          <xsd:enumeration value="WilliamHazel"/>
          <xsd:enumeration value="SteelCase"/>
          <xsd:enumeration value="New"/>
        </xsd:restriction>
      </xsd:simpleType>
    </xsd:element>
    <xsd:element name="Book_x0020_Topic" ma:index="9" nillable="true" ma:displayName="Book Topic" ma:internalName="Book_x0020_Topic">
      <xsd:simpleType>
        <xsd:restriction base="dms:Text">
          <xsd:maxLength value="255"/>
        </xsd:restriction>
      </xsd:simpleType>
    </xsd:element>
    <xsd:element name="Notes0" ma:index="10" nillable="true" ma:displayName="Notes" ma:description="Notes" ma:internalName="Notes0">
      <xsd:simpleType>
        <xsd:restriction base="dms:Note">
          <xsd:maxLength value="255"/>
        </xsd:restriction>
      </xsd:simpleType>
    </xsd:element>
    <xsd:element name="c5a1d1e2900d43e58c1556ecb711ae2a" ma:index="17" nillable="true" ma:taxonomy="true" ma:internalName="c5a1d1e2900d43e58c1556ecb711ae2a" ma:taxonomyFieldName="Test_x0020_Managed_x0020_Dat" ma:displayName="Test Managed Dat" ma:default="" ma:fieldId="{c5a1d1e2-900d-43e5-8c15-56ecb711ae2a}" ma:sspId="156246f6-6230-4b9f-8e02-d67cd66dbf61" ma:termSetId="68c92d1b-ca35-48d6-89af-3ea2a3825ef5" ma:anchorId="00000000-0000-0000-0000-000000000000" ma:open="true" ma:isKeyword="false">
      <xsd:complexType>
        <xsd:sequence>
          <xsd:element ref="pc:Terms" minOccurs="0" maxOccurs="1"/>
        </xsd:sequence>
      </xsd:complexType>
    </xsd:element>
    <xsd:element name="i3de0475f9634a27ae2a20e055b1fd1e" ma:index="20" nillable="true" ma:taxonomy="true" ma:internalName="i3de0475f9634a27ae2a20e055b1fd1e" ma:taxonomyFieldName="Folder_x0020_Meta_x0020_Data" ma:displayName="Folder Meta Data" ma:default="" ma:fieldId="{23de0475-f963-4a27-ae2a-20e055b1fd1e}" ma:sspId="156246f6-6230-4b9f-8e02-d67cd66dbf61" ma:termSetId="8456083b-2ff3-407a-8442-d464074451f4" ma:anchorId="00000000-0000-0000-0000-000000000000" ma:open="false" ma:isKeyword="false">
      <xsd:complexType>
        <xsd:sequence>
          <xsd:element ref="pc:Terms" minOccurs="0" maxOccurs="1"/>
        </xsd:sequence>
      </xsd:complexType>
    </xsd:element>
    <xsd:element name="SiteCollection" ma:index="21" nillable="true" ma:displayName="Site Collection" ma:internalName="SiteCollection">
      <xsd:complexType>
        <xsd:complexContent>
          <xsd:extension base="dms:URL">
            <xsd:sequence>
              <xsd:element name="Url" type="dms:ValidUrl" minOccurs="0" nillable="true"/>
              <xsd:element name="Description" type="xsd:string" nillable="true"/>
            </xsd:sequence>
          </xsd:extension>
        </xsd:complexContent>
      </xsd:complexType>
    </xsd:element>
    <xsd:element name="WebApplication" ma:index="22" nillable="true" ma:displayName="Web Application" ma:internalName="WebApplication">
      <xsd:complexType>
        <xsd:complexContent>
          <xsd:extension base="dms:URL">
            <xsd:sequence>
              <xsd:element name="Url" type="dms:ValidUrl" minOccurs="0" nillable="true"/>
              <xsd:element name="Description" type="xsd:string" nillable="true"/>
            </xsd:sequence>
          </xsd:extension>
        </xsd:complexContent>
      </xsd:complexType>
    </xsd:element>
    <xsd:element name="DateGenerated" ma:index="23" nillable="true" ma:displayName="Date Generated" ma:internalName="DateGenerat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e8c2e461-e062-4b84-94d8-5acc7ce51993" elementFormDefault="qualified">
    <xsd:import namespace="http://schemas.microsoft.com/office/2006/documentManagement/types"/>
    <xsd:import namespace="http://schemas.microsoft.com/office/infopath/2007/PartnerControls"/>
    <xsd:element name="_dlc_DocId" ma:index="11" nillable="true" ma:displayName="Document ID Value" ma:description="The value of the document ID assigned to this item." ma:internalName="_dlc_DocId" ma:readOnly="true">
      <xsd:simpleType>
        <xsd:restriction base="dms:Text"/>
      </xsd:simpleType>
    </xsd:element>
    <xsd:element name="_dlc_DocIdUrl" ma:index="1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3" nillable="true" ma:displayName="Persist ID" ma:description="Keep ID on add." ma:hidden="true" ma:internalName="_dlc_DocIdPersistId" ma:readOnly="true">
      <xsd:simpleType>
        <xsd:restriction base="dms:Boolean"/>
      </xsd:simpleType>
    </xsd:element>
    <xsd:element name="TaxCatchAll" ma:index="18" nillable="true" ma:displayName="Taxonomy Catch All Column" ma:hidden="true" ma:list="{9517e577-a5c1-4f51-83f2-56086769cabb}" ma:internalName="TaxCatchAll" ma:showField="CatchAllData" ma:web="e8c2e461-e062-4b84-94d8-5acc7ce5199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Book_x0020_Topic xmlns="90fde470-fde4-438b-b8b7-4b199bb71cd2" xsi:nil="true"/>
    <Notes0 xmlns="90fde470-fde4-438b-b8b7-4b199bb71cd2">DND Project 2010 Training Session - Winter 2012</Notes0>
    <i3de0475f9634a27ae2a20e055b1fd1e xmlns="90fde470-fde4-438b-b8b7-4b199bb71cd2">
      <Terms xmlns="http://schemas.microsoft.com/office/infopath/2007/PartnerControls"/>
    </i3de0475f9634a27ae2a20e055b1fd1e>
    <WebApplication xmlns="90fde470-fde4-438b-b8b7-4b199bb71cd2">
      <Url xsi:nil="true"/>
      <Description xsi:nil="true"/>
    </WebApplication>
    <TaxCatchAll xmlns="e8c2e461-e062-4b84-94d8-5acc7ce51993"/>
    <CompanyName xmlns="90fde470-fde4-438b-b8b7-4b199bb71cd2">WCC</CompanyName>
    <SiteCollection xmlns="90fde470-fde4-438b-b8b7-4b199bb71cd2">
      <Url xsi:nil="true"/>
      <Description xsi:nil="true"/>
    </SiteCollection>
    <PublishingExpirationDate xmlns="http://schemas.microsoft.com/sharepoint/v3" xsi:nil="true"/>
    <DateGenerated xmlns="90fde470-fde4-438b-b8b7-4b199bb71cd2" xsi:nil="true"/>
    <PublishingStartDate xmlns="http://schemas.microsoft.com/sharepoint/v3" xsi:nil="true"/>
    <c5a1d1e2900d43e58c1556ecb711ae2a xmlns="90fde470-fde4-438b-b8b7-4b199bb71cd2">
      <Terms xmlns="http://schemas.microsoft.com/office/infopath/2007/PartnerControls"/>
    </c5a1d1e2900d43e58c1556ecb711ae2a>
  </documentManagement>
</p:properties>
</file>

<file path=customXml/itemProps1.xml><?xml version="1.0" encoding="utf-8"?>
<ds:datastoreItem xmlns:ds="http://schemas.openxmlformats.org/officeDocument/2006/customXml" ds:itemID="{81257446-1E7D-43E6-94D2-CFA6BA8A7E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fde470-fde4-438b-b8b7-4b199bb71cd2"/>
    <ds:schemaRef ds:uri="e8c2e461-e062-4b84-94d8-5acc7ce519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E80480-B7C0-4C89-ADB0-5DA5D785D6EF}">
  <ds:schemaRefs>
    <ds:schemaRef ds:uri="http://schemas.microsoft.com/sharepoint/events"/>
  </ds:schemaRefs>
</ds:datastoreItem>
</file>

<file path=customXml/itemProps3.xml><?xml version="1.0" encoding="utf-8"?>
<ds:datastoreItem xmlns:ds="http://schemas.openxmlformats.org/officeDocument/2006/customXml" ds:itemID="{F032F7FF-B44B-49CE-884E-B06283EED8A2}">
  <ds:schemaRefs>
    <ds:schemaRef ds:uri="http://schemas.microsoft.com/sharepoint/v3/contenttype/forms"/>
  </ds:schemaRefs>
</ds:datastoreItem>
</file>

<file path=customXml/itemProps4.xml><?xml version="1.0" encoding="utf-8"?>
<ds:datastoreItem xmlns:ds="http://schemas.openxmlformats.org/officeDocument/2006/customXml" ds:itemID="{9B3B2BAC-2785-47A7-83E2-381B8C54A098}">
  <ds:schemaRefs>
    <ds:schemaRef ds:uri="http://purl.org/dc/elements/1.1/"/>
    <ds:schemaRef ds:uri="http://schemas.microsoft.com/office/2006/documentManagement/types"/>
    <ds:schemaRef ds:uri="e8c2e461-e062-4b84-94d8-5acc7ce51993"/>
    <ds:schemaRef ds:uri="http://purl.org/dc/dcmitype/"/>
    <ds:schemaRef ds:uri="http://purl.org/dc/terms/"/>
    <ds:schemaRef ds:uri="90fde470-fde4-438b-b8b7-4b199bb71cd2"/>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2698</Words>
  <Application>Microsoft Office PowerPoint</Application>
  <PresentationFormat>On-screen Show (4:3)</PresentationFormat>
  <Paragraphs>661</Paragraphs>
  <Slides>47</Slides>
  <Notes>35</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47</vt:i4>
      </vt:variant>
      <vt:variant>
        <vt:lpstr>Custom Shows</vt:lpstr>
      </vt:variant>
      <vt:variant>
        <vt:i4>4</vt:i4>
      </vt:variant>
    </vt:vector>
  </HeadingPairs>
  <TitlesOfParts>
    <vt:vector size="58" baseType="lpstr">
      <vt:lpstr>Arial</vt:lpstr>
      <vt:lpstr>Impact</vt:lpstr>
      <vt:lpstr>Segoe</vt:lpstr>
      <vt:lpstr>Segoe Light</vt:lpstr>
      <vt:lpstr>Segoe UI</vt:lpstr>
      <vt:lpstr>Wingdings</vt:lpstr>
      <vt:lpstr>SharePoint Saturday Atlanta</vt:lpstr>
      <vt:lpstr>PowerPoint Presentation</vt:lpstr>
      <vt:lpstr>Thank You Sponsors</vt:lpstr>
      <vt:lpstr>PowerPoint Presentation</vt:lpstr>
      <vt:lpstr>Survey</vt:lpstr>
      <vt:lpstr>Agenda</vt:lpstr>
      <vt:lpstr>Envisioning</vt:lpstr>
      <vt:lpstr>SharePoint 2019 – New Features</vt:lpstr>
      <vt:lpstr>SharePoint 2019 –Depreciated Features</vt:lpstr>
      <vt:lpstr>SharePoint 2019 – Removed Features</vt:lpstr>
      <vt:lpstr>SharePoint 2019 – Architect Changes</vt:lpstr>
      <vt:lpstr>Envisioning</vt:lpstr>
      <vt:lpstr>Review Any Old/New Requirements</vt:lpstr>
      <vt:lpstr>Planning</vt:lpstr>
      <vt:lpstr>Which method to follow? Terminology</vt:lpstr>
      <vt:lpstr>Migration of SharePoint content</vt:lpstr>
      <vt:lpstr>Upgrade SharePoint Content</vt:lpstr>
      <vt:lpstr>Migration Tools and Methods</vt:lpstr>
      <vt:lpstr>SP/PS Upgrade Path and Strategy</vt:lpstr>
      <vt:lpstr>Project Server 2010 Architect</vt:lpstr>
      <vt:lpstr>Project Server 2013 Architecture</vt:lpstr>
      <vt:lpstr>Project Server 2016 Architecture (unofficial)</vt:lpstr>
      <vt:lpstr>Upgrade Path #1 for PS2016 to PS2019</vt:lpstr>
      <vt:lpstr>Upgrade Path #2 for PS2016 to PS2019</vt:lpstr>
      <vt:lpstr>Upgrade Path #3 for PS2013 to PS2019</vt:lpstr>
      <vt:lpstr>Upgrade Path #4 for PS2013 to PS2019 non-compliant 2010 version</vt:lpstr>
      <vt:lpstr>Upgrade Path #5 for PS20xx to PS2016</vt:lpstr>
      <vt:lpstr>Building</vt:lpstr>
      <vt:lpstr>Major Steps to SharePoint Upgrade</vt:lpstr>
      <vt:lpstr>Architect and Setup SharePoint Farm</vt:lpstr>
      <vt:lpstr>Upgrade SharePoint Farm Services</vt:lpstr>
      <vt:lpstr>Create SQL or PowerShell Scripts</vt:lpstr>
      <vt:lpstr>Build PowerShell Scripts for each step</vt:lpstr>
      <vt:lpstr>PowerShell Script SharePoint Wizard</vt:lpstr>
      <vt:lpstr>1st upgrade is about Discovery</vt:lpstr>
      <vt:lpstr>TEST-SPContentDatabase Results</vt:lpstr>
      <vt:lpstr>What you might find after upgrade</vt:lpstr>
      <vt:lpstr>SharePoint/Project Server 2010 to 2013</vt:lpstr>
      <vt:lpstr>SharePoint/Project Server 2013 to 2016</vt:lpstr>
      <vt:lpstr>SharePoint/Project Server 2016 to 2019</vt:lpstr>
      <vt:lpstr>Stabilizing</vt:lpstr>
      <vt:lpstr>Stabilizing Period</vt:lpstr>
      <vt:lpstr>Stabilizing Period</vt:lpstr>
      <vt:lpstr>Deployment</vt:lpstr>
      <vt:lpstr>Deployment Period</vt:lpstr>
      <vt:lpstr>Links</vt:lpstr>
      <vt:lpstr>PowerPoint Presentation</vt:lpstr>
      <vt:lpstr>PowerPoint Presentation</vt:lpstr>
      <vt:lpstr>Introduction</vt:lpstr>
      <vt:lpstr>Coffee Break</vt:lpstr>
      <vt:lpstr>First Half</vt:lpstr>
      <vt:lpstr>Second Half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DND Project 2010 Training Session - Winter 2012</dc:title>
  <dc:creator/>
  <cp:lastModifiedBy/>
  <cp:revision>1</cp:revision>
  <dcterms:created xsi:type="dcterms:W3CDTF">2011-11-09T21:12:22Z</dcterms:created>
  <dcterms:modified xsi:type="dcterms:W3CDTF">2019-08-06T02:39:51Z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4158825</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ContentTypeId">
    <vt:lpwstr>0x010100BC94CBFC3CC06A409A4FC43AA6A62A07</vt:lpwstr>
  </property>
  <property fmtid="{D5CDD505-2E9C-101B-9397-08002B2CF9AE}" pid="6" name="Folder_x0020_Meta_x0020_Data">
    <vt:lpwstr/>
  </property>
  <property fmtid="{D5CDD505-2E9C-101B-9397-08002B2CF9AE}" pid="7" name="Test_x0020_Managed_x0020_Dat">
    <vt:lpwstr/>
  </property>
  <property fmtid="{D5CDD505-2E9C-101B-9397-08002B2CF9AE}" pid="8" name="Folder Meta Data">
    <vt:lpwstr/>
  </property>
  <property fmtid="{D5CDD505-2E9C-101B-9397-08002B2CF9AE}" pid="9" name="Test Managed Dat">
    <vt:lpwstr/>
  </property>
</Properties>
</file>